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5010912" cy="6858000"/>
          </a:xfrm>
          <a:prstGeom prst="rect">
            <a:avLst/>
          </a:prstGeom>
          <a:solidFill>
            <a:srgbClr val="E7EEF2"/>
          </a:solidFill>
          <a:ln w="12700">
            <a:solidFill>
              <a:srgbClr val="E7EE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0"/>
            <a:ext cx="4462272" cy="6858000"/>
          </a:xfrm>
          <a:prstGeom prst="rect">
            <a:avLst/>
          </a:prstGeom>
          <a:solidFill>
            <a:srgbClr val="DDE7E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72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项目管理系统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24688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界面原型方案｜中文化 · 时间线看板 · 材料提交 · 数据中心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2999232"/>
            <a:ext cx="6035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目标：让业务人员一眼看清每个颜色开发项目在哪一步、谁负责、是否超期、还缺什么材料。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18120" y="123444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8890">
            <a:solidFill>
              <a:srgbClr val="D6E0E8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01584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项目进度驾驶舱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19872" y="190195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时间线看板 · 工序详情 · 材料归档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19872" y="2331720"/>
            <a:ext cx="93268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41401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项目总数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8229600" y="2578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216" dirty="0"/>
          </a:p>
        </p:txBody>
      </p:sp>
      <p:sp>
        <p:nvSpPr>
          <p:cNvPr id="13" name="Text 11"/>
          <p:cNvSpPr/>
          <p:nvPr/>
        </p:nvSpPr>
        <p:spPr>
          <a:xfrm>
            <a:off x="8229600" y="286207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本月+4</a:t>
            </a:r>
            <a:endParaRPr lang="en-US" sz="520" dirty="0"/>
          </a:p>
        </p:txBody>
      </p:sp>
      <p:sp>
        <p:nvSpPr>
          <p:cNvPr id="14" name="Shape 12"/>
          <p:cNvSpPr/>
          <p:nvPr/>
        </p:nvSpPr>
        <p:spPr>
          <a:xfrm>
            <a:off x="9253728" y="2331720"/>
            <a:ext cx="932688" cy="694944"/>
          </a:xfrm>
          <a:prstGeom prst="roundRect">
            <a:avLst>
              <a:gd name="adj" fmla="val 10526"/>
            </a:avLst>
          </a:prstGeom>
          <a:solidFill>
            <a:srgbClr val="F3DEDB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241401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超期工序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9363456" y="2578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16" dirty="0"/>
          </a:p>
        </p:txBody>
      </p:sp>
      <p:sp>
        <p:nvSpPr>
          <p:cNvPr id="17" name="Text 15"/>
          <p:cNvSpPr/>
          <p:nvPr/>
        </p:nvSpPr>
        <p:spPr>
          <a:xfrm>
            <a:off x="9363456" y="286207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需处理</a:t>
            </a:r>
            <a:endParaRPr lang="en-US" sz="520" dirty="0"/>
          </a:p>
        </p:txBody>
      </p:sp>
      <p:sp>
        <p:nvSpPr>
          <p:cNvPr id="18" name="Shape 16"/>
          <p:cNvSpPr/>
          <p:nvPr/>
        </p:nvSpPr>
        <p:spPr>
          <a:xfrm>
            <a:off x="10387584" y="2331720"/>
            <a:ext cx="932688" cy="694944"/>
          </a:xfrm>
          <a:prstGeom prst="roundRect">
            <a:avLst>
              <a:gd name="adj" fmla="val 10526"/>
            </a:avLst>
          </a:prstGeom>
          <a:solidFill>
            <a:srgbClr val="E0EEF0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97312" y="241401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10497312" y="2578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16" dirty="0"/>
          </a:p>
        </p:txBody>
      </p:sp>
      <p:sp>
        <p:nvSpPr>
          <p:cNvPr id="21" name="Text 19"/>
          <p:cNvSpPr/>
          <p:nvPr/>
        </p:nvSpPr>
        <p:spPr>
          <a:xfrm>
            <a:off x="10497312" y="2862072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</a:t>
            </a:r>
            <a:endParaRPr lang="en-US" sz="520" dirty="0"/>
          </a:p>
        </p:txBody>
      </p:sp>
      <p:sp>
        <p:nvSpPr>
          <p:cNvPr id="22" name="Shape 20"/>
          <p:cNvSpPr/>
          <p:nvPr/>
        </p:nvSpPr>
        <p:spPr>
          <a:xfrm>
            <a:off x="8119872" y="33375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5661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8567928" y="3968496"/>
            <a:ext cx="3520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9428" y="3968496"/>
            <a:ext cx="3520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0928" y="3968496"/>
            <a:ext cx="3520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2428" y="3968496"/>
            <a:ext cx="3520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5904" y="389534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392734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30" name="Shape 28"/>
          <p:cNvSpPr/>
          <p:nvPr/>
        </p:nvSpPr>
        <p:spPr>
          <a:xfrm>
            <a:off x="8947404" y="389534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7404" y="392734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32" name="Shape 30"/>
          <p:cNvSpPr/>
          <p:nvPr/>
        </p:nvSpPr>
        <p:spPr>
          <a:xfrm>
            <a:off x="9518904" y="3895344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8904" y="392734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34" name="Shape 32"/>
          <p:cNvSpPr/>
          <p:nvPr/>
        </p:nvSpPr>
        <p:spPr>
          <a:xfrm>
            <a:off x="10090404" y="3895344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90404" y="392734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36" name="Shape 34"/>
          <p:cNvSpPr/>
          <p:nvPr/>
        </p:nvSpPr>
        <p:spPr>
          <a:xfrm>
            <a:off x="10661904" y="3895344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61904" y="392734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38" name="Shape 36"/>
          <p:cNvSpPr/>
          <p:nvPr/>
        </p:nvSpPr>
        <p:spPr>
          <a:xfrm>
            <a:off x="8321040" y="4187952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4187952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915400" y="42062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当前：涂料采购｜责任人：张七巧</a:t>
            </a:r>
            <a:endParaRPr lang="en-US" sz="560" dirty="0"/>
          </a:p>
        </p:txBody>
      </p:sp>
      <p:sp>
        <p:nvSpPr>
          <p:cNvPr id="41" name="Text 39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从业务流程到用户界面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基于18个工序、并行/退回/周期任务规则，将表格流程转译为清晰可用的产品界面。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E5EAF0"/>
            </a:solidFill>
            <a:prstDash val="solid"/>
          </a:ln>
        </p:spPr>
      </p:sp>
      <p:pic>
        <p:nvPicPr>
          <p:cNvPr id="6" name="Image 0" descr="/mnt/data/D7A825E1-6170-42FA-8556-03DBE7C108D3.png">    </p:cNvPr>
          <p:cNvPicPr>
            <a:picLocks noChangeAspect="1"/>
          </p:cNvPicPr>
          <p:nvPr/>
        </p:nvPicPr>
        <p:blipFill>
          <a:blip r:embed="rId1"/>
          <a:srcRect l="0" r="0" t="4911" b="4911"/>
          <a:stretch/>
        </p:blipFill>
        <p:spPr>
          <a:xfrm>
            <a:off x="795528" y="1490472"/>
            <a:ext cx="3118104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4160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流程台账：工序、责任、时限、状态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" y="4453128"/>
            <a:ext cx="2971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把多列台账压缩为“进度卡 + 工序详情”。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480560" y="132588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E5EAF0"/>
            </a:solidFill>
            <a:prstDash val="solid"/>
          </a:ln>
        </p:spPr>
      </p:sp>
      <p:pic>
        <p:nvPicPr>
          <p:cNvPr id="10" name="Image 1" descr="/mnt/data/232EED71-516D-48E4-A2D8-485D4BF4D58E.png">    </p:cNvPr>
          <p:cNvPicPr>
            <a:picLocks noChangeAspect="1"/>
          </p:cNvPicPr>
          <p:nvPr/>
        </p:nvPicPr>
        <p:blipFill>
          <a:blip r:embed="rId2"/>
          <a:srcRect l="21795" r="21795" t="0" b="0"/>
          <a:stretch/>
        </p:blipFill>
        <p:spPr>
          <a:xfrm>
            <a:off x="4590288" y="1490472"/>
            <a:ext cx="3118104" cy="2514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4160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工序说明：输出物与部门协同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645152" y="4453128"/>
            <a:ext cx="2971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把材料、输出物和责任人纳入工序级管控。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8275320" y="132588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E5EAF0"/>
            </a:solidFill>
            <a:prstDash val="solid"/>
          </a:ln>
        </p:spPr>
      </p:sp>
      <p:pic>
        <p:nvPicPr>
          <p:cNvPr id="14" name="Image 2" descr="/mnt/data/3A13C065-C092-4912-81FC-11FE43B9ED0F.png">    </p:cNvPr>
          <p:cNvPicPr>
            <a:picLocks noChangeAspect="1"/>
          </p:cNvPicPr>
          <p:nvPr/>
        </p:nvPicPr>
        <p:blipFill>
          <a:blip r:embed="rId3"/>
          <a:srcRect l="0" r="0" t="31335" b="31335"/>
          <a:stretch/>
        </p:blipFill>
        <p:spPr>
          <a:xfrm>
            <a:off x="8385048" y="1490472"/>
            <a:ext cx="3118104" cy="2514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9912" y="4160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流程图：自动跳转、并行与退回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439912" y="4453128"/>
            <a:ext cx="2971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把关键分支做成清晰的时间线和审批交互。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685800" y="5230368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" y="5413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产品原则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737360" y="53766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项目管理看进度｜工序管理看执行｜材料中心看交付物｜数据中心看结果｜所有业务界面统一中文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用户端信息架构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从“功能入口”改为“用户任务入口”，让业务人员按工作流自然进入系统。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904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6976" y="14904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850392" y="1856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项目总览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50392" y="2093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我的待办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50392" y="23317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超期提醒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50392" y="2569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最近更新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4904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14904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645152" y="1856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项目看板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645152" y="2093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项目列表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645152" y="23317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新建项目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645152" y="2569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项目归档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183880" y="13258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85048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89920" y="14904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26496" y="14904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8439912" y="1856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我的工序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8439912" y="20939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工序清单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8439912" y="23317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评审任务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8439912" y="2569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超期工序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94360" y="33832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52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5478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35478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850392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待提交材料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850392" y="4151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项目材料库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850392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评审报告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850392" y="46268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费用凭证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4389120" y="33832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9028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95160" y="35478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EBE6F2"/>
          </a:solidFill>
          <a:ln w="12700">
            <a:solidFill>
              <a:srgbClr val="EBE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35478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A89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4645152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第17步台账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4645152" y="4151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本月待评审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4645152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逾期评审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4645152" y="46268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周期进度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8183880" y="33832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3E9EF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8504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789920" y="354787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EFE5DE"/>
          </a:solidFill>
          <a:ln w="12700">
            <a:solidFill>
              <a:srgbClr val="EFE5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26496" y="3547872"/>
            <a:ext cx="38404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B08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8439912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进度总览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439912" y="4151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逾期分析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439912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返工分析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439912" y="46268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退出统计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749808" y="57150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左侧主导航保持 7 个入口；所有二级功能在页面内以 Tab 或筛选承载，避免用户迷路。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视觉系统：低饱和、稳重、信息密度高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适合制造业项目管理场景，状态清晰但不过度装饰。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状态色与中文文案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" y="1810512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用于尚未启动节点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77824" y="2203704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03704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783080" y="2221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用于当前处理节点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77824" y="2596896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96896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783080" y="26151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用于评审动作节点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77824" y="2990088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90088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783080" y="3008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用于按时完成节点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7824" y="3383280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783080" y="34015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用于超期未完成节点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77824" y="3776472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EBE6F2"/>
          </a:solidFill>
          <a:ln w="12700">
            <a:solidFill>
              <a:srgbClr val="EB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76472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A89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已退回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783080" y="37947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用于第12步驳回轮次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77824" y="4169664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783080" y="4187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用于第17步周期状态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77824" y="4562856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EFE5DE"/>
          </a:solidFill>
          <a:ln w="12700">
            <a:solidFill>
              <a:srgbClr val="EF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62856"/>
            <a:ext cx="6583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B08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待退出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783080" y="45811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用于第18步治理状态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7720" y="1234440"/>
            <a:ext cx="6858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481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组件规范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19472" y="1874520"/>
            <a:ext cx="1234440" cy="804672"/>
          </a:xfrm>
          <a:prstGeom prst="roundRect">
            <a:avLst>
              <a:gd name="adj" fmla="val 9091"/>
            </a:avLst>
          </a:prstGeom>
          <a:solidFill>
            <a:srgbClr val="F3DEDB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95681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超期工序</a:t>
            </a:r>
            <a:endParaRPr lang="en-US" sz="560" dirty="0"/>
          </a:p>
        </p:txBody>
      </p:sp>
      <p:sp>
        <p:nvSpPr>
          <p:cNvPr id="35" name="Text 33"/>
          <p:cNvSpPr/>
          <p:nvPr/>
        </p:nvSpPr>
        <p:spPr>
          <a:xfrm>
            <a:off x="5029200" y="2121408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0" y="2514600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需立即处理</a:t>
            </a:r>
            <a:endParaRPr lang="en-US" sz="520" dirty="0"/>
          </a:p>
        </p:txBody>
      </p:sp>
      <p:sp>
        <p:nvSpPr>
          <p:cNvPr id="37" name="Shape 35"/>
          <p:cNvSpPr/>
          <p:nvPr/>
        </p:nvSpPr>
        <p:spPr>
          <a:xfrm>
            <a:off x="6355080" y="1874520"/>
            <a:ext cx="1234440" cy="804672"/>
          </a:xfrm>
          <a:prstGeom prst="roundRect">
            <a:avLst>
              <a:gd name="adj" fmla="val 9091"/>
            </a:avLst>
          </a:prstGeom>
          <a:solidFill>
            <a:srgbClr val="DCE8EE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1956816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6464808" y="2121408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64808" y="2514600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本周新增3</a:t>
            </a:r>
            <a:endParaRPr lang="en-US" sz="520" dirty="0"/>
          </a:p>
        </p:txBody>
      </p:sp>
      <p:sp>
        <p:nvSpPr>
          <p:cNvPr id="41" name="Shape 39"/>
          <p:cNvSpPr/>
          <p:nvPr/>
        </p:nvSpPr>
        <p:spPr>
          <a:xfrm>
            <a:off x="7818120" y="1874520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2011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8458200" y="1993392"/>
            <a:ext cx="658368" cy="210312"/>
          </a:xfrm>
          <a:prstGeom prst="roundRect">
            <a:avLst>
              <a:gd name="adj" fmla="val 26087"/>
            </a:avLst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94776" y="1993392"/>
            <a:ext cx="585216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主要操作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9217152" y="1993392"/>
            <a:ext cx="457200" cy="210312"/>
          </a:xfrm>
          <a:prstGeom prst="roundRect">
            <a:avLst>
              <a:gd name="adj" fmla="val 2608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1993392"/>
            <a:ext cx="384048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9802368" y="1993392"/>
            <a:ext cx="457200" cy="210312"/>
          </a:xfrm>
          <a:prstGeom prst="roundRect">
            <a:avLst>
              <a:gd name="adj" fmla="val 26087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38944" y="1993392"/>
            <a:ext cx="384048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919472" y="306324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FAFBFC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32369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表格行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806440" y="32369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12｜样车驾驶室评审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34656" y="3218688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3218688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275320" y="32369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责任人：田强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102352" y="3749040"/>
            <a:ext cx="352044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02352" y="3749040"/>
            <a:ext cx="2182673" cy="54864"/>
          </a:xfrm>
          <a:prstGeom prst="roundRect">
            <a:avLst>
              <a:gd name="adj" fmla="val 33333"/>
            </a:avLst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02352" y="38862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62% ｜ 自动刷新 30秒 ｜ 用户编辑时暂停刷新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9893808" y="3063240"/>
            <a:ext cx="13533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40112" y="32369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空态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0040112" y="3493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暂无材料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请上传必交文件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工作台：项目进度驾驶舱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总览风险、待办、评审和退出治理，支持自动刷新与手动刷新。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143000"/>
            <a:ext cx="1088136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43000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80160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80160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80160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23444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527048"/>
            <a:ext cx="1261872" cy="4828032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6459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31520" y="1929384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4767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822960" y="22585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25694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28803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8130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527048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627632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627632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618488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618488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13055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21284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项目总数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2176272" y="2377440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52" dirty="0"/>
          </a:p>
        </p:txBody>
      </p:sp>
      <p:sp>
        <p:nvSpPr>
          <p:cNvPr id="30" name="Text 28"/>
          <p:cNvSpPr/>
          <p:nvPr/>
        </p:nvSpPr>
        <p:spPr>
          <a:xfrm>
            <a:off x="2176272" y="2624328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本月新增4</a:t>
            </a:r>
            <a:endParaRPr lang="en-US" sz="520" dirty="0"/>
          </a:p>
        </p:txBody>
      </p:sp>
      <p:sp>
        <p:nvSpPr>
          <p:cNvPr id="31" name="Shape 29"/>
          <p:cNvSpPr/>
          <p:nvPr/>
        </p:nvSpPr>
        <p:spPr>
          <a:xfrm>
            <a:off x="3657600" y="213055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DCE8EE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21284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进行中项目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3767328" y="2377440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52" dirty="0"/>
          </a:p>
        </p:txBody>
      </p:sp>
      <p:sp>
        <p:nvSpPr>
          <p:cNvPr id="34" name="Text 32"/>
          <p:cNvSpPr/>
          <p:nvPr/>
        </p:nvSpPr>
        <p:spPr>
          <a:xfrm>
            <a:off x="3767328" y="2624328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正常推进</a:t>
            </a:r>
            <a:endParaRPr lang="en-US" sz="520" dirty="0"/>
          </a:p>
        </p:txBody>
      </p:sp>
      <p:sp>
        <p:nvSpPr>
          <p:cNvPr id="35" name="Shape 33"/>
          <p:cNvSpPr/>
          <p:nvPr/>
        </p:nvSpPr>
        <p:spPr>
          <a:xfrm>
            <a:off x="5248656" y="213055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3DEDB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221284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超期工序</a:t>
            </a:r>
            <a:endParaRPr lang="en-US" sz="560" dirty="0"/>
          </a:p>
        </p:txBody>
      </p:sp>
      <p:sp>
        <p:nvSpPr>
          <p:cNvPr id="37" name="Text 35"/>
          <p:cNvSpPr/>
          <p:nvPr/>
        </p:nvSpPr>
        <p:spPr>
          <a:xfrm>
            <a:off x="5358384" y="2377440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52" dirty="0"/>
          </a:p>
        </p:txBody>
      </p:sp>
      <p:sp>
        <p:nvSpPr>
          <p:cNvPr id="38" name="Text 36"/>
          <p:cNvSpPr/>
          <p:nvPr/>
        </p:nvSpPr>
        <p:spPr>
          <a:xfrm>
            <a:off x="5358384" y="2624328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需处理</a:t>
            </a:r>
            <a:endParaRPr lang="en-US" sz="520" dirty="0"/>
          </a:p>
        </p:txBody>
      </p:sp>
      <p:sp>
        <p:nvSpPr>
          <p:cNvPr id="39" name="Shape 37"/>
          <p:cNvSpPr/>
          <p:nvPr/>
        </p:nvSpPr>
        <p:spPr>
          <a:xfrm>
            <a:off x="2066544" y="29718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2E7D1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76272" y="305409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本月待评审</a:t>
            </a:r>
            <a:endParaRPr lang="en-US" sz="560" dirty="0"/>
          </a:p>
        </p:txBody>
      </p:sp>
      <p:sp>
        <p:nvSpPr>
          <p:cNvPr id="41" name="Text 39"/>
          <p:cNvSpPr/>
          <p:nvPr/>
        </p:nvSpPr>
        <p:spPr>
          <a:xfrm>
            <a:off x="2176272" y="321868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52" dirty="0"/>
          </a:p>
        </p:txBody>
      </p:sp>
      <p:sp>
        <p:nvSpPr>
          <p:cNvPr id="42" name="Text 40"/>
          <p:cNvSpPr/>
          <p:nvPr/>
        </p:nvSpPr>
        <p:spPr>
          <a:xfrm>
            <a:off x="2176272" y="3465576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含样车评审</a:t>
            </a:r>
            <a:endParaRPr lang="en-US" sz="520" dirty="0"/>
          </a:p>
        </p:txBody>
      </p:sp>
      <p:sp>
        <p:nvSpPr>
          <p:cNvPr id="43" name="Shape 41"/>
          <p:cNvSpPr/>
          <p:nvPr/>
        </p:nvSpPr>
        <p:spPr>
          <a:xfrm>
            <a:off x="3657600" y="29718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0EEF0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305409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月度色差评审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3767328" y="321868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52" dirty="0"/>
          </a:p>
        </p:txBody>
      </p:sp>
      <p:sp>
        <p:nvSpPr>
          <p:cNvPr id="46" name="Text 44"/>
          <p:cNvSpPr/>
          <p:nvPr/>
        </p:nvSpPr>
        <p:spPr>
          <a:xfrm>
            <a:off x="3767328" y="3465576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520" dirty="0"/>
          </a:p>
        </p:txBody>
      </p:sp>
      <p:sp>
        <p:nvSpPr>
          <p:cNvPr id="47" name="Shape 45"/>
          <p:cNvSpPr/>
          <p:nvPr/>
        </p:nvSpPr>
        <p:spPr>
          <a:xfrm>
            <a:off x="5248656" y="29718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FE5DE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305409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待退出颜色</a:t>
            </a:r>
            <a:endParaRPr lang="en-US" sz="560" dirty="0"/>
          </a:p>
        </p:txBody>
      </p:sp>
      <p:sp>
        <p:nvSpPr>
          <p:cNvPr id="49" name="Text 47"/>
          <p:cNvSpPr/>
          <p:nvPr/>
        </p:nvSpPr>
        <p:spPr>
          <a:xfrm>
            <a:off x="5358384" y="321868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2" dirty="0"/>
          </a:p>
        </p:txBody>
      </p:sp>
      <p:sp>
        <p:nvSpPr>
          <p:cNvPr id="50" name="Text 48"/>
          <p:cNvSpPr/>
          <p:nvPr/>
        </p:nvSpPr>
        <p:spPr>
          <a:xfrm>
            <a:off x="5358384" y="3465576"/>
            <a:ext cx="119786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B08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需确认</a:t>
            </a:r>
            <a:endParaRPr lang="en-US" sz="520" dirty="0"/>
          </a:p>
        </p:txBody>
      </p:sp>
      <p:sp>
        <p:nvSpPr>
          <p:cNvPr id="51" name="Shape 49"/>
          <p:cNvSpPr/>
          <p:nvPr/>
        </p:nvSpPr>
        <p:spPr>
          <a:xfrm>
            <a:off x="2066544" y="3977640"/>
            <a:ext cx="4663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31136" y="4142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重点项目时间线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2231136" y="4489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3502152" y="4590288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22776" y="4590288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43400" y="4590288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64024" y="4590288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84648" y="4590288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10128" y="451713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10128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61" name="Shape 59"/>
          <p:cNvSpPr/>
          <p:nvPr/>
        </p:nvSpPr>
        <p:spPr>
          <a:xfrm>
            <a:off x="3730752" y="451713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30752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63" name="Shape 61"/>
          <p:cNvSpPr/>
          <p:nvPr/>
        </p:nvSpPr>
        <p:spPr>
          <a:xfrm>
            <a:off x="4151376" y="451713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51376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65" name="Shape 63"/>
          <p:cNvSpPr/>
          <p:nvPr/>
        </p:nvSpPr>
        <p:spPr>
          <a:xfrm>
            <a:off x="4572000" y="4517136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67" name="Shape 65"/>
          <p:cNvSpPr/>
          <p:nvPr/>
        </p:nvSpPr>
        <p:spPr>
          <a:xfrm>
            <a:off x="4992624" y="451713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92624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69" name="Shape 67"/>
          <p:cNvSpPr/>
          <p:nvPr/>
        </p:nvSpPr>
        <p:spPr>
          <a:xfrm>
            <a:off x="5413248" y="451713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13248" y="45491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71" name="Shape 69"/>
          <p:cNvSpPr/>
          <p:nvPr/>
        </p:nvSpPr>
        <p:spPr>
          <a:xfrm>
            <a:off x="5760720" y="447141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97296" y="4471416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231136" y="49651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砂石灰定制色</a:t>
            </a:r>
            <a:endParaRPr lang="en-US" sz="580" dirty="0"/>
          </a:p>
        </p:txBody>
      </p:sp>
      <p:sp>
        <p:nvSpPr>
          <p:cNvPr id="74" name="Shape 72"/>
          <p:cNvSpPr/>
          <p:nvPr/>
        </p:nvSpPr>
        <p:spPr>
          <a:xfrm>
            <a:off x="3502152" y="5065776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22776" y="5065776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43400" y="5065776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64024" y="5065776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84648" y="5065776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10128" y="499262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10128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81" name="Shape 79"/>
          <p:cNvSpPr/>
          <p:nvPr/>
        </p:nvSpPr>
        <p:spPr>
          <a:xfrm>
            <a:off x="3730752" y="499262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30752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83" name="Shape 81"/>
          <p:cNvSpPr/>
          <p:nvPr/>
        </p:nvSpPr>
        <p:spPr>
          <a:xfrm>
            <a:off x="4151376" y="499262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51376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85" name="Shape 83"/>
          <p:cNvSpPr/>
          <p:nvPr/>
        </p:nvSpPr>
        <p:spPr>
          <a:xfrm>
            <a:off x="4572000" y="499262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0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87" name="Shape 85"/>
          <p:cNvSpPr/>
          <p:nvPr/>
        </p:nvSpPr>
        <p:spPr>
          <a:xfrm>
            <a:off x="4992624" y="4992624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92624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89" name="Shape 87"/>
          <p:cNvSpPr/>
          <p:nvPr/>
        </p:nvSpPr>
        <p:spPr>
          <a:xfrm>
            <a:off x="5413248" y="4992624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13248" y="502462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91" name="Shape 89"/>
          <p:cNvSpPr/>
          <p:nvPr/>
        </p:nvSpPr>
        <p:spPr>
          <a:xfrm>
            <a:off x="5760720" y="4946904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97296" y="4946904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2231136" y="5440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晨雾绿定制色</a:t>
            </a:r>
            <a:endParaRPr lang="en-US" sz="580" dirty="0"/>
          </a:p>
        </p:txBody>
      </p:sp>
      <p:sp>
        <p:nvSpPr>
          <p:cNvPr id="94" name="Shape 92"/>
          <p:cNvSpPr/>
          <p:nvPr/>
        </p:nvSpPr>
        <p:spPr>
          <a:xfrm>
            <a:off x="3502152" y="5541264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22776" y="5541264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43400" y="5541264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64024" y="5541264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84648" y="5541264"/>
            <a:ext cx="201168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10128" y="546811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10128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101" name="Shape 99"/>
          <p:cNvSpPr/>
          <p:nvPr/>
        </p:nvSpPr>
        <p:spPr>
          <a:xfrm>
            <a:off x="3730752" y="546811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30752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103" name="Shape 101"/>
          <p:cNvSpPr/>
          <p:nvPr/>
        </p:nvSpPr>
        <p:spPr>
          <a:xfrm>
            <a:off x="4151376" y="546811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51376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105" name="Shape 103"/>
          <p:cNvSpPr/>
          <p:nvPr/>
        </p:nvSpPr>
        <p:spPr>
          <a:xfrm>
            <a:off x="4572000" y="546811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572000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107" name="Shape 105"/>
          <p:cNvSpPr/>
          <p:nvPr/>
        </p:nvSpPr>
        <p:spPr>
          <a:xfrm>
            <a:off x="4992624" y="546811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92624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109" name="Shape 107"/>
          <p:cNvSpPr/>
          <p:nvPr/>
        </p:nvSpPr>
        <p:spPr>
          <a:xfrm>
            <a:off x="5413248" y="5468112"/>
            <a:ext cx="164592" cy="164592"/>
          </a:xfrm>
          <a:prstGeom prst="ellipse">
            <a:avLst/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13248" y="550011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111" name="Shape 109"/>
          <p:cNvSpPr/>
          <p:nvPr/>
        </p:nvSpPr>
        <p:spPr>
          <a:xfrm>
            <a:off x="5760720" y="5422392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797296" y="5422392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958584" y="2130552"/>
            <a:ext cx="4343400" cy="3904488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41464" y="23317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我的待办与风险</a:t>
            </a:r>
            <a:endParaRPr lang="en-US" sz="780" dirty="0"/>
          </a:p>
        </p:txBody>
      </p:sp>
      <p:sp>
        <p:nvSpPr>
          <p:cNvPr id="115" name="Shape 113"/>
          <p:cNvSpPr/>
          <p:nvPr/>
        </p:nvSpPr>
        <p:spPr>
          <a:xfrm>
            <a:off x="7141464" y="2551176"/>
            <a:ext cx="3931920" cy="0"/>
          </a:xfrm>
          <a:prstGeom prst="line">
            <a:avLst/>
          </a:prstGeom>
          <a:noFill/>
          <a:ln w="7620">
            <a:solidFill>
              <a:srgbClr val="EEF2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41464" y="26609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样车驾驶室评审</a:t>
            </a:r>
            <a:endParaRPr lang="en-US" sz="660" dirty="0"/>
          </a:p>
        </p:txBody>
      </p:sp>
      <p:sp>
        <p:nvSpPr>
          <p:cNvPr id="117" name="Text 115"/>
          <p:cNvSpPr/>
          <p:nvPr/>
        </p:nvSpPr>
        <p:spPr>
          <a:xfrm>
            <a:off x="7141464" y="28620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田强｜今日截止</a:t>
            </a:r>
            <a:endParaRPr lang="en-US" sz="570" dirty="0"/>
          </a:p>
        </p:txBody>
      </p:sp>
      <p:sp>
        <p:nvSpPr>
          <p:cNvPr id="118" name="Shape 116"/>
          <p:cNvSpPr/>
          <p:nvPr/>
        </p:nvSpPr>
        <p:spPr>
          <a:xfrm>
            <a:off x="9765792" y="266090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802368" y="266090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7141464" y="3264408"/>
            <a:ext cx="3931920" cy="0"/>
          </a:xfrm>
          <a:prstGeom prst="line">
            <a:avLst/>
          </a:prstGeom>
          <a:noFill/>
          <a:ln w="7620">
            <a:solidFill>
              <a:srgbClr val="EEF2F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41464" y="337413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涂料性能试验</a:t>
            </a:r>
            <a:endParaRPr lang="en-US" sz="660" dirty="0"/>
          </a:p>
        </p:txBody>
      </p:sp>
      <p:sp>
        <p:nvSpPr>
          <p:cNvPr id="122" name="Text 120"/>
          <p:cNvSpPr/>
          <p:nvPr/>
        </p:nvSpPr>
        <p:spPr>
          <a:xfrm>
            <a:off x="7141464" y="35753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过常保｜逾期14天</a:t>
            </a:r>
            <a:endParaRPr lang="en-US" sz="570" dirty="0"/>
          </a:p>
        </p:txBody>
      </p:sp>
      <p:sp>
        <p:nvSpPr>
          <p:cNvPr id="123" name="Shape 121"/>
          <p:cNvSpPr/>
          <p:nvPr/>
        </p:nvSpPr>
        <p:spPr>
          <a:xfrm>
            <a:off x="9765792" y="3374136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802368" y="3374136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7141464" y="3977640"/>
            <a:ext cx="3931920" cy="0"/>
          </a:xfrm>
          <a:prstGeom prst="line">
            <a:avLst/>
          </a:prstGeom>
          <a:noFill/>
          <a:ln w="7620">
            <a:solidFill>
              <a:srgbClr val="EEF2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141464" y="40873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颜色开发收费</a:t>
            </a:r>
            <a:endParaRPr lang="en-US" sz="660" dirty="0"/>
          </a:p>
        </p:txBody>
      </p:sp>
      <p:sp>
        <p:nvSpPr>
          <p:cNvPr id="127" name="Text 125"/>
          <p:cNvSpPr/>
          <p:nvPr/>
        </p:nvSpPr>
        <p:spPr>
          <a:xfrm>
            <a:off x="7141464" y="428853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财务部｜￥10000</a:t>
            </a:r>
            <a:endParaRPr lang="en-US" sz="570" dirty="0"/>
          </a:p>
        </p:txBody>
      </p:sp>
      <p:sp>
        <p:nvSpPr>
          <p:cNvPr id="128" name="Shape 126"/>
          <p:cNvSpPr/>
          <p:nvPr/>
        </p:nvSpPr>
        <p:spPr>
          <a:xfrm>
            <a:off x="9765792" y="4087368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802368" y="4087368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7141464" y="4690872"/>
            <a:ext cx="3931920" cy="0"/>
          </a:xfrm>
          <a:prstGeom prst="line">
            <a:avLst/>
          </a:prstGeom>
          <a:noFill/>
          <a:ln w="7620">
            <a:solidFill>
              <a:srgbClr val="EEF2F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41464" y="48006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整车色差一致性评审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7141464" y="50017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本月待完成 12项</a:t>
            </a:r>
            <a:endParaRPr lang="en-US" sz="570" dirty="0"/>
          </a:p>
        </p:txBody>
      </p:sp>
      <p:sp>
        <p:nvSpPr>
          <p:cNvPr id="133" name="Shape 131"/>
          <p:cNvSpPr/>
          <p:nvPr/>
        </p:nvSpPr>
        <p:spPr>
          <a:xfrm>
            <a:off x="9765792" y="480060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802368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项目时间线看板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一屏看清所有颜色开发项目：当前节点、责任人、截止时间、逾期风险与下一步。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项目时间线看板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项目时间线看板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2082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2020824"/>
            <a:ext cx="640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全部状态</a:t>
            </a:r>
            <a:endParaRPr lang="en-US" sz="560" dirty="0"/>
          </a:p>
        </p:txBody>
      </p:sp>
      <p:sp>
        <p:nvSpPr>
          <p:cNvPr id="29" name="Shape 27"/>
          <p:cNvSpPr/>
          <p:nvPr/>
        </p:nvSpPr>
        <p:spPr>
          <a:xfrm>
            <a:off x="2907792" y="202082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2020824"/>
            <a:ext cx="640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560" dirty="0"/>
          </a:p>
        </p:txBody>
      </p:sp>
      <p:sp>
        <p:nvSpPr>
          <p:cNvPr id="31" name="Shape 29"/>
          <p:cNvSpPr/>
          <p:nvPr/>
        </p:nvSpPr>
        <p:spPr>
          <a:xfrm>
            <a:off x="3749040" y="202082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2020824"/>
            <a:ext cx="640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责任部门</a:t>
            </a:r>
            <a:endParaRPr lang="en-US" sz="560" dirty="0"/>
          </a:p>
        </p:txBody>
      </p:sp>
      <p:sp>
        <p:nvSpPr>
          <p:cNvPr id="33" name="Shape 31"/>
          <p:cNvSpPr/>
          <p:nvPr/>
        </p:nvSpPr>
        <p:spPr>
          <a:xfrm>
            <a:off x="4590288" y="202082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2020824"/>
            <a:ext cx="640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是否超期</a:t>
            </a:r>
            <a:endParaRPr lang="en-US" sz="560" dirty="0"/>
          </a:p>
        </p:txBody>
      </p:sp>
      <p:sp>
        <p:nvSpPr>
          <p:cNvPr id="35" name="Shape 33"/>
          <p:cNvSpPr/>
          <p:nvPr/>
        </p:nvSpPr>
        <p:spPr>
          <a:xfrm>
            <a:off x="5431536" y="2020824"/>
            <a:ext cx="71323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2020824"/>
            <a:ext cx="6400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颜色名称</a:t>
            </a:r>
            <a:endParaRPr lang="en-US" sz="560" dirty="0"/>
          </a:p>
        </p:txBody>
      </p:sp>
      <p:sp>
        <p:nvSpPr>
          <p:cNvPr id="37" name="Shape 35"/>
          <p:cNvSpPr/>
          <p:nvPr/>
        </p:nvSpPr>
        <p:spPr>
          <a:xfrm>
            <a:off x="9336024" y="2020824"/>
            <a:ext cx="713232" cy="219456"/>
          </a:xfrm>
          <a:prstGeom prst="roundRect">
            <a:avLst>
              <a:gd name="adj" fmla="val 25000"/>
            </a:avLst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2020824"/>
            <a:ext cx="6400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新建项目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2066544" y="2459736"/>
            <a:ext cx="92354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31136" y="2587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深海蓝定制色开发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2231136" y="28437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当前：涂料采购｜负责人：张七巧｜截止 2025/10/27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4937760" y="259689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2596896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946904" y="2962656"/>
            <a:ext cx="100584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46904" y="2962656"/>
            <a:ext cx="362102" cy="54864"/>
          </a:xfrm>
          <a:prstGeom prst="roundRect">
            <a:avLst>
              <a:gd name="adj" fmla="val 33333"/>
            </a:avLst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16752" y="29077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36%</a:t>
            </a:r>
            <a:endParaRPr lang="en-US" sz="560" dirty="0"/>
          </a:p>
        </p:txBody>
      </p:sp>
      <p:sp>
        <p:nvSpPr>
          <p:cNvPr id="47" name="Shape 45"/>
          <p:cNvSpPr/>
          <p:nvPr/>
        </p:nvSpPr>
        <p:spPr>
          <a:xfrm>
            <a:off x="66568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86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204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22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840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158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476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794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11232" y="2770632"/>
            <a:ext cx="2123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64808" y="2697480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648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58" name="Shape 56"/>
          <p:cNvSpPr/>
          <p:nvPr/>
        </p:nvSpPr>
        <p:spPr>
          <a:xfrm>
            <a:off x="6896608" y="2697480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66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60" name="Shape 58"/>
          <p:cNvSpPr/>
          <p:nvPr/>
        </p:nvSpPr>
        <p:spPr>
          <a:xfrm>
            <a:off x="7328408" y="2697480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284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62" name="Shape 60"/>
          <p:cNvSpPr/>
          <p:nvPr/>
        </p:nvSpPr>
        <p:spPr>
          <a:xfrm>
            <a:off x="7760208" y="2697480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602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64" name="Shape 62"/>
          <p:cNvSpPr/>
          <p:nvPr/>
        </p:nvSpPr>
        <p:spPr>
          <a:xfrm>
            <a:off x="8192008" y="2697480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920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66" name="Shape 64"/>
          <p:cNvSpPr/>
          <p:nvPr/>
        </p:nvSpPr>
        <p:spPr>
          <a:xfrm>
            <a:off x="8623808" y="2697480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238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68" name="Shape 66"/>
          <p:cNvSpPr/>
          <p:nvPr/>
        </p:nvSpPr>
        <p:spPr>
          <a:xfrm>
            <a:off x="9055608" y="2697480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556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20" dirty="0"/>
          </a:p>
        </p:txBody>
      </p:sp>
      <p:sp>
        <p:nvSpPr>
          <p:cNvPr id="70" name="Shape 68"/>
          <p:cNvSpPr/>
          <p:nvPr/>
        </p:nvSpPr>
        <p:spPr>
          <a:xfrm>
            <a:off x="9487408" y="2697480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874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20" dirty="0"/>
          </a:p>
        </p:txBody>
      </p:sp>
      <p:sp>
        <p:nvSpPr>
          <p:cNvPr id="72" name="Shape 70"/>
          <p:cNvSpPr/>
          <p:nvPr/>
        </p:nvSpPr>
        <p:spPr>
          <a:xfrm>
            <a:off x="9919208" y="2697480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192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20" dirty="0"/>
          </a:p>
        </p:txBody>
      </p:sp>
      <p:sp>
        <p:nvSpPr>
          <p:cNvPr id="74" name="Shape 72"/>
          <p:cNvSpPr/>
          <p:nvPr/>
        </p:nvSpPr>
        <p:spPr>
          <a:xfrm>
            <a:off x="10351008" y="2697480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51008" y="272948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20" dirty="0"/>
          </a:p>
        </p:txBody>
      </p:sp>
      <p:sp>
        <p:nvSpPr>
          <p:cNvPr id="76" name="Shape 74"/>
          <p:cNvSpPr/>
          <p:nvPr/>
        </p:nvSpPr>
        <p:spPr>
          <a:xfrm>
            <a:off x="10524744" y="2788920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561320" y="2788920"/>
            <a:ext cx="274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2066544" y="3538728"/>
            <a:ext cx="92354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31136" y="3666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砂石灰定制色开发</a:t>
            </a:r>
            <a:endParaRPr lang="en-US" sz="730" dirty="0"/>
          </a:p>
        </p:txBody>
      </p:sp>
      <p:sp>
        <p:nvSpPr>
          <p:cNvPr id="80" name="Text 78"/>
          <p:cNvSpPr/>
          <p:nvPr/>
        </p:nvSpPr>
        <p:spPr>
          <a:xfrm>
            <a:off x="2231136" y="392277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当前：样车驾驶室评审｜负责人：田强｜逾期 14 天</a:t>
            </a:r>
            <a:endParaRPr lang="en-US" sz="580" dirty="0"/>
          </a:p>
        </p:txBody>
      </p:sp>
      <p:sp>
        <p:nvSpPr>
          <p:cNvPr id="81" name="Shape 79"/>
          <p:cNvSpPr/>
          <p:nvPr/>
        </p:nvSpPr>
        <p:spPr>
          <a:xfrm>
            <a:off x="4937760" y="367588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74336" y="3675888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4946904" y="4041648"/>
            <a:ext cx="100584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46904" y="4041648"/>
            <a:ext cx="613562" cy="54864"/>
          </a:xfrm>
          <a:prstGeom prst="roundRect">
            <a:avLst>
              <a:gd name="adj" fmla="val 33333"/>
            </a:avLst>
          </a:prstGeom>
          <a:solidFill>
            <a:srgbClr val="C9827B"/>
          </a:solidFill>
          <a:ln w="12700">
            <a:solidFill>
              <a:srgbClr val="C9827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16752" y="398678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61%</a:t>
            </a:r>
            <a:endParaRPr lang="en-US" sz="560" dirty="0"/>
          </a:p>
        </p:txBody>
      </p:sp>
      <p:sp>
        <p:nvSpPr>
          <p:cNvPr id="86" name="Shape 84"/>
          <p:cNvSpPr/>
          <p:nvPr/>
        </p:nvSpPr>
        <p:spPr>
          <a:xfrm>
            <a:off x="6656832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10123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63414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16705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69996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23287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76577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29868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83159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836450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89741" y="3849624"/>
            <a:ext cx="133835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64808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64808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99" name="Shape 97"/>
          <p:cNvSpPr/>
          <p:nvPr/>
        </p:nvSpPr>
        <p:spPr>
          <a:xfrm>
            <a:off x="6818099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18099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101" name="Shape 99"/>
          <p:cNvSpPr/>
          <p:nvPr/>
        </p:nvSpPr>
        <p:spPr>
          <a:xfrm>
            <a:off x="7171390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71390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103" name="Shape 101"/>
          <p:cNvSpPr/>
          <p:nvPr/>
        </p:nvSpPr>
        <p:spPr>
          <a:xfrm>
            <a:off x="7524681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24681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105" name="Shape 103"/>
          <p:cNvSpPr/>
          <p:nvPr/>
        </p:nvSpPr>
        <p:spPr>
          <a:xfrm>
            <a:off x="7877972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877972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107" name="Shape 105"/>
          <p:cNvSpPr/>
          <p:nvPr/>
        </p:nvSpPr>
        <p:spPr>
          <a:xfrm>
            <a:off x="8231263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231263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109" name="Shape 107"/>
          <p:cNvSpPr/>
          <p:nvPr/>
        </p:nvSpPr>
        <p:spPr>
          <a:xfrm>
            <a:off x="8584553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584553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20" dirty="0"/>
          </a:p>
        </p:txBody>
      </p:sp>
      <p:sp>
        <p:nvSpPr>
          <p:cNvPr id="111" name="Shape 109"/>
          <p:cNvSpPr/>
          <p:nvPr/>
        </p:nvSpPr>
        <p:spPr>
          <a:xfrm>
            <a:off x="8937844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937844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20" dirty="0"/>
          </a:p>
        </p:txBody>
      </p:sp>
      <p:sp>
        <p:nvSpPr>
          <p:cNvPr id="113" name="Shape 111"/>
          <p:cNvSpPr/>
          <p:nvPr/>
        </p:nvSpPr>
        <p:spPr>
          <a:xfrm>
            <a:off x="9291135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291135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20" dirty="0"/>
          </a:p>
        </p:txBody>
      </p:sp>
      <p:sp>
        <p:nvSpPr>
          <p:cNvPr id="115" name="Shape 113"/>
          <p:cNvSpPr/>
          <p:nvPr/>
        </p:nvSpPr>
        <p:spPr>
          <a:xfrm>
            <a:off x="9644426" y="3776472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644426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20" dirty="0"/>
          </a:p>
        </p:txBody>
      </p:sp>
      <p:sp>
        <p:nvSpPr>
          <p:cNvPr id="117" name="Shape 115"/>
          <p:cNvSpPr/>
          <p:nvPr/>
        </p:nvSpPr>
        <p:spPr>
          <a:xfrm>
            <a:off x="9997717" y="3776472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997717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20" dirty="0"/>
          </a:p>
        </p:txBody>
      </p:sp>
      <p:sp>
        <p:nvSpPr>
          <p:cNvPr id="119" name="Shape 117"/>
          <p:cNvSpPr/>
          <p:nvPr/>
        </p:nvSpPr>
        <p:spPr>
          <a:xfrm>
            <a:off x="10351008" y="3776472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351008" y="38084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20" dirty="0"/>
          </a:p>
        </p:txBody>
      </p:sp>
      <p:sp>
        <p:nvSpPr>
          <p:cNvPr id="121" name="Shape 119"/>
          <p:cNvSpPr/>
          <p:nvPr/>
        </p:nvSpPr>
        <p:spPr>
          <a:xfrm>
            <a:off x="10524744" y="3867912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561320" y="3867912"/>
            <a:ext cx="274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550" dirty="0"/>
          </a:p>
        </p:txBody>
      </p:sp>
      <p:sp>
        <p:nvSpPr>
          <p:cNvPr id="123" name="Shape 121"/>
          <p:cNvSpPr/>
          <p:nvPr/>
        </p:nvSpPr>
        <p:spPr>
          <a:xfrm>
            <a:off x="2066544" y="4617720"/>
            <a:ext cx="92354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231136" y="47457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晨雾绿定制色开发</a:t>
            </a:r>
            <a:endParaRPr lang="en-US" sz="730" dirty="0"/>
          </a:p>
        </p:txBody>
      </p:sp>
      <p:sp>
        <p:nvSpPr>
          <p:cNvPr id="125" name="Text 123"/>
          <p:cNvSpPr/>
          <p:nvPr/>
        </p:nvSpPr>
        <p:spPr>
          <a:xfrm>
            <a:off x="2231136" y="50017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当前：整车色差一致性评审｜已完成 3/12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4937760" y="4754880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974336" y="4754880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4946904" y="5120640"/>
            <a:ext cx="100584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946904" y="5120640"/>
            <a:ext cx="895198" cy="54864"/>
          </a:xfrm>
          <a:prstGeom prst="roundRect">
            <a:avLst>
              <a:gd name="adj" fmla="val 33333"/>
            </a:avLst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016752" y="506577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89%</a:t>
            </a:r>
            <a:endParaRPr lang="en-US" sz="560" dirty="0"/>
          </a:p>
        </p:txBody>
      </p:sp>
      <p:sp>
        <p:nvSpPr>
          <p:cNvPr id="131" name="Shape 129"/>
          <p:cNvSpPr/>
          <p:nvPr/>
        </p:nvSpPr>
        <p:spPr>
          <a:xfrm>
            <a:off x="66568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854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1140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426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5712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998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0284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2570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4856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7142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9428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714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000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6286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8572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0858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314432" y="4928616"/>
            <a:ext cx="91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648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4648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150" name="Shape 148"/>
          <p:cNvSpPr/>
          <p:nvPr/>
        </p:nvSpPr>
        <p:spPr>
          <a:xfrm>
            <a:off x="66934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934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152" name="Shape 150"/>
          <p:cNvSpPr/>
          <p:nvPr/>
        </p:nvSpPr>
        <p:spPr>
          <a:xfrm>
            <a:off x="69220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9220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154" name="Shape 152"/>
          <p:cNvSpPr/>
          <p:nvPr/>
        </p:nvSpPr>
        <p:spPr>
          <a:xfrm>
            <a:off x="71506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1506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156" name="Shape 154"/>
          <p:cNvSpPr/>
          <p:nvPr/>
        </p:nvSpPr>
        <p:spPr>
          <a:xfrm>
            <a:off x="73792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3792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158" name="Shape 156"/>
          <p:cNvSpPr/>
          <p:nvPr/>
        </p:nvSpPr>
        <p:spPr>
          <a:xfrm>
            <a:off x="76078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6078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160" name="Shape 158"/>
          <p:cNvSpPr/>
          <p:nvPr/>
        </p:nvSpPr>
        <p:spPr>
          <a:xfrm>
            <a:off x="78364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8364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20" dirty="0"/>
          </a:p>
        </p:txBody>
      </p:sp>
      <p:sp>
        <p:nvSpPr>
          <p:cNvPr id="162" name="Shape 160"/>
          <p:cNvSpPr/>
          <p:nvPr/>
        </p:nvSpPr>
        <p:spPr>
          <a:xfrm>
            <a:off x="80650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0650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20" dirty="0"/>
          </a:p>
        </p:txBody>
      </p:sp>
      <p:sp>
        <p:nvSpPr>
          <p:cNvPr id="164" name="Shape 162"/>
          <p:cNvSpPr/>
          <p:nvPr/>
        </p:nvSpPr>
        <p:spPr>
          <a:xfrm>
            <a:off x="82936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2936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20" dirty="0"/>
          </a:p>
        </p:txBody>
      </p:sp>
      <p:sp>
        <p:nvSpPr>
          <p:cNvPr id="166" name="Shape 164"/>
          <p:cNvSpPr/>
          <p:nvPr/>
        </p:nvSpPr>
        <p:spPr>
          <a:xfrm>
            <a:off x="85222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5222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20" dirty="0"/>
          </a:p>
        </p:txBody>
      </p:sp>
      <p:sp>
        <p:nvSpPr>
          <p:cNvPr id="168" name="Shape 166"/>
          <p:cNvSpPr/>
          <p:nvPr/>
        </p:nvSpPr>
        <p:spPr>
          <a:xfrm>
            <a:off x="87508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7508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20" dirty="0"/>
          </a:p>
        </p:txBody>
      </p:sp>
      <p:sp>
        <p:nvSpPr>
          <p:cNvPr id="170" name="Shape 168"/>
          <p:cNvSpPr/>
          <p:nvPr/>
        </p:nvSpPr>
        <p:spPr>
          <a:xfrm>
            <a:off x="89794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9794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20" dirty="0"/>
          </a:p>
        </p:txBody>
      </p:sp>
      <p:sp>
        <p:nvSpPr>
          <p:cNvPr id="172" name="Shape 170"/>
          <p:cNvSpPr/>
          <p:nvPr/>
        </p:nvSpPr>
        <p:spPr>
          <a:xfrm>
            <a:off x="92080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2080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420" dirty="0"/>
          </a:p>
        </p:txBody>
      </p:sp>
      <p:sp>
        <p:nvSpPr>
          <p:cNvPr id="174" name="Shape 172"/>
          <p:cNvSpPr/>
          <p:nvPr/>
        </p:nvSpPr>
        <p:spPr>
          <a:xfrm>
            <a:off x="94366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4366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420" dirty="0"/>
          </a:p>
        </p:txBody>
      </p:sp>
      <p:sp>
        <p:nvSpPr>
          <p:cNvPr id="176" name="Shape 174"/>
          <p:cNvSpPr/>
          <p:nvPr/>
        </p:nvSpPr>
        <p:spPr>
          <a:xfrm>
            <a:off x="96652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6652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420" dirty="0"/>
          </a:p>
        </p:txBody>
      </p:sp>
      <p:sp>
        <p:nvSpPr>
          <p:cNvPr id="178" name="Shape 176"/>
          <p:cNvSpPr/>
          <p:nvPr/>
        </p:nvSpPr>
        <p:spPr>
          <a:xfrm>
            <a:off x="9893808" y="485546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8938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420" dirty="0"/>
          </a:p>
        </p:txBody>
      </p:sp>
      <p:sp>
        <p:nvSpPr>
          <p:cNvPr id="180" name="Shape 178"/>
          <p:cNvSpPr/>
          <p:nvPr/>
        </p:nvSpPr>
        <p:spPr>
          <a:xfrm>
            <a:off x="10122408" y="4855464"/>
            <a:ext cx="164592" cy="164592"/>
          </a:xfrm>
          <a:prstGeom prst="ellipse">
            <a:avLst/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01224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420" dirty="0"/>
          </a:p>
        </p:txBody>
      </p:sp>
      <p:sp>
        <p:nvSpPr>
          <p:cNvPr id="182" name="Shape 180"/>
          <p:cNvSpPr/>
          <p:nvPr/>
        </p:nvSpPr>
        <p:spPr>
          <a:xfrm>
            <a:off x="10351008" y="4855464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351008" y="488746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420" dirty="0"/>
          </a:p>
        </p:txBody>
      </p:sp>
      <p:sp>
        <p:nvSpPr>
          <p:cNvPr id="184" name="Shape 182"/>
          <p:cNvSpPr/>
          <p:nvPr/>
        </p:nvSpPr>
        <p:spPr>
          <a:xfrm>
            <a:off x="10524744" y="4946904"/>
            <a:ext cx="347472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561320" y="4946904"/>
            <a:ext cx="274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550" dirty="0"/>
          </a:p>
        </p:txBody>
      </p:sp>
      <p:sp>
        <p:nvSpPr>
          <p:cNvPr id="186" name="Text 184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87" name="Text 185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项目详情：全生命周期流程时间线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将项目概览、18个工序、材料、评审和退出治理放在一个清晰结构中。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项目详情｜深海蓝定制色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项目详情｜深海蓝定制色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20824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31136" y="21305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深海蓝定制色开发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31136" y="2404872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客户：华北市场｜车型：轻卡 A 系｜当前阶段：样车评审｜整体进度：61%</a:t>
            </a:r>
            <a:endParaRPr lang="en-US" sz="570" dirty="0"/>
          </a:p>
        </p:txBody>
      </p:sp>
      <p:sp>
        <p:nvSpPr>
          <p:cNvPr id="30" name="Shape 28"/>
          <p:cNvSpPr/>
          <p:nvPr/>
        </p:nvSpPr>
        <p:spPr>
          <a:xfrm>
            <a:off x="6409944" y="2176272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176272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141464" y="2276856"/>
            <a:ext cx="246888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41464" y="2276856"/>
            <a:ext cx="1506017" cy="54864"/>
          </a:xfrm>
          <a:prstGeom prst="roundRect">
            <a:avLst>
              <a:gd name="adj" fmla="val 33333"/>
            </a:avLst>
          </a:prstGeom>
          <a:solidFill>
            <a:srgbClr val="D6AE68"/>
          </a:solidFill>
          <a:ln w="12700">
            <a:solidFill>
              <a:srgbClr val="D6AE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76104" y="220370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268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 12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10616184" y="220370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5276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 3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2066544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520" dirty="0"/>
          </a:p>
        </p:txBody>
      </p:sp>
      <p:sp>
        <p:nvSpPr>
          <p:cNvPr id="40" name="Shape 38"/>
          <p:cNvSpPr/>
          <p:nvPr/>
        </p:nvSpPr>
        <p:spPr>
          <a:xfrm>
            <a:off x="2779776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流程时间线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3493008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</a:t>
            </a:r>
            <a:endParaRPr lang="en-US" sz="520" dirty="0"/>
          </a:p>
        </p:txBody>
      </p:sp>
      <p:sp>
        <p:nvSpPr>
          <p:cNvPr id="44" name="Shape 42"/>
          <p:cNvSpPr/>
          <p:nvPr/>
        </p:nvSpPr>
        <p:spPr>
          <a:xfrm>
            <a:off x="4206240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42816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材料提交</a:t>
            </a:r>
            <a:endParaRPr lang="en-US" sz="520" dirty="0"/>
          </a:p>
        </p:txBody>
      </p:sp>
      <p:sp>
        <p:nvSpPr>
          <p:cNvPr id="46" name="Shape 44"/>
          <p:cNvSpPr/>
          <p:nvPr/>
        </p:nvSpPr>
        <p:spPr>
          <a:xfrm>
            <a:off x="4919472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评审记录</a:t>
            </a:r>
            <a:endParaRPr lang="en-US" sz="520" dirty="0"/>
          </a:p>
        </p:txBody>
      </p:sp>
      <p:sp>
        <p:nvSpPr>
          <p:cNvPr id="48" name="Shape 46"/>
          <p:cNvSpPr/>
          <p:nvPr/>
        </p:nvSpPr>
        <p:spPr>
          <a:xfrm>
            <a:off x="5632704" y="282549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2825496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数据汇总</a:t>
            </a:r>
            <a:endParaRPr lang="en-US" sz="520" dirty="0"/>
          </a:p>
        </p:txBody>
      </p:sp>
      <p:sp>
        <p:nvSpPr>
          <p:cNvPr id="50" name="Shape 48"/>
          <p:cNvSpPr/>
          <p:nvPr/>
        </p:nvSpPr>
        <p:spPr>
          <a:xfrm>
            <a:off x="2276856" y="3493008"/>
            <a:ext cx="0" cy="34747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76272" y="3273552"/>
            <a:ext cx="201168" cy="201168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85416" y="3319272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" dirty="0"/>
          </a:p>
        </p:txBody>
      </p:sp>
      <p:sp>
        <p:nvSpPr>
          <p:cNvPr id="53" name="Shape 51"/>
          <p:cNvSpPr/>
          <p:nvPr/>
        </p:nvSpPr>
        <p:spPr>
          <a:xfrm>
            <a:off x="2505456" y="3163824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70048" y="32644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04｜样板颜色确认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4489704" y="326440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26280" y="3264408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221224" y="327355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面漆颜色确认单已归档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8193024" y="32735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负责人：刘中伍｜附件：2｜操作日志：5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2276856" y="4151376"/>
            <a:ext cx="0" cy="34747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76272" y="3931920"/>
            <a:ext cx="201168" cy="201168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85416" y="3977640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400" dirty="0"/>
          </a:p>
        </p:txBody>
      </p:sp>
      <p:sp>
        <p:nvSpPr>
          <p:cNvPr id="62" name="Shape 60"/>
          <p:cNvSpPr/>
          <p:nvPr/>
        </p:nvSpPr>
        <p:spPr>
          <a:xfrm>
            <a:off x="2505456" y="38221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0048" y="39227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06｜涂料采购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489704" y="392277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6280" y="3922776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221224" y="39319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涂料到货，触发7/9/10</a:t>
            </a:r>
            <a:endParaRPr lang="en-US" sz="580" dirty="0"/>
          </a:p>
        </p:txBody>
      </p:sp>
      <p:sp>
        <p:nvSpPr>
          <p:cNvPr id="67" name="Text 65"/>
          <p:cNvSpPr/>
          <p:nvPr/>
        </p:nvSpPr>
        <p:spPr>
          <a:xfrm>
            <a:off x="8193024" y="39319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负责人：刘中伍｜附件：2｜操作日志：5</a:t>
            </a:r>
            <a:endParaRPr lang="en-US" sz="540" dirty="0"/>
          </a:p>
        </p:txBody>
      </p:sp>
      <p:sp>
        <p:nvSpPr>
          <p:cNvPr id="68" name="Shape 66"/>
          <p:cNvSpPr/>
          <p:nvPr/>
        </p:nvSpPr>
        <p:spPr>
          <a:xfrm>
            <a:off x="2276856" y="4809744"/>
            <a:ext cx="0" cy="34747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76272" y="4590288"/>
            <a:ext cx="201168" cy="201168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85416" y="4636008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" dirty="0"/>
          </a:p>
        </p:txBody>
      </p:sp>
      <p:sp>
        <p:nvSpPr>
          <p:cNvPr id="71" name="Shape 69"/>
          <p:cNvSpPr/>
          <p:nvPr/>
        </p:nvSpPr>
        <p:spPr>
          <a:xfrm>
            <a:off x="2505456" y="448056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70048" y="4581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11｜样车试制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4489704" y="4581144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26280" y="4581144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221224" y="45902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第1轮试制完成</a:t>
            </a:r>
            <a:endParaRPr lang="en-US" sz="580" dirty="0"/>
          </a:p>
        </p:txBody>
      </p:sp>
      <p:sp>
        <p:nvSpPr>
          <p:cNvPr id="76" name="Text 74"/>
          <p:cNvSpPr/>
          <p:nvPr/>
        </p:nvSpPr>
        <p:spPr>
          <a:xfrm>
            <a:off x="8193024" y="459028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负责人：刘中伍｜附件：2｜操作日志：5</a:t>
            </a:r>
            <a:endParaRPr lang="en-US" sz="540" dirty="0"/>
          </a:p>
        </p:txBody>
      </p:sp>
      <p:sp>
        <p:nvSpPr>
          <p:cNvPr id="77" name="Shape 75"/>
          <p:cNvSpPr/>
          <p:nvPr/>
        </p:nvSpPr>
        <p:spPr>
          <a:xfrm>
            <a:off x="2276856" y="5468112"/>
            <a:ext cx="0" cy="34747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76272" y="5248656"/>
            <a:ext cx="201168" cy="201168"/>
          </a:xfrm>
          <a:prstGeom prst="ellipse">
            <a:avLst/>
          </a:prstGeom>
          <a:solidFill>
            <a:srgbClr val="D6AE68"/>
          </a:solidFill>
          <a:ln w="12700">
            <a:solidFill>
              <a:srgbClr val="D6AE6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85416" y="5294376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00" dirty="0"/>
          </a:p>
        </p:txBody>
      </p:sp>
      <p:sp>
        <p:nvSpPr>
          <p:cNvPr id="80" name="Shape 78"/>
          <p:cNvSpPr/>
          <p:nvPr/>
        </p:nvSpPr>
        <p:spPr>
          <a:xfrm>
            <a:off x="2505456" y="5138928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70048" y="5239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12｜样车驾驶室评审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4489704" y="5239512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26280" y="5239512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221224" y="524865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评审通过时间人工录入</a:t>
            </a:r>
            <a:endParaRPr lang="en-US" sz="580" dirty="0"/>
          </a:p>
        </p:txBody>
      </p:sp>
      <p:sp>
        <p:nvSpPr>
          <p:cNvPr id="85" name="Text 83"/>
          <p:cNvSpPr/>
          <p:nvPr/>
        </p:nvSpPr>
        <p:spPr>
          <a:xfrm>
            <a:off x="8193024" y="524865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负责人：刘中伍｜附件：2｜操作日志：5</a:t>
            </a:r>
            <a:endParaRPr lang="en-US" sz="540" dirty="0"/>
          </a:p>
        </p:txBody>
      </p:sp>
      <p:sp>
        <p:nvSpPr>
          <p:cNvPr id="86" name="Shape 84"/>
          <p:cNvSpPr/>
          <p:nvPr/>
        </p:nvSpPr>
        <p:spPr>
          <a:xfrm>
            <a:off x="2176272" y="5907024"/>
            <a:ext cx="201168" cy="201168"/>
          </a:xfrm>
          <a:prstGeom prst="ellipse">
            <a:avLst/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85416" y="5952744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400" dirty="0"/>
          </a:p>
        </p:txBody>
      </p:sp>
      <p:sp>
        <p:nvSpPr>
          <p:cNvPr id="88" name="Shape 86"/>
          <p:cNvSpPr/>
          <p:nvPr/>
        </p:nvSpPr>
        <p:spPr>
          <a:xfrm>
            <a:off x="2505456" y="5797296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70048" y="5897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17｜整车色差一致性评审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4489704" y="5897880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26280" y="5897880"/>
            <a:ext cx="4937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221224" y="59070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12个月｜已完成3/12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8193024" y="59070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负责人：刘中伍｜附件：2｜操作日志：5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工序清单：详细列表 + 右侧详情抽屉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保留台账完整性，但把长文本和操作沉入详情抽屉，避免表格拥挤。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731520" y="2487168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39112"/>
            <a:ext cx="59893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66544" y="2039112"/>
            <a:ext cx="5989320" cy="292608"/>
          </a:xfrm>
          <a:prstGeom prst="rect">
            <a:avLst/>
          </a:prstGeom>
          <a:solidFill>
            <a:srgbClr val="F3F6F8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2112264"/>
            <a:ext cx="43342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2618842" y="2112264"/>
            <a:ext cx="12719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3936492" y="2112264"/>
            <a:ext cx="79278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4774997" y="2112264"/>
            <a:ext cx="6729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5493715" y="2112264"/>
            <a:ext cx="6729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6212434" y="2112264"/>
            <a:ext cx="43342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560" dirty="0"/>
          </a:p>
        </p:txBody>
      </p:sp>
      <p:sp>
        <p:nvSpPr>
          <p:cNvPr id="35" name="Text 33"/>
          <p:cNvSpPr/>
          <p:nvPr/>
        </p:nvSpPr>
        <p:spPr>
          <a:xfrm>
            <a:off x="6691579" y="2112264"/>
            <a:ext cx="6729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560" dirty="0"/>
          </a:p>
        </p:txBody>
      </p:sp>
      <p:sp>
        <p:nvSpPr>
          <p:cNvPr id="36" name="Shape 34"/>
          <p:cNvSpPr/>
          <p:nvPr/>
        </p:nvSpPr>
        <p:spPr>
          <a:xfrm>
            <a:off x="2066544" y="2331720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2395728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2618842" y="2395728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反映市场需求</a:t>
            </a:r>
            <a:endParaRPr lang="en-US" sz="540" dirty="0"/>
          </a:p>
        </p:txBody>
      </p:sp>
      <p:sp>
        <p:nvSpPr>
          <p:cNvPr id="39" name="Text 37"/>
          <p:cNvSpPr/>
          <p:nvPr/>
        </p:nvSpPr>
        <p:spPr>
          <a:xfrm>
            <a:off x="3936492" y="2395728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4774997" y="239572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07/11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5493715" y="239572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刘中伍</a:t>
            </a:r>
            <a:endParaRPr lang="en-US" sz="540" dirty="0"/>
          </a:p>
        </p:txBody>
      </p:sp>
      <p:sp>
        <p:nvSpPr>
          <p:cNvPr id="42" name="Text 40"/>
          <p:cNvSpPr/>
          <p:nvPr/>
        </p:nvSpPr>
        <p:spPr>
          <a:xfrm>
            <a:off x="6212434" y="2395728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6691579" y="239572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2066544" y="2961132"/>
            <a:ext cx="5989320" cy="629412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66544" y="2961132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39696" y="3025140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2618842" y="3025140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样板颜色确认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3936492" y="3025140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9" name="Text 47"/>
          <p:cNvSpPr/>
          <p:nvPr/>
        </p:nvSpPr>
        <p:spPr>
          <a:xfrm>
            <a:off x="4774997" y="3025140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10/15</a:t>
            </a:r>
            <a:endParaRPr lang="en-US" sz="540" dirty="0"/>
          </a:p>
        </p:txBody>
      </p:sp>
      <p:sp>
        <p:nvSpPr>
          <p:cNvPr id="50" name="Text 48"/>
          <p:cNvSpPr/>
          <p:nvPr/>
        </p:nvSpPr>
        <p:spPr>
          <a:xfrm>
            <a:off x="5493715" y="3025140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过常保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6212434" y="3025140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6691579" y="3025140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2066544" y="3590544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39696" y="3654552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540" dirty="0"/>
          </a:p>
        </p:txBody>
      </p:sp>
      <p:sp>
        <p:nvSpPr>
          <p:cNvPr id="55" name="Text 53"/>
          <p:cNvSpPr/>
          <p:nvPr/>
        </p:nvSpPr>
        <p:spPr>
          <a:xfrm>
            <a:off x="2618842" y="3654552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涂料性能试验</a:t>
            </a:r>
            <a:endParaRPr lang="en-US" sz="540" dirty="0"/>
          </a:p>
        </p:txBody>
      </p:sp>
      <p:sp>
        <p:nvSpPr>
          <p:cNvPr id="56" name="Text 54"/>
          <p:cNvSpPr/>
          <p:nvPr/>
        </p:nvSpPr>
        <p:spPr>
          <a:xfrm>
            <a:off x="3936492" y="3654552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540" dirty="0"/>
          </a:p>
        </p:txBody>
      </p:sp>
      <p:sp>
        <p:nvSpPr>
          <p:cNvPr id="57" name="Text 55"/>
          <p:cNvSpPr/>
          <p:nvPr/>
        </p:nvSpPr>
        <p:spPr>
          <a:xfrm>
            <a:off x="4774997" y="3654552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02/16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5493715" y="3654552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田强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6212434" y="3654552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6691579" y="3654552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催办</a:t>
            </a:r>
            <a:endParaRPr lang="en-US" sz="540" dirty="0"/>
          </a:p>
        </p:txBody>
      </p:sp>
      <p:sp>
        <p:nvSpPr>
          <p:cNvPr id="61" name="Shape 59"/>
          <p:cNvSpPr/>
          <p:nvPr/>
        </p:nvSpPr>
        <p:spPr>
          <a:xfrm>
            <a:off x="2066544" y="4219956"/>
            <a:ext cx="5989320" cy="629412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66544" y="4219956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39696" y="4283964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540" dirty="0"/>
          </a:p>
        </p:txBody>
      </p:sp>
      <p:sp>
        <p:nvSpPr>
          <p:cNvPr id="64" name="Text 62"/>
          <p:cNvSpPr/>
          <p:nvPr/>
        </p:nvSpPr>
        <p:spPr>
          <a:xfrm>
            <a:off x="2618842" y="4283964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样车驾驶室评审</a:t>
            </a:r>
            <a:endParaRPr lang="en-US" sz="540" dirty="0"/>
          </a:p>
        </p:txBody>
      </p:sp>
      <p:sp>
        <p:nvSpPr>
          <p:cNvPr id="65" name="Text 63"/>
          <p:cNvSpPr/>
          <p:nvPr/>
        </p:nvSpPr>
        <p:spPr>
          <a:xfrm>
            <a:off x="3936492" y="4283964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540" dirty="0"/>
          </a:p>
        </p:txBody>
      </p:sp>
      <p:sp>
        <p:nvSpPr>
          <p:cNvPr id="66" name="Text 64"/>
          <p:cNvSpPr/>
          <p:nvPr/>
        </p:nvSpPr>
        <p:spPr>
          <a:xfrm>
            <a:off x="4774997" y="4283964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5493715" y="4283964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田强</a:t>
            </a:r>
            <a:endParaRPr lang="en-US" sz="540" dirty="0"/>
          </a:p>
        </p:txBody>
      </p:sp>
      <p:sp>
        <p:nvSpPr>
          <p:cNvPr id="68" name="Text 66"/>
          <p:cNvSpPr/>
          <p:nvPr/>
        </p:nvSpPr>
        <p:spPr>
          <a:xfrm>
            <a:off x="6212434" y="4283964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6691579" y="4283964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540" dirty="0"/>
          </a:p>
        </p:txBody>
      </p:sp>
      <p:sp>
        <p:nvSpPr>
          <p:cNvPr id="70" name="Shape 68"/>
          <p:cNvSpPr/>
          <p:nvPr/>
        </p:nvSpPr>
        <p:spPr>
          <a:xfrm>
            <a:off x="2066544" y="4849368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39696" y="4913376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2618842" y="4913376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颜色开发收费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3936492" y="4913376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540" dirty="0"/>
          </a:p>
        </p:txBody>
      </p:sp>
      <p:sp>
        <p:nvSpPr>
          <p:cNvPr id="74" name="Text 72"/>
          <p:cNvSpPr/>
          <p:nvPr/>
        </p:nvSpPr>
        <p:spPr>
          <a:xfrm>
            <a:off x="4774997" y="4913376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10/31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5493715" y="4913376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孙丽红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6212434" y="4913376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6691579" y="4913376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2066544" y="5478780"/>
            <a:ext cx="5989320" cy="629412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66544" y="5478780"/>
            <a:ext cx="598932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39696" y="5542788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540" dirty="0"/>
          </a:p>
        </p:txBody>
      </p:sp>
      <p:sp>
        <p:nvSpPr>
          <p:cNvPr id="81" name="Text 79"/>
          <p:cNvSpPr/>
          <p:nvPr/>
        </p:nvSpPr>
        <p:spPr>
          <a:xfrm>
            <a:off x="2618842" y="5542788"/>
            <a:ext cx="1244498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整车色差一致性评审</a:t>
            </a:r>
            <a:endParaRPr lang="en-US" sz="540" dirty="0"/>
          </a:p>
        </p:txBody>
      </p:sp>
      <p:sp>
        <p:nvSpPr>
          <p:cNvPr id="82" name="Text 80"/>
          <p:cNvSpPr/>
          <p:nvPr/>
        </p:nvSpPr>
        <p:spPr>
          <a:xfrm>
            <a:off x="3936492" y="5542788"/>
            <a:ext cx="765353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月度跟踪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4774997" y="554278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5493715" y="554278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李晓晨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6212434" y="5542788"/>
            <a:ext cx="405994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6691579" y="5542788"/>
            <a:ext cx="645566" cy="5379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</a:t>
            </a:r>
            <a:endParaRPr lang="en-US" sz="540" dirty="0"/>
          </a:p>
        </p:txBody>
      </p:sp>
      <p:sp>
        <p:nvSpPr>
          <p:cNvPr id="87" name="Shape 85"/>
          <p:cNvSpPr/>
          <p:nvPr/>
        </p:nvSpPr>
        <p:spPr>
          <a:xfrm>
            <a:off x="8330184" y="2039112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8890">
            <a:solidFill>
              <a:srgbClr val="D6E0E8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8522208" y="2203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工序详情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10296144" y="220370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32720" y="220370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522208" y="25420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12｜样车驾驶室评审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8522208" y="28803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工作内容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8522208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由工艺、质量、涂装厂、营销共同评审样车驾驶室颜色。</a:t>
            </a:r>
            <a:endParaRPr lang="en-US" sz="580" dirty="0"/>
          </a:p>
        </p:txBody>
      </p:sp>
      <p:sp>
        <p:nvSpPr>
          <p:cNvPr id="94" name="Text 92"/>
          <p:cNvSpPr/>
          <p:nvPr/>
        </p:nvSpPr>
        <p:spPr>
          <a:xfrm>
            <a:off x="8522208" y="34747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完成条件</a:t>
            </a:r>
            <a:endParaRPr lang="en-US" sz="580" dirty="0"/>
          </a:p>
        </p:txBody>
      </p:sp>
      <p:sp>
        <p:nvSpPr>
          <p:cNvPr id="95" name="Text 93"/>
          <p:cNvSpPr/>
          <p:nvPr/>
        </p:nvSpPr>
        <p:spPr>
          <a:xfrm>
            <a:off x="8522208" y="365760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评审结论为“通过”，并录入评审通过时间。</a:t>
            </a:r>
            <a:endParaRPr lang="en-US" sz="580" dirty="0"/>
          </a:p>
        </p:txBody>
      </p:sp>
      <p:sp>
        <p:nvSpPr>
          <p:cNvPr id="96" name="Text 94"/>
          <p:cNvSpPr/>
          <p:nvPr/>
        </p:nvSpPr>
        <p:spPr>
          <a:xfrm>
            <a:off x="8522208" y="406908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必交材料</a:t>
            </a:r>
            <a:endParaRPr lang="en-US" sz="580" dirty="0"/>
          </a:p>
        </p:txBody>
      </p:sp>
      <p:sp>
        <p:nvSpPr>
          <p:cNvPr id="97" name="Text 95"/>
          <p:cNvSpPr/>
          <p:nvPr/>
        </p:nvSpPr>
        <p:spPr>
          <a:xfrm>
            <a:off x="8522208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评审报告、样车照片、整改记录</a:t>
            </a:r>
            <a:endParaRPr lang="en-US" sz="580" dirty="0"/>
          </a:p>
        </p:txBody>
      </p:sp>
      <p:sp>
        <p:nvSpPr>
          <p:cNvPr id="98" name="Text 96"/>
          <p:cNvSpPr/>
          <p:nvPr/>
        </p:nvSpPr>
        <p:spPr>
          <a:xfrm>
            <a:off x="8522208" y="466344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退回规则</a:t>
            </a:r>
            <a:endParaRPr lang="en-US" sz="580" dirty="0"/>
          </a:p>
        </p:txBody>
      </p:sp>
      <p:sp>
        <p:nvSpPr>
          <p:cNvPr id="99" name="Text 97"/>
          <p:cNvSpPr/>
          <p:nvPr/>
        </p:nvSpPr>
        <p:spPr>
          <a:xfrm>
            <a:off x="8522208" y="484632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 → 自动生成第11步新轮次</a:t>
            </a:r>
            <a:endParaRPr lang="en-US" sz="580" dirty="0"/>
          </a:p>
        </p:txBody>
      </p:sp>
      <p:sp>
        <p:nvSpPr>
          <p:cNvPr id="100" name="Text 98"/>
          <p:cNvSpPr/>
          <p:nvPr/>
        </p:nvSpPr>
        <p:spPr>
          <a:xfrm>
            <a:off x="8522208" y="525780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580" dirty="0"/>
          </a:p>
        </p:txBody>
      </p:sp>
      <p:sp>
        <p:nvSpPr>
          <p:cNvPr id="101" name="Text 99"/>
          <p:cNvSpPr/>
          <p:nvPr/>
        </p:nvSpPr>
        <p:spPr>
          <a:xfrm>
            <a:off x="8522208" y="544068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条记录｜最近：田强提交评审</a:t>
            </a:r>
            <a:endParaRPr lang="en-US" sz="580" dirty="0"/>
          </a:p>
        </p:txBody>
      </p:sp>
      <p:sp>
        <p:nvSpPr>
          <p:cNvPr id="102" name="Shape 100"/>
          <p:cNvSpPr/>
          <p:nvPr/>
        </p:nvSpPr>
        <p:spPr>
          <a:xfrm>
            <a:off x="8522208" y="5769864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58784" y="5769864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550" dirty="0"/>
          </a:p>
        </p:txBody>
      </p:sp>
      <p:sp>
        <p:nvSpPr>
          <p:cNvPr id="104" name="Shape 102"/>
          <p:cNvSpPr/>
          <p:nvPr/>
        </p:nvSpPr>
        <p:spPr>
          <a:xfrm>
            <a:off x="9107424" y="576986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44000" y="576986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</a:t>
            </a:r>
            <a:endParaRPr lang="en-US" sz="550" dirty="0"/>
          </a:p>
        </p:txBody>
      </p:sp>
      <p:sp>
        <p:nvSpPr>
          <p:cNvPr id="106" name="Text 104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材料提交平台：按项目、工序、材料类型归档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每个工序都有必交材料、附件版本、审核状态与操作留痕。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731520" y="2798064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20824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31136" y="2185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必交材料清单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231136" y="25237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客户颜色样板</a:t>
            </a:r>
            <a:endParaRPr lang="en-US" sz="590" dirty="0"/>
          </a:p>
        </p:txBody>
      </p:sp>
      <p:sp>
        <p:nvSpPr>
          <p:cNvPr id="30" name="Text 28"/>
          <p:cNvSpPr/>
          <p:nvPr/>
        </p:nvSpPr>
        <p:spPr>
          <a:xfrm>
            <a:off x="2231136" y="26883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步骤01</a:t>
            </a:r>
            <a:endParaRPr lang="en-US" sz="520" dirty="0"/>
          </a:p>
        </p:txBody>
      </p:sp>
      <p:sp>
        <p:nvSpPr>
          <p:cNvPr id="31" name="Shape 29"/>
          <p:cNvSpPr/>
          <p:nvPr/>
        </p:nvSpPr>
        <p:spPr>
          <a:xfrm>
            <a:off x="3968496" y="2523744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5072" y="2523744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231136" y="29992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新颜色开发需求报告</a:t>
            </a:r>
            <a:endParaRPr lang="en-US" sz="590" dirty="0"/>
          </a:p>
        </p:txBody>
      </p:sp>
      <p:sp>
        <p:nvSpPr>
          <p:cNvPr id="34" name="Text 32"/>
          <p:cNvSpPr/>
          <p:nvPr/>
        </p:nvSpPr>
        <p:spPr>
          <a:xfrm>
            <a:off x="2231136" y="31638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步骤02</a:t>
            </a:r>
            <a:endParaRPr lang="en-US" sz="520" dirty="0"/>
          </a:p>
        </p:txBody>
      </p:sp>
      <p:sp>
        <p:nvSpPr>
          <p:cNvPr id="35" name="Shape 33"/>
          <p:cNvSpPr/>
          <p:nvPr/>
        </p:nvSpPr>
        <p:spPr>
          <a:xfrm>
            <a:off x="3968496" y="2999232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2999232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231136" y="34747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面漆颜色确认单</a:t>
            </a:r>
            <a:endParaRPr lang="en-US" sz="590" dirty="0"/>
          </a:p>
        </p:txBody>
      </p:sp>
      <p:sp>
        <p:nvSpPr>
          <p:cNvPr id="38" name="Text 36"/>
          <p:cNvSpPr/>
          <p:nvPr/>
        </p:nvSpPr>
        <p:spPr>
          <a:xfrm>
            <a:off x="2231136" y="36393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步骤04</a:t>
            </a:r>
            <a:endParaRPr lang="en-US" sz="520" dirty="0"/>
          </a:p>
        </p:txBody>
      </p:sp>
      <p:sp>
        <p:nvSpPr>
          <p:cNvPr id="39" name="Shape 37"/>
          <p:cNvSpPr/>
          <p:nvPr/>
        </p:nvSpPr>
        <p:spPr>
          <a:xfrm>
            <a:off x="3968496" y="3474720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3474720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231136" y="39502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性能试验报告</a:t>
            </a:r>
            <a:endParaRPr lang="en-US" sz="590" dirty="0"/>
          </a:p>
        </p:txBody>
      </p:sp>
      <p:sp>
        <p:nvSpPr>
          <p:cNvPr id="42" name="Text 40"/>
          <p:cNvSpPr/>
          <p:nvPr/>
        </p:nvSpPr>
        <p:spPr>
          <a:xfrm>
            <a:off x="2231136" y="41148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步骤09</a:t>
            </a:r>
            <a:endParaRPr lang="en-US" sz="520" dirty="0"/>
          </a:p>
        </p:txBody>
      </p:sp>
      <p:sp>
        <p:nvSpPr>
          <p:cNvPr id="43" name="Shape 41"/>
          <p:cNvSpPr/>
          <p:nvPr/>
        </p:nvSpPr>
        <p:spPr>
          <a:xfrm>
            <a:off x="3968496" y="3950208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5072" y="3950208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231136" y="44256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样车评审报告</a:t>
            </a:r>
            <a:endParaRPr lang="en-US" sz="590" dirty="0"/>
          </a:p>
        </p:txBody>
      </p:sp>
      <p:sp>
        <p:nvSpPr>
          <p:cNvPr id="46" name="Text 44"/>
          <p:cNvSpPr/>
          <p:nvPr/>
        </p:nvSpPr>
        <p:spPr>
          <a:xfrm>
            <a:off x="2231136" y="45902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步骤12</a:t>
            </a:r>
            <a:endParaRPr lang="en-US" sz="520" dirty="0"/>
          </a:p>
        </p:txBody>
      </p:sp>
      <p:sp>
        <p:nvSpPr>
          <p:cNvPr id="47" name="Shape 45"/>
          <p:cNvSpPr/>
          <p:nvPr/>
        </p:nvSpPr>
        <p:spPr>
          <a:xfrm>
            <a:off x="3968496" y="4425696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05072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未提交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231136" y="490118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收费凭证</a:t>
            </a:r>
            <a:endParaRPr lang="en-US" sz="590" dirty="0"/>
          </a:p>
        </p:txBody>
      </p:sp>
      <p:sp>
        <p:nvSpPr>
          <p:cNvPr id="50" name="Text 48"/>
          <p:cNvSpPr/>
          <p:nvPr/>
        </p:nvSpPr>
        <p:spPr>
          <a:xfrm>
            <a:off x="2231136" y="506577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步骤13</a:t>
            </a:r>
            <a:endParaRPr lang="en-US" sz="520" dirty="0"/>
          </a:p>
        </p:txBody>
      </p:sp>
      <p:sp>
        <p:nvSpPr>
          <p:cNvPr id="51" name="Shape 49"/>
          <p:cNvSpPr/>
          <p:nvPr/>
        </p:nvSpPr>
        <p:spPr>
          <a:xfrm>
            <a:off x="3968496" y="4901184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5072" y="4901184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未提交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231136" y="53766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月度色差评审表</a:t>
            </a:r>
            <a:endParaRPr lang="en-US" sz="590" dirty="0"/>
          </a:p>
        </p:txBody>
      </p:sp>
      <p:sp>
        <p:nvSpPr>
          <p:cNvPr id="54" name="Text 52"/>
          <p:cNvSpPr/>
          <p:nvPr/>
        </p:nvSpPr>
        <p:spPr>
          <a:xfrm>
            <a:off x="2231136" y="55412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步骤17</a:t>
            </a:r>
            <a:endParaRPr lang="en-US" sz="520" dirty="0"/>
          </a:p>
        </p:txBody>
      </p:sp>
      <p:sp>
        <p:nvSpPr>
          <p:cNvPr id="55" name="Shape 53"/>
          <p:cNvSpPr/>
          <p:nvPr/>
        </p:nvSpPr>
        <p:spPr>
          <a:xfrm>
            <a:off x="3968496" y="5376672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05072" y="5376672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待提交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038344" y="2020824"/>
            <a:ext cx="6263640" cy="1143000"/>
          </a:xfrm>
          <a:prstGeom prst="roundRect">
            <a:avLst>
              <a:gd name="adj" fmla="val 6400"/>
            </a:avLst>
          </a:prstGeom>
          <a:solidFill>
            <a:srgbClr val="FAFBFC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6944" y="2185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上传材料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5266944" y="24597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选择工序、材料类型，上传文件后生成版本记录。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918704" y="2331720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2331720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选择工序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8650224" y="2331720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2331720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材料类型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9400032" y="2331720"/>
            <a:ext cx="603504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6608" y="2331720"/>
            <a:ext cx="5303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038344" y="3438144"/>
            <a:ext cx="6263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38344" y="3438144"/>
            <a:ext cx="6263640" cy="292608"/>
          </a:xfrm>
          <a:prstGeom prst="rect">
            <a:avLst/>
          </a:prstGeom>
          <a:solidFill>
            <a:srgbClr val="F3F6F8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11496" y="3511296"/>
            <a:ext cx="145755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560" dirty="0"/>
          </a:p>
        </p:txBody>
      </p:sp>
      <p:sp>
        <p:nvSpPr>
          <p:cNvPr id="69" name="Text 67"/>
          <p:cNvSpPr/>
          <p:nvPr/>
        </p:nvSpPr>
        <p:spPr>
          <a:xfrm>
            <a:off x="6614770" y="3511296"/>
            <a:ext cx="7685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560" dirty="0"/>
          </a:p>
        </p:txBody>
      </p:sp>
      <p:sp>
        <p:nvSpPr>
          <p:cNvPr id="70" name="Text 68"/>
          <p:cNvSpPr/>
          <p:nvPr/>
        </p:nvSpPr>
        <p:spPr>
          <a:xfrm>
            <a:off x="7429043" y="3511296"/>
            <a:ext cx="5806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560" dirty="0"/>
          </a:p>
        </p:txBody>
      </p:sp>
      <p:sp>
        <p:nvSpPr>
          <p:cNvPr id="71" name="Text 69"/>
          <p:cNvSpPr/>
          <p:nvPr/>
        </p:nvSpPr>
        <p:spPr>
          <a:xfrm>
            <a:off x="8055407" y="3511296"/>
            <a:ext cx="7685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上传人</a:t>
            </a:r>
            <a:endParaRPr lang="en-US" sz="560" dirty="0"/>
          </a:p>
        </p:txBody>
      </p:sp>
      <p:sp>
        <p:nvSpPr>
          <p:cNvPr id="72" name="Text 70"/>
          <p:cNvSpPr/>
          <p:nvPr/>
        </p:nvSpPr>
        <p:spPr>
          <a:xfrm>
            <a:off x="8869680" y="3511296"/>
            <a:ext cx="108173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审核状态</a:t>
            </a:r>
            <a:endParaRPr lang="en-US" sz="560" dirty="0"/>
          </a:p>
        </p:txBody>
      </p:sp>
      <p:sp>
        <p:nvSpPr>
          <p:cNvPr id="73" name="Text 71"/>
          <p:cNvSpPr/>
          <p:nvPr/>
        </p:nvSpPr>
        <p:spPr>
          <a:xfrm>
            <a:off x="9997135" y="3511296"/>
            <a:ext cx="70591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560" dirty="0"/>
          </a:p>
        </p:txBody>
      </p:sp>
      <p:sp>
        <p:nvSpPr>
          <p:cNvPr id="74" name="Shape 72"/>
          <p:cNvSpPr/>
          <p:nvPr/>
        </p:nvSpPr>
        <p:spPr>
          <a:xfrm>
            <a:off x="5038344" y="3730752"/>
            <a:ext cx="62636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11496" y="3794760"/>
            <a:ext cx="143012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性能试验报告.pdf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6614770" y="3794760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步骤09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7429043" y="3794760"/>
            <a:ext cx="55321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540" dirty="0"/>
          </a:p>
        </p:txBody>
      </p:sp>
      <p:sp>
        <p:nvSpPr>
          <p:cNvPr id="78" name="Text 76"/>
          <p:cNvSpPr/>
          <p:nvPr/>
        </p:nvSpPr>
        <p:spPr>
          <a:xfrm>
            <a:off x="8055407" y="3794760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田强</a:t>
            </a:r>
            <a:endParaRPr lang="en-US" sz="540" dirty="0"/>
          </a:p>
        </p:txBody>
      </p:sp>
      <p:sp>
        <p:nvSpPr>
          <p:cNvPr id="79" name="Text 77"/>
          <p:cNvSpPr/>
          <p:nvPr/>
        </p:nvSpPr>
        <p:spPr>
          <a:xfrm>
            <a:off x="8869680" y="3794760"/>
            <a:ext cx="1054303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</a:t>
            </a:r>
            <a:endParaRPr lang="en-US" sz="540" dirty="0"/>
          </a:p>
        </p:txBody>
      </p:sp>
      <p:sp>
        <p:nvSpPr>
          <p:cNvPr id="80" name="Text 78"/>
          <p:cNvSpPr/>
          <p:nvPr/>
        </p:nvSpPr>
        <p:spPr>
          <a:xfrm>
            <a:off x="9997135" y="3794760"/>
            <a:ext cx="678485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</a:t>
            </a:r>
            <a:endParaRPr lang="en-US" sz="540" dirty="0"/>
          </a:p>
        </p:txBody>
      </p:sp>
      <p:sp>
        <p:nvSpPr>
          <p:cNvPr id="81" name="Shape 79"/>
          <p:cNvSpPr/>
          <p:nvPr/>
        </p:nvSpPr>
        <p:spPr>
          <a:xfrm>
            <a:off x="5038344" y="4366260"/>
            <a:ext cx="6263640" cy="63550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38344" y="4366260"/>
            <a:ext cx="62636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11496" y="4430268"/>
            <a:ext cx="143012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面漆确认单.docx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6614770" y="4430268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步骤04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7429043" y="4430268"/>
            <a:ext cx="55321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8055407" y="4430268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过常保</a:t>
            </a:r>
            <a:endParaRPr lang="en-US" sz="540" dirty="0"/>
          </a:p>
        </p:txBody>
      </p:sp>
      <p:sp>
        <p:nvSpPr>
          <p:cNvPr id="87" name="Text 85"/>
          <p:cNvSpPr/>
          <p:nvPr/>
        </p:nvSpPr>
        <p:spPr>
          <a:xfrm>
            <a:off x="8869680" y="4430268"/>
            <a:ext cx="1054303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</a:t>
            </a:r>
            <a:endParaRPr lang="en-US" sz="540" dirty="0"/>
          </a:p>
        </p:txBody>
      </p:sp>
      <p:sp>
        <p:nvSpPr>
          <p:cNvPr id="88" name="Text 86"/>
          <p:cNvSpPr/>
          <p:nvPr/>
        </p:nvSpPr>
        <p:spPr>
          <a:xfrm>
            <a:off x="9997135" y="4430268"/>
            <a:ext cx="678485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</a:t>
            </a:r>
            <a:endParaRPr lang="en-US" sz="540" dirty="0"/>
          </a:p>
        </p:txBody>
      </p:sp>
      <p:sp>
        <p:nvSpPr>
          <p:cNvPr id="89" name="Shape 87"/>
          <p:cNvSpPr/>
          <p:nvPr/>
        </p:nvSpPr>
        <p:spPr>
          <a:xfrm>
            <a:off x="5038344" y="5001768"/>
            <a:ext cx="62636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11496" y="5065776"/>
            <a:ext cx="143012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样车照片.jpg</a:t>
            </a:r>
            <a:endParaRPr lang="en-US" sz="540" dirty="0"/>
          </a:p>
        </p:txBody>
      </p:sp>
      <p:sp>
        <p:nvSpPr>
          <p:cNvPr id="91" name="Text 89"/>
          <p:cNvSpPr/>
          <p:nvPr/>
        </p:nvSpPr>
        <p:spPr>
          <a:xfrm>
            <a:off x="6614770" y="5065776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步骤12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7429043" y="5065776"/>
            <a:ext cx="55321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540" dirty="0"/>
          </a:p>
        </p:txBody>
      </p:sp>
      <p:sp>
        <p:nvSpPr>
          <p:cNvPr id="93" name="Text 91"/>
          <p:cNvSpPr/>
          <p:nvPr/>
        </p:nvSpPr>
        <p:spPr>
          <a:xfrm>
            <a:off x="8055407" y="5065776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叶奇君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8869680" y="5065776"/>
            <a:ext cx="1054303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已提交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9997135" y="5065776"/>
            <a:ext cx="678485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</a:t>
            </a:r>
            <a:endParaRPr lang="en-US" sz="540" dirty="0"/>
          </a:p>
        </p:txBody>
      </p:sp>
      <p:sp>
        <p:nvSpPr>
          <p:cNvPr id="96" name="Shape 94"/>
          <p:cNvSpPr/>
          <p:nvPr/>
        </p:nvSpPr>
        <p:spPr>
          <a:xfrm>
            <a:off x="5038344" y="5637276"/>
            <a:ext cx="6263640" cy="635508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38344" y="5637276"/>
            <a:ext cx="62636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11496" y="5701284"/>
            <a:ext cx="143012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收费凭证</a:t>
            </a:r>
            <a:endParaRPr lang="en-US" sz="540" dirty="0"/>
          </a:p>
        </p:txBody>
      </p:sp>
      <p:sp>
        <p:nvSpPr>
          <p:cNvPr id="99" name="Text 97"/>
          <p:cNvSpPr/>
          <p:nvPr/>
        </p:nvSpPr>
        <p:spPr>
          <a:xfrm>
            <a:off x="6614770" y="5701284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步骤13</a:t>
            </a:r>
            <a:endParaRPr lang="en-US" sz="540" dirty="0"/>
          </a:p>
        </p:txBody>
      </p:sp>
      <p:sp>
        <p:nvSpPr>
          <p:cNvPr id="100" name="Text 98"/>
          <p:cNvSpPr/>
          <p:nvPr/>
        </p:nvSpPr>
        <p:spPr>
          <a:xfrm>
            <a:off x="7429043" y="5701284"/>
            <a:ext cx="553212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540" dirty="0"/>
          </a:p>
        </p:txBody>
      </p:sp>
      <p:sp>
        <p:nvSpPr>
          <p:cNvPr id="101" name="Text 99"/>
          <p:cNvSpPr/>
          <p:nvPr/>
        </p:nvSpPr>
        <p:spPr>
          <a:xfrm>
            <a:off x="8055407" y="5701284"/>
            <a:ext cx="741121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孙丽红</a:t>
            </a:r>
            <a:endParaRPr lang="en-US" sz="540" dirty="0"/>
          </a:p>
        </p:txBody>
      </p:sp>
      <p:sp>
        <p:nvSpPr>
          <p:cNvPr id="102" name="Text 100"/>
          <p:cNvSpPr/>
          <p:nvPr/>
        </p:nvSpPr>
        <p:spPr>
          <a:xfrm>
            <a:off x="8869680" y="5701284"/>
            <a:ext cx="1054303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未提交</a:t>
            </a:r>
            <a:endParaRPr lang="en-US" sz="540" dirty="0"/>
          </a:p>
        </p:txBody>
      </p:sp>
      <p:sp>
        <p:nvSpPr>
          <p:cNvPr id="103" name="Text 101"/>
          <p:cNvSpPr/>
          <p:nvPr/>
        </p:nvSpPr>
        <p:spPr>
          <a:xfrm>
            <a:off x="9997135" y="5701284"/>
            <a:ext cx="678485" cy="5440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</a:t>
            </a:r>
            <a:endParaRPr lang="en-US" sz="540" dirty="0"/>
          </a:p>
        </p:txBody>
      </p:sp>
      <p:sp>
        <p:nvSpPr>
          <p:cNvPr id="104" name="Text 102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关键交互：第12步样车驾驶室评审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“通过/不通过”不是普通完成动作；不通过必须生成第11步新轮次并留痕。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样车驾驶室评审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731520" y="2487168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样车驾驶室评审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20824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评审表单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04288" y="26151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评审日期：2025/10/16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304288" y="29992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实际评审通过时间：人工录入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304288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评审结论：通过 / 不通过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304288" y="37673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不通过原因：必填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304288" y="41513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整改要求：必填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304288" y="4535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整改责任人：必填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304288" y="4919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附件：评审报告、现场照片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295144" y="57515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5751576"/>
            <a:ext cx="10058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通过并进入 13/14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529584" y="5751576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751576"/>
            <a:ext cx="10058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不通过并退回 11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409944" y="2020824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2221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退回闭环时间线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67144" y="2935224"/>
            <a:ext cx="0" cy="43891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0" y="2770632"/>
            <a:ext cx="201168" cy="201168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2816352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" dirty="0"/>
          </a:p>
        </p:txBody>
      </p:sp>
      <p:sp>
        <p:nvSpPr>
          <p:cNvPr id="45" name="Text 43"/>
          <p:cNvSpPr/>
          <p:nvPr/>
        </p:nvSpPr>
        <p:spPr>
          <a:xfrm>
            <a:off x="7141464" y="2752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样车试制｜第1轮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924544" y="2752344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2752344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141464" y="29718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6867144" y="3648456"/>
            <a:ext cx="0" cy="43891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3483864"/>
            <a:ext cx="201168" cy="201168"/>
          </a:xfrm>
          <a:prstGeom prst="ellipse">
            <a:avLst/>
          </a:prstGeom>
          <a:solidFill>
            <a:srgbClr val="A894C3"/>
          </a:solidFill>
          <a:ln w="12700">
            <a:solidFill>
              <a:srgbClr val="A894C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75704" y="3529584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00" dirty="0"/>
          </a:p>
        </p:txBody>
      </p:sp>
      <p:sp>
        <p:nvSpPr>
          <p:cNvPr id="52" name="Text 50"/>
          <p:cNvSpPr/>
          <p:nvPr/>
        </p:nvSpPr>
        <p:spPr>
          <a:xfrm>
            <a:off x="7141464" y="3465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样车评审｜第1轮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924544" y="3465576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BE6F2"/>
          </a:solidFill>
          <a:ln w="12700">
            <a:solidFill>
              <a:srgbClr val="EBE6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0" y="3465576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A89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已退回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141464" y="368503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退回原因：驾驶室颜色一致性不足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6867144" y="4361688"/>
            <a:ext cx="0" cy="438912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4197096"/>
            <a:ext cx="201168" cy="201168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75704" y="4242816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" dirty="0"/>
          </a:p>
        </p:txBody>
      </p:sp>
      <p:sp>
        <p:nvSpPr>
          <p:cNvPr id="59" name="Text 57"/>
          <p:cNvSpPr/>
          <p:nvPr/>
        </p:nvSpPr>
        <p:spPr>
          <a:xfrm>
            <a:off x="7141464" y="41788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样车试制｜第2轮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924544" y="4178808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61120" y="4178808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141464" y="439826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766560" y="4910328"/>
            <a:ext cx="201168" cy="201168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5704" y="4956048"/>
            <a:ext cx="182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00" dirty="0"/>
          </a:p>
        </p:txBody>
      </p:sp>
      <p:sp>
        <p:nvSpPr>
          <p:cNvPr id="65" name="Text 63"/>
          <p:cNvSpPr/>
          <p:nvPr/>
        </p:nvSpPr>
        <p:spPr>
          <a:xfrm>
            <a:off x="7141464" y="48920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样车评审｜第2轮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924544" y="4892040"/>
            <a:ext cx="530352" cy="201168"/>
          </a:xfrm>
          <a:prstGeom prst="roundRect">
            <a:avLst>
              <a:gd name="adj" fmla="val 27273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611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141464" y="511149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6620256" y="5724144"/>
            <a:ext cx="4343400" cy="320040"/>
          </a:xfrm>
          <a:prstGeom prst="roundRect">
            <a:avLst>
              <a:gd name="adj" fmla="val 22857"/>
            </a:avLst>
          </a:prstGeom>
          <a:solidFill>
            <a:srgbClr val="EBE6F2"/>
          </a:solidFill>
          <a:ln w="8890">
            <a:solidFill>
              <a:srgbClr val="EBE6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75704" y="5806440"/>
            <a:ext cx="3931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A89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系统自动生成新轮次，不覆盖历史记录；所有退回原因进入数据中心返工分析。</a:t>
            </a:r>
            <a:endParaRPr lang="en-US" sz="580" dirty="0"/>
          </a:p>
        </p:txBody>
      </p:sp>
      <p:sp>
        <p:nvSpPr>
          <p:cNvPr id="71" name="Text 69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第17步：整车色差一致性评审台账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12个月周期评审以月份卡片管理，突出本月、逾期和完成进度。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整车色差一致性评审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整车色差一致性评审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11680"/>
            <a:ext cx="9235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2148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深海蓝定制色｜第17步周期计划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49424" y="24323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周期：2026/01—2026/12｜已完成 3 / 12｜本月：待评审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8650224" y="2331720"/>
            <a:ext cx="2011680" cy="54864"/>
          </a:xfrm>
          <a:prstGeom prst="roundRect">
            <a:avLst>
              <a:gd name="adj" fmla="val 33333"/>
            </a:avLst>
          </a:prstGeom>
          <a:solidFill>
            <a:srgbClr val="E7ECEF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0224" y="2331720"/>
            <a:ext cx="502920" cy="54864"/>
          </a:xfrm>
          <a:prstGeom prst="roundRect">
            <a:avLst>
              <a:gd name="adj" fmla="val 33333"/>
            </a:avLst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99064" y="228600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2066544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3EFE8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2026年1月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2176272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3547872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3EFE8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2026年2月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3657600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39" name="Shape 37"/>
          <p:cNvSpPr/>
          <p:nvPr/>
        </p:nvSpPr>
        <p:spPr>
          <a:xfrm>
            <a:off x="5029200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3EFE8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5138928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2" name="Shape 40"/>
          <p:cNvSpPr/>
          <p:nvPr/>
        </p:nvSpPr>
        <p:spPr>
          <a:xfrm>
            <a:off x="6510528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2E7D1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6620256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540" dirty="0"/>
          </a:p>
        </p:txBody>
      </p:sp>
      <p:sp>
        <p:nvSpPr>
          <p:cNvPr id="45" name="Shape 43"/>
          <p:cNvSpPr/>
          <p:nvPr/>
        </p:nvSpPr>
        <p:spPr>
          <a:xfrm>
            <a:off x="7388352" y="3118104"/>
            <a:ext cx="292608" cy="164592"/>
          </a:xfrm>
          <a:prstGeom prst="roundRect">
            <a:avLst>
              <a:gd name="adj" fmla="val 33333"/>
            </a:avLst>
          </a:prstGeom>
          <a:solidFill>
            <a:srgbClr val="D6AE68"/>
          </a:solidFill>
          <a:ln w="12700">
            <a:solidFill>
              <a:srgbClr val="D6AE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3118104"/>
            <a:ext cx="2194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</a:t>
            </a:r>
            <a:endParaRPr lang="en-US" sz="480" dirty="0"/>
          </a:p>
        </p:txBody>
      </p:sp>
      <p:sp>
        <p:nvSpPr>
          <p:cNvPr id="47" name="Shape 45"/>
          <p:cNvSpPr/>
          <p:nvPr/>
        </p:nvSpPr>
        <p:spPr>
          <a:xfrm>
            <a:off x="7991856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01584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8101584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9473184" y="29718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82912" y="3081528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9582912" y="32826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2066544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76272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2176272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3547872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3657600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5029200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38928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5138928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2" name="Shape 60"/>
          <p:cNvSpPr/>
          <p:nvPr/>
        </p:nvSpPr>
        <p:spPr>
          <a:xfrm>
            <a:off x="6510528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0256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</a:t>
            </a:r>
            <a:endParaRPr lang="en-US" sz="580" dirty="0"/>
          </a:p>
        </p:txBody>
      </p:sp>
      <p:sp>
        <p:nvSpPr>
          <p:cNvPr id="64" name="Text 62"/>
          <p:cNvSpPr/>
          <p:nvPr/>
        </p:nvSpPr>
        <p:spPr>
          <a:xfrm>
            <a:off x="6620256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5" name="Shape 63"/>
          <p:cNvSpPr/>
          <p:nvPr/>
        </p:nvSpPr>
        <p:spPr>
          <a:xfrm>
            <a:off x="7991856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01584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2026年11月</a:t>
            </a:r>
            <a:endParaRPr lang="en-US" sz="580" dirty="0"/>
          </a:p>
        </p:txBody>
      </p:sp>
      <p:sp>
        <p:nvSpPr>
          <p:cNvPr id="67" name="Text 65"/>
          <p:cNvSpPr/>
          <p:nvPr/>
        </p:nvSpPr>
        <p:spPr>
          <a:xfrm>
            <a:off x="8101584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8" name="Shape 66"/>
          <p:cNvSpPr/>
          <p:nvPr/>
        </p:nvSpPr>
        <p:spPr>
          <a:xfrm>
            <a:off x="9473184" y="372160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1F4F6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82912" y="3831336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2026年12月</a:t>
            </a:r>
            <a:endParaRPr lang="en-US" sz="580" dirty="0"/>
          </a:p>
        </p:txBody>
      </p:sp>
      <p:sp>
        <p:nvSpPr>
          <p:cNvPr id="70" name="Text 68"/>
          <p:cNvSpPr/>
          <p:nvPr/>
        </p:nvSpPr>
        <p:spPr>
          <a:xfrm>
            <a:off x="9582912" y="40325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未开始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2066544" y="4709160"/>
            <a:ext cx="9235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66544" y="4709160"/>
            <a:ext cx="9235440" cy="292608"/>
          </a:xfrm>
          <a:prstGeom prst="rect">
            <a:avLst/>
          </a:prstGeom>
          <a:solidFill>
            <a:srgbClr val="F3F6F8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39696" y="4782312"/>
            <a:ext cx="14319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560" dirty="0"/>
          </a:p>
        </p:txBody>
      </p:sp>
      <p:sp>
        <p:nvSpPr>
          <p:cNvPr id="74" name="Text 72"/>
          <p:cNvSpPr/>
          <p:nvPr/>
        </p:nvSpPr>
        <p:spPr>
          <a:xfrm>
            <a:off x="3617366" y="4782312"/>
            <a:ext cx="10625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</a:t>
            </a:r>
            <a:endParaRPr lang="en-US" sz="560" dirty="0"/>
          </a:p>
        </p:txBody>
      </p:sp>
      <p:sp>
        <p:nvSpPr>
          <p:cNvPr id="75" name="Text 73"/>
          <p:cNvSpPr/>
          <p:nvPr/>
        </p:nvSpPr>
        <p:spPr>
          <a:xfrm>
            <a:off x="4725619" y="4782312"/>
            <a:ext cx="11548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560" dirty="0"/>
          </a:p>
        </p:txBody>
      </p:sp>
      <p:sp>
        <p:nvSpPr>
          <p:cNvPr id="76" name="Text 74"/>
          <p:cNvSpPr/>
          <p:nvPr/>
        </p:nvSpPr>
        <p:spPr>
          <a:xfrm>
            <a:off x="5926226" y="4782312"/>
            <a:ext cx="12472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截止日期</a:t>
            </a:r>
            <a:endParaRPr lang="en-US" sz="560" dirty="0"/>
          </a:p>
        </p:txBody>
      </p:sp>
      <p:sp>
        <p:nvSpPr>
          <p:cNvPr id="77" name="Text 75"/>
          <p:cNvSpPr/>
          <p:nvPr/>
        </p:nvSpPr>
        <p:spPr>
          <a:xfrm>
            <a:off x="7219188" y="4782312"/>
            <a:ext cx="106253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560" dirty="0"/>
          </a:p>
        </p:txBody>
      </p:sp>
      <p:sp>
        <p:nvSpPr>
          <p:cNvPr id="78" name="Text 76"/>
          <p:cNvSpPr/>
          <p:nvPr/>
        </p:nvSpPr>
        <p:spPr>
          <a:xfrm>
            <a:off x="8327441" y="4782312"/>
            <a:ext cx="161665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</a:t>
            </a:r>
            <a:endParaRPr lang="en-US" sz="560" dirty="0"/>
          </a:p>
        </p:txBody>
      </p:sp>
      <p:sp>
        <p:nvSpPr>
          <p:cNvPr id="79" name="Text 77"/>
          <p:cNvSpPr/>
          <p:nvPr/>
        </p:nvSpPr>
        <p:spPr>
          <a:xfrm>
            <a:off x="9989820" y="478231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560" dirty="0"/>
          </a:p>
        </p:txBody>
      </p:sp>
      <p:sp>
        <p:nvSpPr>
          <p:cNvPr id="80" name="Shape 78"/>
          <p:cNvSpPr/>
          <p:nvPr/>
        </p:nvSpPr>
        <p:spPr>
          <a:xfrm>
            <a:off x="2066544" y="5001768"/>
            <a:ext cx="92354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39696" y="5065776"/>
            <a:ext cx="140451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</a:t>
            </a:r>
            <a:endParaRPr lang="en-US" sz="540" dirty="0"/>
          </a:p>
        </p:txBody>
      </p:sp>
      <p:sp>
        <p:nvSpPr>
          <p:cNvPr id="82" name="Text 80"/>
          <p:cNvSpPr/>
          <p:nvPr/>
        </p:nvSpPr>
        <p:spPr>
          <a:xfrm>
            <a:off x="3617366" y="5065776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2026/04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4725619" y="5065776"/>
            <a:ext cx="1127455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李晓晨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5926226" y="5065776"/>
            <a:ext cx="121981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04/30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7219188" y="5065776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8327441" y="5065776"/>
            <a:ext cx="158922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540" dirty="0"/>
          </a:p>
        </p:txBody>
      </p:sp>
      <p:sp>
        <p:nvSpPr>
          <p:cNvPr id="87" name="Text 85"/>
          <p:cNvSpPr/>
          <p:nvPr/>
        </p:nvSpPr>
        <p:spPr>
          <a:xfrm>
            <a:off x="9989820" y="5065776"/>
            <a:ext cx="85039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540" dirty="0"/>
          </a:p>
        </p:txBody>
      </p:sp>
      <p:sp>
        <p:nvSpPr>
          <p:cNvPr id="88" name="Shape 86"/>
          <p:cNvSpPr/>
          <p:nvPr/>
        </p:nvSpPr>
        <p:spPr>
          <a:xfrm>
            <a:off x="2066544" y="5422392"/>
            <a:ext cx="9235440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066544" y="5422392"/>
            <a:ext cx="92354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39696" y="5486400"/>
            <a:ext cx="140451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砂石灰</a:t>
            </a:r>
            <a:endParaRPr lang="en-US" sz="540" dirty="0"/>
          </a:p>
        </p:txBody>
      </p:sp>
      <p:sp>
        <p:nvSpPr>
          <p:cNvPr id="91" name="Text 89"/>
          <p:cNvSpPr/>
          <p:nvPr/>
        </p:nvSpPr>
        <p:spPr>
          <a:xfrm>
            <a:off x="3617366" y="5486400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2026/04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4725619" y="5486400"/>
            <a:ext cx="1127455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过常保</a:t>
            </a:r>
            <a:endParaRPr lang="en-US" sz="540" dirty="0"/>
          </a:p>
        </p:txBody>
      </p:sp>
      <p:sp>
        <p:nvSpPr>
          <p:cNvPr id="93" name="Text 91"/>
          <p:cNvSpPr/>
          <p:nvPr/>
        </p:nvSpPr>
        <p:spPr>
          <a:xfrm>
            <a:off x="5926226" y="5486400"/>
            <a:ext cx="121981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04/30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7219188" y="5486400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8327441" y="5486400"/>
            <a:ext cx="158922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色差偏大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9989820" y="5486400"/>
            <a:ext cx="85039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</a:t>
            </a:r>
            <a:endParaRPr lang="en-US" sz="540" dirty="0"/>
          </a:p>
        </p:txBody>
      </p:sp>
      <p:sp>
        <p:nvSpPr>
          <p:cNvPr id="97" name="Shape 95"/>
          <p:cNvSpPr/>
          <p:nvPr/>
        </p:nvSpPr>
        <p:spPr>
          <a:xfrm>
            <a:off x="2066544" y="5843016"/>
            <a:ext cx="9235440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39696" y="5907024"/>
            <a:ext cx="140451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晨雾绿</a:t>
            </a:r>
            <a:endParaRPr lang="en-US" sz="540" dirty="0"/>
          </a:p>
        </p:txBody>
      </p:sp>
      <p:sp>
        <p:nvSpPr>
          <p:cNvPr id="99" name="Text 97"/>
          <p:cNvSpPr/>
          <p:nvPr/>
        </p:nvSpPr>
        <p:spPr>
          <a:xfrm>
            <a:off x="3617366" y="5907024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2026/04</a:t>
            </a:r>
            <a:endParaRPr lang="en-US" sz="540" dirty="0"/>
          </a:p>
        </p:txBody>
      </p:sp>
      <p:sp>
        <p:nvSpPr>
          <p:cNvPr id="100" name="Text 98"/>
          <p:cNvSpPr/>
          <p:nvPr/>
        </p:nvSpPr>
        <p:spPr>
          <a:xfrm>
            <a:off x="4725619" y="5907024"/>
            <a:ext cx="1127455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鲁春林</a:t>
            </a:r>
            <a:endParaRPr lang="en-US" sz="540" dirty="0"/>
          </a:p>
        </p:txBody>
      </p:sp>
      <p:sp>
        <p:nvSpPr>
          <p:cNvPr id="101" name="Text 99"/>
          <p:cNvSpPr/>
          <p:nvPr/>
        </p:nvSpPr>
        <p:spPr>
          <a:xfrm>
            <a:off x="5926226" y="5907024"/>
            <a:ext cx="121981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04/30</a:t>
            </a:r>
            <a:endParaRPr lang="en-US" sz="540" dirty="0"/>
          </a:p>
        </p:txBody>
      </p:sp>
      <p:sp>
        <p:nvSpPr>
          <p:cNvPr id="102" name="Text 100"/>
          <p:cNvSpPr/>
          <p:nvPr/>
        </p:nvSpPr>
        <p:spPr>
          <a:xfrm>
            <a:off x="7219188" y="5907024"/>
            <a:ext cx="1035101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540" dirty="0"/>
          </a:p>
        </p:txBody>
      </p:sp>
      <p:sp>
        <p:nvSpPr>
          <p:cNvPr id="103" name="Text 101"/>
          <p:cNvSpPr/>
          <p:nvPr/>
        </p:nvSpPr>
        <p:spPr>
          <a:xfrm>
            <a:off x="8327441" y="5907024"/>
            <a:ext cx="158922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</a:t>
            </a:r>
            <a:endParaRPr lang="en-US" sz="540" dirty="0"/>
          </a:p>
        </p:txBody>
      </p:sp>
      <p:sp>
        <p:nvSpPr>
          <p:cNvPr id="104" name="Text 102"/>
          <p:cNvSpPr/>
          <p:nvPr/>
        </p:nvSpPr>
        <p:spPr>
          <a:xfrm>
            <a:off x="9989820" y="5907024"/>
            <a:ext cx="85039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540" dirty="0"/>
          </a:p>
        </p:txBody>
      </p:sp>
      <p:sp>
        <p:nvSpPr>
          <p:cNvPr id="105" name="Text 103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数据中心：总数据收集与管理分析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从项目、工序、部门、返工、月度评审和颜色退出六个维度沉淀管理数据。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078992"/>
            <a:ext cx="10881360" cy="5321808"/>
          </a:xfrm>
          <a:prstGeom prst="roundRect">
            <a:avLst>
              <a:gd name="adj" fmla="val 1375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16152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216152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216152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17043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1792" y="1463040"/>
            <a:ext cx="1261872" cy="4937760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81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2296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822960" y="25054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731520" y="3419856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1883664" y="1463040"/>
            <a:ext cx="96194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581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491472" y="1563624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563624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0497312" y="1554480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1554480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7" name="Shape 25"/>
          <p:cNvSpPr/>
          <p:nvPr/>
        </p:nvSpPr>
        <p:spPr>
          <a:xfrm>
            <a:off x="2066544" y="202082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DCE8EE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2103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平均开发周期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2176272" y="226771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42天</a:t>
            </a:r>
            <a:endParaRPr lang="en-US" sz="1248" dirty="0"/>
          </a:p>
        </p:txBody>
      </p:sp>
      <p:sp>
        <p:nvSpPr>
          <p:cNvPr id="30" name="Text 28"/>
          <p:cNvSpPr/>
          <p:nvPr/>
        </p:nvSpPr>
        <p:spPr>
          <a:xfrm>
            <a:off x="2176272" y="2569464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 -6天</a:t>
            </a:r>
            <a:endParaRPr lang="en-US" sz="520" dirty="0"/>
          </a:p>
        </p:txBody>
      </p:sp>
      <p:sp>
        <p:nvSpPr>
          <p:cNvPr id="31" name="Shape 29"/>
          <p:cNvSpPr/>
          <p:nvPr/>
        </p:nvSpPr>
        <p:spPr>
          <a:xfrm>
            <a:off x="4334256" y="202082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3EFE8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2103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工序按时率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4443984" y="226771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82%</a:t>
            </a:r>
            <a:endParaRPr lang="en-US" sz="1248" dirty="0"/>
          </a:p>
        </p:txBody>
      </p:sp>
      <p:sp>
        <p:nvSpPr>
          <p:cNvPr id="34" name="Text 32"/>
          <p:cNvSpPr/>
          <p:nvPr/>
        </p:nvSpPr>
        <p:spPr>
          <a:xfrm>
            <a:off x="4443984" y="2569464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90%</a:t>
            </a:r>
            <a:endParaRPr lang="en-US" sz="520" dirty="0"/>
          </a:p>
        </p:txBody>
      </p:sp>
      <p:sp>
        <p:nvSpPr>
          <p:cNvPr id="35" name="Shape 33"/>
          <p:cNvSpPr/>
          <p:nvPr/>
        </p:nvSpPr>
        <p:spPr>
          <a:xfrm>
            <a:off x="6601968" y="202082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BE6F2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2103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第12步返工</a:t>
            </a:r>
            <a:endParaRPr lang="en-US" sz="560" dirty="0"/>
          </a:p>
        </p:txBody>
      </p:sp>
      <p:sp>
        <p:nvSpPr>
          <p:cNvPr id="37" name="Text 35"/>
          <p:cNvSpPr/>
          <p:nvPr/>
        </p:nvSpPr>
        <p:spPr>
          <a:xfrm>
            <a:off x="6711696" y="226771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5次</a:t>
            </a:r>
            <a:endParaRPr lang="en-US" sz="1248" dirty="0"/>
          </a:p>
        </p:txBody>
      </p:sp>
      <p:sp>
        <p:nvSpPr>
          <p:cNvPr id="38" name="Text 36"/>
          <p:cNvSpPr/>
          <p:nvPr/>
        </p:nvSpPr>
        <p:spPr>
          <a:xfrm>
            <a:off x="6711696" y="2569464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A89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样车评审</a:t>
            </a:r>
            <a:endParaRPr lang="en-US" sz="520" dirty="0"/>
          </a:p>
        </p:txBody>
      </p:sp>
      <p:sp>
        <p:nvSpPr>
          <p:cNvPr id="39" name="Shape 37"/>
          <p:cNvSpPr/>
          <p:nvPr/>
        </p:nvSpPr>
        <p:spPr>
          <a:xfrm>
            <a:off x="8869680" y="202082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0EEF0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9408" y="2103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月度评审完成率</a:t>
            </a:r>
            <a:endParaRPr lang="en-US" sz="560" dirty="0"/>
          </a:p>
        </p:txBody>
      </p:sp>
      <p:sp>
        <p:nvSpPr>
          <p:cNvPr id="41" name="Text 39"/>
          <p:cNvSpPr/>
          <p:nvPr/>
        </p:nvSpPr>
        <p:spPr>
          <a:xfrm>
            <a:off x="8979408" y="226771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248" dirty="0"/>
          </a:p>
        </p:txBody>
      </p:sp>
      <p:sp>
        <p:nvSpPr>
          <p:cNvPr id="42" name="Text 40"/>
          <p:cNvSpPr/>
          <p:nvPr/>
        </p:nvSpPr>
        <p:spPr>
          <a:xfrm>
            <a:off x="8979408" y="2569464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9/12</a:t>
            </a:r>
            <a:endParaRPr lang="en-US" sz="520" dirty="0"/>
          </a:p>
        </p:txBody>
      </p:sp>
      <p:sp>
        <p:nvSpPr>
          <p:cNvPr id="43" name="Shape 41"/>
          <p:cNvSpPr/>
          <p:nvPr/>
        </p:nvSpPr>
        <p:spPr>
          <a:xfrm>
            <a:off x="2066544" y="3026664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9424" y="31912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工序平均耗时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267712" y="359359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涂料采购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3118104" y="3630168"/>
            <a:ext cx="2743200" cy="82296"/>
          </a:xfrm>
          <a:prstGeom prst="roundRect">
            <a:avLst>
              <a:gd name="adj" fmla="val 3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18104" y="3630168"/>
            <a:ext cx="1975104" cy="82296"/>
          </a:xfrm>
          <a:prstGeom prst="roundRect">
            <a:avLst>
              <a:gd name="adj" fmla="val 33333"/>
            </a:avLst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52744" y="359359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2267712" y="398678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性能试验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3118104" y="4023360"/>
            <a:ext cx="2743200" cy="82296"/>
          </a:xfrm>
          <a:prstGeom prst="roundRect">
            <a:avLst>
              <a:gd name="adj" fmla="val 3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18104" y="4023360"/>
            <a:ext cx="2606040" cy="82296"/>
          </a:xfrm>
          <a:prstGeom prst="roundRect">
            <a:avLst>
              <a:gd name="adj" fmla="val 33333"/>
            </a:avLst>
          </a:prstGeom>
          <a:solidFill>
            <a:srgbClr val="C9827B"/>
          </a:solidFill>
          <a:ln w="12700">
            <a:solidFill>
              <a:srgbClr val="C982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52744" y="398678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19天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267712" y="437997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样车评审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3118104" y="4416552"/>
            <a:ext cx="2743200" cy="82296"/>
          </a:xfrm>
          <a:prstGeom prst="roundRect">
            <a:avLst>
              <a:gd name="adj" fmla="val 3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18104" y="4416552"/>
            <a:ext cx="1481328" cy="82296"/>
          </a:xfrm>
          <a:prstGeom prst="roundRect">
            <a:avLst>
              <a:gd name="adj" fmla="val 33333"/>
            </a:avLst>
          </a:prstGeom>
          <a:solidFill>
            <a:srgbClr val="D6AE68"/>
          </a:solidFill>
          <a:ln w="12700">
            <a:solidFill>
              <a:srgbClr val="D6AE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52744" y="437997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11天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2267712" y="477316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批量生产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3118104" y="4809744"/>
            <a:ext cx="2743200" cy="82296"/>
          </a:xfrm>
          <a:prstGeom prst="roundRect">
            <a:avLst>
              <a:gd name="adj" fmla="val 3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18104" y="4809744"/>
            <a:ext cx="987552" cy="82296"/>
          </a:xfrm>
          <a:prstGeom prst="roundRect">
            <a:avLst>
              <a:gd name="adj" fmla="val 33333"/>
            </a:avLst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52744" y="47731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2267712" y="516636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580" dirty="0"/>
          </a:p>
        </p:txBody>
      </p:sp>
      <p:sp>
        <p:nvSpPr>
          <p:cNvPr id="62" name="Shape 60"/>
          <p:cNvSpPr/>
          <p:nvPr/>
        </p:nvSpPr>
        <p:spPr>
          <a:xfrm>
            <a:off x="3118104" y="5202936"/>
            <a:ext cx="2743200" cy="82296"/>
          </a:xfrm>
          <a:prstGeom prst="roundRect">
            <a:avLst>
              <a:gd name="adj" fmla="val 3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18104" y="5202936"/>
            <a:ext cx="1700784" cy="82296"/>
          </a:xfrm>
          <a:prstGeom prst="roundRect">
            <a:avLst>
              <a:gd name="adj" fmla="val 33333"/>
            </a:avLst>
          </a:prstGeom>
          <a:solidFill>
            <a:srgbClr val="7BAEB3"/>
          </a:solidFill>
          <a:ln w="12700">
            <a:solidFill>
              <a:srgbClr val="7BAEB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52744" y="51663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12天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6775704" y="3026664"/>
            <a:ext cx="4526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58584" y="31912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部门超期统计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6958584" y="3529584"/>
            <a:ext cx="41330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58584" y="3529584"/>
            <a:ext cx="4133088" cy="292608"/>
          </a:xfrm>
          <a:prstGeom prst="rect">
            <a:avLst/>
          </a:prstGeom>
          <a:solidFill>
            <a:srgbClr val="F3F6F8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31736" y="3602736"/>
            <a:ext cx="13595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</a:t>
            </a:r>
            <a:endParaRPr lang="en-US" sz="560" dirty="0"/>
          </a:p>
        </p:txBody>
      </p:sp>
      <p:sp>
        <p:nvSpPr>
          <p:cNvPr id="70" name="Text 68"/>
          <p:cNvSpPr/>
          <p:nvPr/>
        </p:nvSpPr>
        <p:spPr>
          <a:xfrm>
            <a:off x="8436986" y="3602736"/>
            <a:ext cx="6982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560" dirty="0"/>
          </a:p>
        </p:txBody>
      </p:sp>
      <p:sp>
        <p:nvSpPr>
          <p:cNvPr id="71" name="Text 69"/>
          <p:cNvSpPr/>
          <p:nvPr/>
        </p:nvSpPr>
        <p:spPr>
          <a:xfrm>
            <a:off x="9180942" y="3602736"/>
            <a:ext cx="6982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</a:t>
            </a:r>
            <a:endParaRPr lang="en-US" sz="560" dirty="0"/>
          </a:p>
        </p:txBody>
      </p:sp>
      <p:sp>
        <p:nvSpPr>
          <p:cNvPr id="72" name="Text 70"/>
          <p:cNvSpPr/>
          <p:nvPr/>
        </p:nvSpPr>
        <p:spPr>
          <a:xfrm>
            <a:off x="9924898" y="3602736"/>
            <a:ext cx="7808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按时率</a:t>
            </a:r>
            <a:endParaRPr lang="en-US" sz="560" dirty="0"/>
          </a:p>
        </p:txBody>
      </p:sp>
      <p:sp>
        <p:nvSpPr>
          <p:cNvPr id="73" name="Shape 71"/>
          <p:cNvSpPr/>
          <p:nvPr/>
        </p:nvSpPr>
        <p:spPr>
          <a:xfrm>
            <a:off x="6958584" y="3822192"/>
            <a:ext cx="4133088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31736" y="3886200"/>
            <a:ext cx="1332098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采购部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8436986" y="388620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9180942" y="388620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9924898" y="3886200"/>
            <a:ext cx="753466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6958584" y="4347972"/>
            <a:ext cx="4133088" cy="5257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58584" y="4347972"/>
            <a:ext cx="4133088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31736" y="4411980"/>
            <a:ext cx="1332098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涂装工艺部</a:t>
            </a:r>
            <a:endParaRPr lang="en-US" sz="540" dirty="0"/>
          </a:p>
        </p:txBody>
      </p:sp>
      <p:sp>
        <p:nvSpPr>
          <p:cNvPr id="81" name="Text 79"/>
          <p:cNvSpPr/>
          <p:nvPr/>
        </p:nvSpPr>
        <p:spPr>
          <a:xfrm>
            <a:off x="8436986" y="441198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540" dirty="0"/>
          </a:p>
        </p:txBody>
      </p:sp>
      <p:sp>
        <p:nvSpPr>
          <p:cNvPr id="82" name="Text 80"/>
          <p:cNvSpPr/>
          <p:nvPr/>
        </p:nvSpPr>
        <p:spPr>
          <a:xfrm>
            <a:off x="9180942" y="441198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9924898" y="4411980"/>
            <a:ext cx="753466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540" dirty="0"/>
          </a:p>
        </p:txBody>
      </p:sp>
      <p:sp>
        <p:nvSpPr>
          <p:cNvPr id="84" name="Shape 82"/>
          <p:cNvSpPr/>
          <p:nvPr/>
        </p:nvSpPr>
        <p:spPr>
          <a:xfrm>
            <a:off x="6958584" y="4873752"/>
            <a:ext cx="4133088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31736" y="4937760"/>
            <a:ext cx="1332098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质量管理部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8436986" y="493776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540" dirty="0"/>
          </a:p>
        </p:txBody>
      </p:sp>
      <p:sp>
        <p:nvSpPr>
          <p:cNvPr id="87" name="Text 85"/>
          <p:cNvSpPr/>
          <p:nvPr/>
        </p:nvSpPr>
        <p:spPr>
          <a:xfrm>
            <a:off x="9180942" y="493776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40" dirty="0"/>
          </a:p>
        </p:txBody>
      </p:sp>
      <p:sp>
        <p:nvSpPr>
          <p:cNvPr id="88" name="Text 86"/>
          <p:cNvSpPr/>
          <p:nvPr/>
        </p:nvSpPr>
        <p:spPr>
          <a:xfrm>
            <a:off x="9924898" y="4937760"/>
            <a:ext cx="753466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91%</a:t>
            </a:r>
            <a:endParaRPr lang="en-US" sz="540" dirty="0"/>
          </a:p>
        </p:txBody>
      </p:sp>
      <p:sp>
        <p:nvSpPr>
          <p:cNvPr id="89" name="Shape 87"/>
          <p:cNvSpPr/>
          <p:nvPr/>
        </p:nvSpPr>
        <p:spPr>
          <a:xfrm>
            <a:off x="6958584" y="5399532"/>
            <a:ext cx="4133088" cy="5257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58584" y="5399532"/>
            <a:ext cx="4133088" cy="0"/>
          </a:xfrm>
          <a:prstGeom prst="line">
            <a:avLst/>
          </a:prstGeom>
          <a:noFill/>
          <a:ln w="6350">
            <a:solidFill>
              <a:srgbClr val="EEF2F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31736" y="5463540"/>
            <a:ext cx="1332098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8436986" y="546354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540" dirty="0"/>
          </a:p>
        </p:txBody>
      </p:sp>
      <p:sp>
        <p:nvSpPr>
          <p:cNvPr id="93" name="Text 91"/>
          <p:cNvSpPr/>
          <p:nvPr/>
        </p:nvSpPr>
        <p:spPr>
          <a:xfrm>
            <a:off x="9180942" y="5463540"/>
            <a:ext cx="670804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9924898" y="5463540"/>
            <a:ext cx="753466" cy="4343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5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96%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响应式与场景适配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同一套设计兼顾 1440px 办公屏、1920px 大屏看板和移动端审批/查看。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67665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81328"/>
            <a:ext cx="635508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8890">
            <a:solidFill>
              <a:srgbClr val="D8E0E6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81328"/>
            <a:ext cx="6355080" cy="38404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618488"/>
            <a:ext cx="73152" cy="73152"/>
          </a:xfrm>
          <a:prstGeom prst="ellipse">
            <a:avLst/>
          </a:prstGeom>
          <a:solidFill>
            <a:srgbClr val="E8A9A4"/>
          </a:solidFill>
          <a:ln w="12700">
            <a:solidFill>
              <a:srgbClr val="E8A9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1016" y="1618488"/>
            <a:ext cx="73152" cy="73152"/>
          </a:xfrm>
          <a:prstGeom prst="ellipse">
            <a:avLst/>
          </a:prstGeom>
          <a:solidFill>
            <a:srgbClr val="EACD87"/>
          </a:solidFill>
          <a:ln w="12700">
            <a:solidFill>
              <a:srgbClr val="EACD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6464" y="1618488"/>
            <a:ext cx="73152" cy="73152"/>
          </a:xfrm>
          <a:prstGeom prst="ellipse">
            <a:avLst/>
          </a:prstGeom>
          <a:solidFill>
            <a:srgbClr val="9BC7B5"/>
          </a:solidFill>
          <a:ln w="12700">
            <a:solidFill>
              <a:srgbClr val="9BC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57276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项目时间线看板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914400" y="1865376"/>
            <a:ext cx="1261872" cy="3502152"/>
          </a:xfrm>
          <a:prstGeom prst="rect">
            <a:avLst/>
          </a:prstGeom>
          <a:solidFill>
            <a:srgbClr val="F8FAFB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842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F4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轻卡颜色开发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15568" y="228600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024128" y="2578608"/>
            <a:ext cx="1024128" cy="228600"/>
          </a:xfrm>
          <a:prstGeom prst="roundRect">
            <a:avLst>
              <a:gd name="adj" fmla="val 16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59689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1115568" y="29077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工序管理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115568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材料中心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1115568" y="35295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1115568" y="384048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115568" y="415137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176272" y="1865376"/>
            <a:ext cx="5093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984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项目时间线看板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257800" y="1965960"/>
            <a:ext cx="804672" cy="164592"/>
          </a:xfrm>
          <a:prstGeom prst="roundRect">
            <a:avLst>
              <a:gd name="adj" fmla="val 3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4376" y="1965960"/>
            <a:ext cx="7315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最近更新 14:32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6263640" y="1956816"/>
            <a:ext cx="512064" cy="182880"/>
          </a:xfrm>
          <a:prstGeom prst="roundRect">
            <a:avLst>
              <a:gd name="adj" fmla="val 30000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1956816"/>
            <a:ext cx="4389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2423160" y="253288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3DEDB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2596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</a:t>
            </a:r>
            <a:endParaRPr lang="en-US" sz="480" dirty="0"/>
          </a:p>
        </p:txBody>
      </p:sp>
      <p:sp>
        <p:nvSpPr>
          <p:cNvPr id="30" name="Text 28"/>
          <p:cNvSpPr/>
          <p:nvPr/>
        </p:nvSpPr>
        <p:spPr>
          <a:xfrm>
            <a:off x="2532888" y="2752344"/>
            <a:ext cx="6035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532888" y="2926080"/>
            <a:ext cx="6035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460" dirty="0"/>
          </a:p>
        </p:txBody>
      </p:sp>
      <p:sp>
        <p:nvSpPr>
          <p:cNvPr id="32" name="Shape 30"/>
          <p:cNvSpPr/>
          <p:nvPr/>
        </p:nvSpPr>
        <p:spPr>
          <a:xfrm>
            <a:off x="2423160" y="3218688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32841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</a:t>
            </a:r>
            <a:endParaRPr lang="en-US" sz="480" dirty="0"/>
          </a:p>
        </p:txBody>
      </p:sp>
      <p:sp>
        <p:nvSpPr>
          <p:cNvPr id="34" name="Shape 32"/>
          <p:cNvSpPr/>
          <p:nvPr/>
        </p:nvSpPr>
        <p:spPr>
          <a:xfrm>
            <a:off x="3630168" y="367588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9080" y="367588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367588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46904" y="367588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85816" y="367588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38144" y="360273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8144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41" name="Shape 39"/>
          <p:cNvSpPr/>
          <p:nvPr/>
        </p:nvSpPr>
        <p:spPr>
          <a:xfrm>
            <a:off x="3877056" y="360273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77056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43" name="Shape 41"/>
          <p:cNvSpPr/>
          <p:nvPr/>
        </p:nvSpPr>
        <p:spPr>
          <a:xfrm>
            <a:off x="4315968" y="3602736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45" name="Shape 43"/>
          <p:cNvSpPr/>
          <p:nvPr/>
        </p:nvSpPr>
        <p:spPr>
          <a:xfrm>
            <a:off x="4754880" y="360273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47" name="Shape 45"/>
          <p:cNvSpPr/>
          <p:nvPr/>
        </p:nvSpPr>
        <p:spPr>
          <a:xfrm>
            <a:off x="5193792" y="360273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93792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49" name="Shape 47"/>
          <p:cNvSpPr/>
          <p:nvPr/>
        </p:nvSpPr>
        <p:spPr>
          <a:xfrm>
            <a:off x="5632704" y="360273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32704" y="36347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51" name="Shape 49"/>
          <p:cNvSpPr/>
          <p:nvPr/>
        </p:nvSpPr>
        <p:spPr>
          <a:xfrm>
            <a:off x="5943600" y="3401568"/>
            <a:ext cx="457200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0176" y="3401568"/>
            <a:ext cx="38404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560320" y="387705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砂石灰定制色</a:t>
            </a:r>
            <a:endParaRPr lang="en-US" sz="480" dirty="0"/>
          </a:p>
        </p:txBody>
      </p:sp>
      <p:sp>
        <p:nvSpPr>
          <p:cNvPr id="54" name="Shape 52"/>
          <p:cNvSpPr/>
          <p:nvPr/>
        </p:nvSpPr>
        <p:spPr>
          <a:xfrm>
            <a:off x="3630168" y="422452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69080" y="422452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07992" y="422452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46904" y="422452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85816" y="4224528"/>
            <a:ext cx="219456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38144" y="415137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38144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61" name="Shape 59"/>
          <p:cNvSpPr/>
          <p:nvPr/>
        </p:nvSpPr>
        <p:spPr>
          <a:xfrm>
            <a:off x="3877056" y="4151376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77056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63" name="Shape 61"/>
          <p:cNvSpPr/>
          <p:nvPr/>
        </p:nvSpPr>
        <p:spPr>
          <a:xfrm>
            <a:off x="4315968" y="4151376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15968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65" name="Shape 63"/>
          <p:cNvSpPr/>
          <p:nvPr/>
        </p:nvSpPr>
        <p:spPr>
          <a:xfrm>
            <a:off x="4754880" y="415137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67" name="Shape 65"/>
          <p:cNvSpPr/>
          <p:nvPr/>
        </p:nvSpPr>
        <p:spPr>
          <a:xfrm>
            <a:off x="5193792" y="415137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93792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20" dirty="0"/>
          </a:p>
        </p:txBody>
      </p:sp>
      <p:sp>
        <p:nvSpPr>
          <p:cNvPr id="69" name="Shape 67"/>
          <p:cNvSpPr/>
          <p:nvPr/>
        </p:nvSpPr>
        <p:spPr>
          <a:xfrm>
            <a:off x="5632704" y="4151376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32704" y="418338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20" dirty="0"/>
          </a:p>
        </p:txBody>
      </p:sp>
      <p:sp>
        <p:nvSpPr>
          <p:cNvPr id="71" name="Shape 69"/>
          <p:cNvSpPr/>
          <p:nvPr/>
        </p:nvSpPr>
        <p:spPr>
          <a:xfrm>
            <a:off x="5943600" y="3950208"/>
            <a:ext cx="457200" cy="201168"/>
          </a:xfrm>
          <a:prstGeom prst="roundRect">
            <a:avLst>
              <a:gd name="adj" fmla="val 27273"/>
            </a:avLst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80176" y="3950208"/>
            <a:ext cx="38404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051560" y="5806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桌面端：高信息密度、筛选与表格完整呈现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321040" y="1234440"/>
            <a:ext cx="2148840" cy="4526280"/>
          </a:xfrm>
          <a:prstGeom prst="roundRect">
            <a:avLst>
              <a:gd name="adj" fmla="val 3404"/>
            </a:avLst>
          </a:prstGeom>
          <a:solidFill>
            <a:srgbClr val="1D2730"/>
          </a:solidFill>
          <a:ln w="8890">
            <a:solidFill>
              <a:srgbClr val="1D27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85048" y="1344168"/>
            <a:ext cx="2020824" cy="4306824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94292" y="1271016"/>
            <a:ext cx="402336" cy="3657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41080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549640" y="192024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DCE8EE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59368" y="2002536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我的待办</a:t>
            </a:r>
            <a:endParaRPr lang="en-US" sz="560" dirty="0"/>
          </a:p>
        </p:txBody>
      </p:sp>
      <p:sp>
        <p:nvSpPr>
          <p:cNvPr id="80" name="Text 78"/>
          <p:cNvSpPr/>
          <p:nvPr/>
        </p:nvSpPr>
        <p:spPr>
          <a:xfrm>
            <a:off x="8659368" y="2167128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52" dirty="0"/>
          </a:p>
        </p:txBody>
      </p:sp>
      <p:sp>
        <p:nvSpPr>
          <p:cNvPr id="81" name="Text 79"/>
          <p:cNvSpPr/>
          <p:nvPr/>
        </p:nvSpPr>
        <p:spPr>
          <a:xfrm>
            <a:off x="8659368" y="2414016"/>
            <a:ext cx="147218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2项今日截止</a:t>
            </a:r>
            <a:endParaRPr lang="en-US" sz="520" dirty="0"/>
          </a:p>
        </p:txBody>
      </p:sp>
      <p:sp>
        <p:nvSpPr>
          <p:cNvPr id="82" name="Shape 80"/>
          <p:cNvSpPr/>
          <p:nvPr/>
        </p:nvSpPr>
        <p:spPr>
          <a:xfrm>
            <a:off x="8549640" y="267004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3DEDB"/>
          </a:solidFill>
          <a:ln w="8890">
            <a:solidFill>
              <a:srgbClr val="E5EA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59368" y="2752344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逾期工序</a:t>
            </a:r>
            <a:endParaRPr lang="en-US" sz="560" dirty="0"/>
          </a:p>
        </p:txBody>
      </p:sp>
      <p:sp>
        <p:nvSpPr>
          <p:cNvPr id="84" name="Text 82"/>
          <p:cNvSpPr/>
          <p:nvPr/>
        </p:nvSpPr>
        <p:spPr>
          <a:xfrm>
            <a:off x="8659368" y="291693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2" dirty="0"/>
          </a:p>
        </p:txBody>
      </p:sp>
      <p:sp>
        <p:nvSpPr>
          <p:cNvPr id="85" name="Text 83"/>
          <p:cNvSpPr/>
          <p:nvPr/>
        </p:nvSpPr>
        <p:spPr>
          <a:xfrm>
            <a:off x="8659368" y="3163824"/>
            <a:ext cx="1472184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C982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需处理</a:t>
            </a:r>
            <a:endParaRPr lang="en-US" sz="520" dirty="0"/>
          </a:p>
        </p:txBody>
      </p:sp>
      <p:sp>
        <p:nvSpPr>
          <p:cNvPr id="86" name="Shape 84"/>
          <p:cNvSpPr/>
          <p:nvPr/>
        </p:nvSpPr>
        <p:spPr>
          <a:xfrm>
            <a:off x="8549640" y="3529584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05088" y="370332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深海蓝定制色</a:t>
            </a:r>
            <a:endParaRPr lang="en-US" sz="580" dirty="0"/>
          </a:p>
        </p:txBody>
      </p:sp>
      <p:sp>
        <p:nvSpPr>
          <p:cNvPr id="88" name="Shape 86"/>
          <p:cNvSpPr/>
          <p:nvPr/>
        </p:nvSpPr>
        <p:spPr>
          <a:xfrm>
            <a:off x="8842248" y="4059936"/>
            <a:ext cx="1615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23248" y="4059936"/>
            <a:ext cx="1615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604248" y="4059936"/>
            <a:ext cx="161544" cy="0"/>
          </a:xfrm>
          <a:prstGeom prst="line">
            <a:avLst/>
          </a:prstGeom>
          <a:noFill/>
          <a:ln w="12700">
            <a:solidFill>
              <a:srgbClr val="D8E0E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50224" y="398678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50224" y="401878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20" dirty="0"/>
          </a:p>
        </p:txBody>
      </p:sp>
      <p:sp>
        <p:nvSpPr>
          <p:cNvPr id="93" name="Shape 91"/>
          <p:cNvSpPr/>
          <p:nvPr/>
        </p:nvSpPr>
        <p:spPr>
          <a:xfrm>
            <a:off x="9031224" y="3986784"/>
            <a:ext cx="164592" cy="164592"/>
          </a:xfrm>
          <a:prstGeom prst="ellipse">
            <a:avLst/>
          </a:prstGeom>
          <a:solidFill>
            <a:srgbClr val="8FB6A0"/>
          </a:solidFill>
          <a:ln w="12700">
            <a:solidFill>
              <a:srgbClr val="8FB6A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031224" y="401878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20" dirty="0"/>
          </a:p>
        </p:txBody>
      </p:sp>
      <p:sp>
        <p:nvSpPr>
          <p:cNvPr id="95" name="Shape 93"/>
          <p:cNvSpPr/>
          <p:nvPr/>
        </p:nvSpPr>
        <p:spPr>
          <a:xfrm>
            <a:off x="9412224" y="3986784"/>
            <a:ext cx="164592" cy="164592"/>
          </a:xfrm>
          <a:prstGeom prst="ellipse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412224" y="401878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20" dirty="0"/>
          </a:p>
        </p:txBody>
      </p:sp>
      <p:sp>
        <p:nvSpPr>
          <p:cNvPr id="97" name="Shape 95"/>
          <p:cNvSpPr/>
          <p:nvPr/>
        </p:nvSpPr>
        <p:spPr>
          <a:xfrm>
            <a:off x="9793224" y="3986784"/>
            <a:ext cx="164592" cy="164592"/>
          </a:xfrm>
          <a:prstGeom prst="ellipse">
            <a:avLst/>
          </a:prstGeom>
          <a:solidFill>
            <a:srgbClr val="C9D2DA"/>
          </a:solidFill>
          <a:ln w="12700">
            <a:solidFill>
              <a:srgbClr val="C9D2D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93224" y="401878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20" dirty="0"/>
          </a:p>
        </p:txBody>
      </p:sp>
      <p:sp>
        <p:nvSpPr>
          <p:cNvPr id="99" name="Shape 97"/>
          <p:cNvSpPr/>
          <p:nvPr/>
        </p:nvSpPr>
        <p:spPr>
          <a:xfrm>
            <a:off x="8705088" y="4224528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741664" y="4224528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8156448" y="5806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移动端：查看待办、审批、上传材料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交互规范：实时刷新、材料提交、状态反馈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把“看进度”和“做操作”分开，让界面美观同时保持流程严谨。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53896"/>
            <a:ext cx="420624" cy="420624"/>
          </a:xfrm>
          <a:prstGeom prst="ellipse">
            <a:avLst/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508760" y="1435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实时进度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工作台/看板每30秒刷新；项目详情每15秒刷新；编辑表单时暂停自动刷新。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453896"/>
            <a:ext cx="420624" cy="420624"/>
          </a:xfrm>
          <a:prstGeom prst="ellipse">
            <a:avLst/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132320" y="1435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材料提交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按项目、工序、材料类型归档；记录上传人、版本、审核状态与操作日志。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265176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2871216"/>
            <a:ext cx="420624" cy="420624"/>
          </a:xfrm>
          <a:prstGeom prst="ellipse">
            <a:avLst/>
          </a:prstGeom>
          <a:solidFill>
            <a:srgbClr val="EBE6F2"/>
          </a:solidFill>
          <a:ln w="12700">
            <a:solidFill>
              <a:srgbClr val="EB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7180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08760" y="2852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评审闭环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第12步只有“通过/不通过”；不通过必填原因，并自动生成新轮次。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265176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2871216"/>
            <a:ext cx="420624" cy="420624"/>
          </a:xfrm>
          <a:prstGeom prst="ellipse">
            <a:avLst/>
          </a:prstGeom>
          <a:solidFill>
            <a:srgbClr val="F3DEDB"/>
          </a:solidFill>
          <a:ln w="12700">
            <a:solidFill>
              <a:srgbClr val="F3DE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97180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132320" y="2852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逾期治理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超期在工作台、时间线、工序列表、详情页全部醒目展示，并支持催办。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288536"/>
            <a:ext cx="420624" cy="420624"/>
          </a:xfrm>
          <a:prstGeom prst="ellipse">
            <a:avLst/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8912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508760" y="4270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中文统一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0876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所有菜单、按钮、状态、空态、错误提示、表格列名统一中文。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09360" y="4069080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4288536"/>
            <a:ext cx="420624" cy="420624"/>
          </a:xfrm>
          <a:prstGeom prst="ellipse">
            <a:avLst/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389120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7132320" y="4270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工序耗时、逾期率、返工次数、月度评审完成率、颜色退出统计自动汇总。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7F96"/>
          </a:solidFill>
          <a:ln w="12700">
            <a:solidFill>
              <a:srgbClr val="5F7F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落地优先级与验收标准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先做用户端产品化重构，再做数据中心深化与更多角色回归。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63040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DCE8EE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463040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5F7F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中文化 + 导航重构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04872"/>
            <a:ext cx="20116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全站中文、菜单清晰、状态统一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02152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463040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E3EFE8"/>
          </a:solidFill>
          <a:ln w="12700">
            <a:solidFill>
              <a:srgbClr val="E3E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463040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8F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70332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 + 时间线看板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2404872"/>
            <a:ext cx="20116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项目进度一眼可见，支持刷新与筛选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91072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463040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E0EEF0"/>
          </a:solidFill>
          <a:ln w="12700">
            <a:solidFill>
              <a:srgbClr val="E0E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463040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7BA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 + 材料平台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404872"/>
            <a:ext cx="20116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18个工序可追踪，材料可提交可归档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79992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  <a:effectLst>
            <a:outerShdw sx="100000" sy="100000" kx="0" ky="0" algn="bl" rotWithShape="0" blurRad="19050" dist="50800" dir="2700000">
              <a:srgbClr val="D6DDE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1160" y="1463040"/>
            <a:ext cx="475488" cy="201168"/>
          </a:xfrm>
          <a:prstGeom prst="roundRect">
            <a:avLst>
              <a:gd name="adj" fmla="val 27273"/>
            </a:avLst>
          </a:prstGeom>
          <a:solidFill>
            <a:srgbClr val="F2E7D1"/>
          </a:solidFill>
          <a:ln w="12700">
            <a:solidFill>
              <a:srgbClr val="F2E7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1463040"/>
            <a:ext cx="402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D6A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928116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 + 管理分析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81160" y="2404872"/>
            <a:ext cx="20116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周期、逾期、返工、费用、退出可汇总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" y="3840480"/>
            <a:ext cx="10607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4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069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验收问题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4622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10秒内能否看出最危险项目？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6172200" y="44622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每个工序责任人、截止时间是否明确？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960120" y="4754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材料是否可追溯到工序与版本？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172200" y="4754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第12步退回是否形成新轮次？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60120" y="50474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第17步12个月进度是否清楚？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172200" y="50474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7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管理层是否能看到总数据？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轻卡定制颜色开发项目管理系统 UI 方案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轻卡定制颜色开发项目管理系统 UI 原型方案</dc:title>
  <dc:subject>轻卡定制颜色开发项目管理系统 UI 方案</dc:subject>
  <dc:creator>OpenAI</dc:creator>
  <cp:lastModifiedBy>OpenAI</cp:lastModifiedBy>
  <cp:revision>1</cp:revision>
  <dcterms:created xsi:type="dcterms:W3CDTF">2026-05-07T02:34:13Z</dcterms:created>
  <dcterms:modified xsi:type="dcterms:W3CDTF">2026-05-07T02:34:13Z</dcterms:modified>
</cp:coreProperties>
</file>