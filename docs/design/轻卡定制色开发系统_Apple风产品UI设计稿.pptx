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>
        <p:scale>
          <a:sx n="120" d="100"/>
          <a:sy n="120" d="100"/>
        </p:scale>
        <p:origin x="160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629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234440"/>
            <a:ext cx="49377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轻卡定制色开发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项目管理系统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76656" y="2487168"/>
            <a:ext cx="3383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Apple-like 产品界面设计稿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76656" y="2907792"/>
            <a:ext cx="4754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信息节制 · 清晰层级 · 进展驱动 · 复盘闭环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76656" y="3794760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3831336"/>
            <a:ext cx="1792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员工 60 秒内提交进展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16352" y="3794760"/>
            <a:ext cx="205740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3831336"/>
            <a:ext cx="18379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管理者 5 秒内定位卡点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" y="4279392"/>
            <a:ext cx="201168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4315968"/>
            <a:ext cx="17922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项目完成后一页复盘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0" y="749808"/>
            <a:ext cx="4892040" cy="5394960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1078992"/>
            <a:ext cx="20116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今日要处理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03720" y="141732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涂料采购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31152" y="1901952"/>
            <a:ext cx="3108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深海蓝定制色开发 · 今天 17:00 截止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31152" y="2414016"/>
            <a:ext cx="3931920" cy="0"/>
          </a:xfrm>
          <a:prstGeom prst="line">
            <a:avLst/>
          </a:prstGeom>
          <a:noFill/>
          <a:ln w="50800">
            <a:solidFill>
              <a:srgbClr val="E9EDF2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931152" y="2414016"/>
            <a:ext cx="1533449" cy="0"/>
          </a:xfrm>
          <a:prstGeom prst="line">
            <a:avLst/>
          </a:prstGeom>
          <a:noFill/>
          <a:ln w="50800">
            <a:solidFill>
              <a:srgbClr val="315F86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6931152" y="2514600"/>
            <a:ext cx="10972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进度 7 / 18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67728" y="2907792"/>
            <a:ext cx="155448" cy="155448"/>
          </a:xfrm>
          <a:prstGeom prst="ellipse">
            <a:avLst/>
          </a:prstGeom>
          <a:solidFill>
            <a:srgbClr val="367A54"/>
          </a:solidFill>
          <a:ln w="12700">
            <a:solidFill>
              <a:srgbClr val="367A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3127248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</a:t>
            </a:r>
            <a:endParaRPr lang="en-US" sz="580" dirty="0"/>
          </a:p>
        </p:txBody>
      </p:sp>
      <p:sp>
        <p:nvSpPr>
          <p:cNvPr id="20" name="Shape 18"/>
          <p:cNvSpPr/>
          <p:nvPr/>
        </p:nvSpPr>
        <p:spPr>
          <a:xfrm>
            <a:off x="7123176" y="2985516"/>
            <a:ext cx="466344" cy="0"/>
          </a:xfrm>
          <a:prstGeom prst="line">
            <a:avLst/>
          </a:prstGeom>
          <a:noFill/>
          <a:ln w="12700">
            <a:solidFill>
              <a:srgbClr val="367A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2907792"/>
            <a:ext cx="155448" cy="155448"/>
          </a:xfrm>
          <a:prstGeom prst="ellipse">
            <a:avLst/>
          </a:prstGeom>
          <a:solidFill>
            <a:srgbClr val="367A54"/>
          </a:solidFill>
          <a:ln w="12700">
            <a:solidFill>
              <a:srgbClr val="367A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3127248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7744968" y="2985516"/>
            <a:ext cx="466344" cy="0"/>
          </a:xfrm>
          <a:prstGeom prst="line">
            <a:avLst/>
          </a:prstGeom>
          <a:noFill/>
          <a:ln w="12700">
            <a:solidFill>
              <a:srgbClr val="367A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1312" y="2907792"/>
            <a:ext cx="155448" cy="155448"/>
          </a:xfrm>
          <a:prstGeom prst="ellipse">
            <a:avLst/>
          </a:prstGeom>
          <a:solidFill>
            <a:srgbClr val="315F86"/>
          </a:solidFill>
          <a:ln w="12700">
            <a:solidFill>
              <a:srgbClr val="315F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3127248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采购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8366760" y="2985516"/>
            <a:ext cx="466344" cy="0"/>
          </a:xfrm>
          <a:prstGeom prst="line">
            <a:avLst/>
          </a:prstGeom>
          <a:noFill/>
          <a:ln w="12700">
            <a:solidFill>
              <a:srgbClr val="D8DD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33104" y="2907792"/>
            <a:ext cx="155448" cy="155448"/>
          </a:xfrm>
          <a:prstGeom prst="ellipse">
            <a:avLst/>
          </a:prstGeom>
          <a:solidFill>
            <a:srgbClr val="D8DDE3"/>
          </a:solidFill>
          <a:ln w="12700">
            <a:solidFill>
              <a:srgbClr val="D8DD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68512" y="3127248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试制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8988552" y="2985516"/>
            <a:ext cx="466344" cy="0"/>
          </a:xfrm>
          <a:prstGeom prst="line">
            <a:avLst/>
          </a:prstGeom>
          <a:noFill/>
          <a:ln w="12700">
            <a:solidFill>
              <a:srgbClr val="D8DD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54896" y="2907792"/>
            <a:ext cx="155448" cy="155448"/>
          </a:xfrm>
          <a:prstGeom prst="ellipse">
            <a:avLst/>
          </a:prstGeom>
          <a:solidFill>
            <a:srgbClr val="D8DDE3"/>
          </a:solidFill>
          <a:ln w="12700">
            <a:solidFill>
              <a:srgbClr val="D8DD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90304" y="3127248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9610344" y="2985516"/>
            <a:ext cx="466344" cy="0"/>
          </a:xfrm>
          <a:prstGeom prst="line">
            <a:avLst/>
          </a:prstGeom>
          <a:noFill/>
          <a:ln w="12700">
            <a:solidFill>
              <a:srgbClr val="D8DD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76688" y="2907792"/>
            <a:ext cx="155448" cy="155448"/>
          </a:xfrm>
          <a:prstGeom prst="ellipse">
            <a:avLst/>
          </a:prstGeom>
          <a:solidFill>
            <a:srgbClr val="D8DDE3"/>
          </a:solidFill>
          <a:ln w="12700">
            <a:solidFill>
              <a:srgbClr val="D8DD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12096" y="3127248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跟踪</a:t>
            </a:r>
            <a:endParaRPr lang="en-US" sz="580" dirty="0"/>
          </a:p>
        </p:txBody>
      </p:sp>
      <p:sp>
        <p:nvSpPr>
          <p:cNvPr id="35" name="Shape 33"/>
          <p:cNvSpPr/>
          <p:nvPr/>
        </p:nvSpPr>
        <p:spPr>
          <a:xfrm>
            <a:off x="6903720" y="37947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AFBFC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50608" y="4041648"/>
            <a:ext cx="11887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当前缺失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59752" y="4343400"/>
            <a:ext cx="1920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4C4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到货确认记录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178040" y="4773168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315F86"/>
          </a:solidFill>
          <a:ln w="10160">
            <a:solidFill>
              <a:srgbClr val="315F8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87768" y="4809744"/>
            <a:ext cx="11978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提交工作进展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732520" y="4773168"/>
            <a:ext cx="114300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42248" y="4809744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查看项目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DESIGN SYSTEM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产品设计原则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507492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35608"/>
            <a:ext cx="411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81328" y="1453896"/>
            <a:ext cx="3840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一个页面只解决一个核心问题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837944"/>
            <a:ext cx="3977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工作台只回答“我今天做什么”；项目工作区只回答“这个项目卡在哪里”。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36208" y="1234440"/>
            <a:ext cx="507492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435608"/>
            <a:ext cx="411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59168" y="1453896"/>
            <a:ext cx="3840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默认展示结论，点击再看细节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59168" y="1837944"/>
            <a:ext cx="3977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首页与项目卡片只展示当前工序、负责人、截止时间、风险和下一步。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788920"/>
            <a:ext cx="507492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990088"/>
            <a:ext cx="411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81328" y="3008376"/>
            <a:ext cx="3840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进展提交不超过 60 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3392424"/>
            <a:ext cx="3977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项目、工序、人员和时间自动带出，员工只填写本次进展与材料。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6208" y="2788920"/>
            <a:ext cx="507492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2990088"/>
            <a:ext cx="411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59168" y="3008376"/>
            <a:ext cx="38404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管理者 5 秒定位卡点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59168" y="3392424"/>
            <a:ext cx="3977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项目卡片直接写出停滞节点、原因、责任人和预计解除时间。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4572000"/>
            <a:ext cx="5074920" cy="15087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773168"/>
            <a:ext cx="1097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字体层级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5138928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  页面主标题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063240" y="5157216"/>
            <a:ext cx="18288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  模块标题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5577840"/>
            <a:ext cx="4206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 卡片标题      16  正文      14  辅助说明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36208" y="4572000"/>
            <a:ext cx="5074920" cy="15087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4773168"/>
            <a:ext cx="12801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状态颜色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37960" y="5166360"/>
            <a:ext cx="128016" cy="128016"/>
          </a:xfrm>
          <a:prstGeom prst="ellipse">
            <a:avLst/>
          </a:prstGeom>
          <a:solidFill>
            <a:srgbClr val="367A54"/>
          </a:solidFill>
          <a:ln w="12700">
            <a:solidFill>
              <a:srgbClr val="367A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11696" y="5148072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680960" y="5166360"/>
            <a:ext cx="128016" cy="128016"/>
          </a:xfrm>
          <a:prstGeom prst="ellipse">
            <a:avLst/>
          </a:prstGeom>
          <a:solidFill>
            <a:srgbClr val="315F86"/>
          </a:solidFill>
          <a:ln w="12700">
            <a:solidFill>
              <a:srgbClr val="315F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54696" y="5148072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进行中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823960" y="5166360"/>
            <a:ext cx="128016" cy="128016"/>
          </a:xfrm>
          <a:prstGeom prst="ellipse">
            <a:avLst/>
          </a:prstGeom>
          <a:solidFill>
            <a:srgbClr val="B27A21"/>
          </a:solidFill>
          <a:ln w="12700">
            <a:solidFill>
              <a:srgbClr val="B27A2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97696" y="5148072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待评审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966960" y="5166360"/>
            <a:ext cx="128016" cy="128016"/>
          </a:xfrm>
          <a:prstGeom prst="ellipse">
            <a:avLst/>
          </a:prstGeom>
          <a:solidFill>
            <a:srgbClr val="B94C4C"/>
          </a:solidFill>
          <a:ln w="12700">
            <a:solidFill>
              <a:srgbClr val="B94C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40696" y="5148072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已逾期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537960" y="5577840"/>
            <a:ext cx="128016" cy="128016"/>
          </a:xfrm>
          <a:prstGeom prst="ellipse">
            <a:avLst/>
          </a:prstGeom>
          <a:solidFill>
            <a:srgbClr val="77589C"/>
          </a:solidFill>
          <a:ln w="12700">
            <a:solidFill>
              <a:srgbClr val="77589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11696" y="5559552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已退回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680960" y="5577840"/>
            <a:ext cx="128016" cy="128016"/>
          </a:xfrm>
          <a:prstGeom prst="ellipse">
            <a:avLst/>
          </a:prstGeom>
          <a:solidFill>
            <a:srgbClr val="2F7B79"/>
          </a:solidFill>
          <a:ln w="12700">
            <a:solidFill>
              <a:srgbClr val="2F7B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54696" y="5559552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月度跟踪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823960" y="5577840"/>
            <a:ext cx="128016" cy="128016"/>
          </a:xfrm>
          <a:prstGeom prst="ellipse">
            <a:avLst/>
          </a:prstGeom>
          <a:solidFill>
            <a:srgbClr val="93663D"/>
          </a:solidFill>
          <a:ln w="12700">
            <a:solidFill>
              <a:srgbClr val="936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97696" y="5559552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待退出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INFORMATION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收敛后的产品结构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6949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用户端只保留五个一级入口，其他功能进入项目上下文或右上角辅助区。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1874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47088"/>
            <a:ext cx="1508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工作台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1508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我今天要做什么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2898648" y="1627632"/>
            <a:ext cx="1874520" cy="1188720"/>
          </a:xfrm>
          <a:prstGeom prst="roundRect">
            <a:avLst>
              <a:gd name="adj" fmla="val 9231"/>
            </a:avLst>
          </a:prstGeom>
          <a:solidFill>
            <a:srgbClr val="EAF1F7"/>
          </a:solidFill>
          <a:ln w="10160">
            <a:solidFill>
              <a:srgbClr val="315F86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63240" y="1847088"/>
            <a:ext cx="1508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项目管理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063240" y="2240280"/>
            <a:ext cx="1508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所有项目处于什么状态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138928" y="1627632"/>
            <a:ext cx="1874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0" y="1847088"/>
            <a:ext cx="1508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我的任务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303520" y="2240280"/>
            <a:ext cx="1508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我要处理哪些工序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379208" y="1627632"/>
            <a:ext cx="1874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43800" y="1847088"/>
            <a:ext cx="1508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进展提交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43800" y="2240280"/>
            <a:ext cx="1508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快速汇报与上传材料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619488" y="1627632"/>
            <a:ext cx="1874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84080" y="1847088"/>
            <a:ext cx="1508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复盘分析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784080" y="2240280"/>
            <a:ext cx="1508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项目为什么延期或返工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914400" y="3703320"/>
            <a:ext cx="102412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3831336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员工最短路径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3831336"/>
            <a:ext cx="7498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登录 → 工作台 → 当前任务 → 提交进展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4379976"/>
            <a:ext cx="102412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4507992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项目经理路径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0" y="4507992"/>
            <a:ext cx="7498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登录 → 项目管理 → 风险项目 → 异常工序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4400" y="5056632"/>
            <a:ext cx="102412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5184648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管理层路径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0" y="5184648"/>
            <a:ext cx="7498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登录 → 复盘分析 → 指标 → 问题项目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4400" y="5989320"/>
            <a:ext cx="10241280" cy="32004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6080760"/>
            <a:ext cx="9692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右上角辅助入口：全局搜索｜消息通知｜帮助｜个人中心；管理员另见“后台管理”。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01｜员工工作台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7040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目标：员工进入系统后，不需要理解全局结构，就知道今天要处理哪一项。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5074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53312"/>
            <a:ext cx="10881360" cy="420624"/>
          </a:xfrm>
          <a:prstGeom prst="rect">
            <a:avLst/>
          </a:prstGeom>
          <a:solidFill>
            <a:srgbClr val="FBFBFC"/>
          </a:solidFill>
          <a:ln w="6350">
            <a:solidFill>
              <a:srgbClr val="E2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81328"/>
            <a:ext cx="5440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13648" y="1481328"/>
            <a:ext cx="2651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最近更新 10:42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早上好，张七巧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4023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今天有 3 项任务需要处理，其中 1 项今天到期。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052560" y="1938528"/>
            <a:ext cx="1645920" cy="347472"/>
          </a:xfrm>
          <a:prstGeom prst="roundRect">
            <a:avLst>
              <a:gd name="adj" fmla="val 31579"/>
            </a:avLst>
          </a:prstGeom>
          <a:solidFill>
            <a:srgbClr val="315F86"/>
          </a:solidFill>
          <a:ln w="10160">
            <a:solidFill>
              <a:srgbClr val="315F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62288" y="1975104"/>
            <a:ext cx="142646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处理下一项任务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05840" y="2816352"/>
            <a:ext cx="4663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25880" y="3127248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当前任务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3456432"/>
            <a:ext cx="210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涂料采购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335024" y="3840480"/>
            <a:ext cx="3108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深海蓝定制色开发 · 今天 17:00 截止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1335024" y="4242816"/>
            <a:ext cx="3566160" cy="0"/>
          </a:xfrm>
          <a:prstGeom prst="line">
            <a:avLst/>
          </a:prstGeom>
          <a:noFill/>
          <a:ln w="50800">
            <a:solidFill>
              <a:srgbClr val="E9EDF2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335024" y="4242816"/>
            <a:ext cx="1890065" cy="0"/>
          </a:xfrm>
          <a:prstGeom prst="line">
            <a:avLst/>
          </a:prstGeom>
          <a:noFill/>
          <a:ln w="50800">
            <a:solidFill>
              <a:srgbClr val="315F86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335024" y="4389120"/>
            <a:ext cx="3017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94C4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 2 / 3 · 缺少到货确认记录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35024" y="4681728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315F86"/>
          </a:solidFill>
          <a:ln w="10160">
            <a:solidFill>
              <a:srgbClr val="315F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4718304"/>
            <a:ext cx="11064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提交工作进展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93008" y="4690872"/>
            <a:ext cx="10058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2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阶段：采购验证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5989320" y="28163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17336" y="2926080"/>
            <a:ext cx="17556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今天到期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17336" y="3099816"/>
            <a:ext cx="175564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989320" y="3511296"/>
            <a:ext cx="2011680" cy="18288"/>
          </a:xfrm>
          <a:prstGeom prst="rect">
            <a:avLst/>
          </a:prstGeom>
          <a:solidFill>
            <a:srgbClr val="B94C4C"/>
          </a:solidFill>
          <a:ln w="12700">
            <a:solidFill>
              <a:srgbClr val="B94C4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28163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49056" y="2926080"/>
            <a:ext cx="17556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待我评审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49056" y="3099816"/>
            <a:ext cx="175564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321040" y="3511296"/>
            <a:ext cx="2011680" cy="18288"/>
          </a:xfrm>
          <a:prstGeom prst="rect">
            <a:avLst/>
          </a:prstGeom>
          <a:solidFill>
            <a:srgbClr val="315F86"/>
          </a:solidFill>
          <a:ln w="12700">
            <a:solidFill>
              <a:srgbClr val="315F8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384048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7336" y="3950208"/>
            <a:ext cx="17556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待补材料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17336" y="4123944"/>
            <a:ext cx="175564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5989320" y="4535424"/>
            <a:ext cx="2011680" cy="18288"/>
          </a:xfrm>
          <a:prstGeom prst="rect">
            <a:avLst/>
          </a:prstGeom>
          <a:solidFill>
            <a:srgbClr val="315F86"/>
          </a:solidFill>
          <a:ln w="12700">
            <a:solidFill>
              <a:srgbClr val="315F8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384048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49056" y="3950208"/>
            <a:ext cx="175564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等待他人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449056" y="4123944"/>
            <a:ext cx="175564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8321040" y="4535424"/>
            <a:ext cx="2011680" cy="18288"/>
          </a:xfrm>
          <a:prstGeom prst="rect">
            <a:avLst/>
          </a:prstGeom>
          <a:solidFill>
            <a:srgbClr val="315F86"/>
          </a:solidFill>
          <a:ln w="12700">
            <a:solidFill>
              <a:srgbClr val="315F8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5047488"/>
            <a:ext cx="4526280" cy="91440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5352" y="5266944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最近动态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52360" y="5212080"/>
            <a:ext cx="2743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10:33 系统自动创建“涂料采购”</a:t>
            </a:r>
            <a:endParaRPr lang="en-US" sz="920" dirty="0"/>
          </a:p>
          <a:p>
            <a:pPr marL="0" indent="0" algn="l">
              <a:buNone/>
            </a:pPr>
            <a:r>
              <a:rPr lang="en-US" sz="92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11:06 上传“采购申请单”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02｜项目管理看板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6492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目标：管理者五秒内找出正常、即将逾期、已停滞的项目。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5074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53312"/>
            <a:ext cx="10881360" cy="420624"/>
          </a:xfrm>
          <a:prstGeom prst="rect">
            <a:avLst/>
          </a:prstGeom>
          <a:solidFill>
            <a:srgbClr val="FBFBFC"/>
          </a:solidFill>
          <a:ln w="6350">
            <a:solidFill>
              <a:srgbClr val="E2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81328"/>
            <a:ext cx="5440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项目管理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13648" y="1481328"/>
            <a:ext cx="2651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卡片视图｜列表视图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987552" y="1847088"/>
            <a:ext cx="5029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掌握所有定制颜色项目的阶段、负责人和风险。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875520" y="1783080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315F86"/>
          </a:solidFill>
          <a:ln w="10160">
            <a:solidFill>
              <a:srgbClr val="315F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85248" y="1819656"/>
            <a:ext cx="786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新建项目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331720"/>
            <a:ext cx="1920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2441448"/>
            <a:ext cx="16642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进行中项目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15568" y="2615184"/>
            <a:ext cx="16642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87552" y="3026664"/>
            <a:ext cx="1920240" cy="18288"/>
          </a:xfrm>
          <a:prstGeom prst="rect">
            <a:avLst/>
          </a:prstGeom>
          <a:solidFill>
            <a:srgbClr val="315F86"/>
          </a:solidFill>
          <a:ln w="12700">
            <a:solidFill>
              <a:srgbClr val="315F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9272" y="2331720"/>
            <a:ext cx="1920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2441448"/>
            <a:ext cx="16642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风险项目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447288" y="2615184"/>
            <a:ext cx="16642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319272" y="3026664"/>
            <a:ext cx="1920240" cy="18288"/>
          </a:xfrm>
          <a:prstGeom prst="rect">
            <a:avLst/>
          </a:prstGeom>
          <a:solidFill>
            <a:srgbClr val="B94C4C"/>
          </a:solidFill>
          <a:ln w="12700">
            <a:solidFill>
              <a:srgbClr val="B94C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50992" y="2331720"/>
            <a:ext cx="1920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2441448"/>
            <a:ext cx="16642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本周到期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779008" y="2615184"/>
            <a:ext cx="16642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50992" y="3026664"/>
            <a:ext cx="1920240" cy="18288"/>
          </a:xfrm>
          <a:prstGeom prst="rect">
            <a:avLst/>
          </a:prstGeom>
          <a:solidFill>
            <a:srgbClr val="B27A21"/>
          </a:solidFill>
          <a:ln w="12700">
            <a:solidFill>
              <a:srgbClr val="B27A2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82712" y="2331720"/>
            <a:ext cx="1920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2441448"/>
            <a:ext cx="16642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等待评审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110728" y="2615184"/>
            <a:ext cx="16642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982712" y="3026664"/>
            <a:ext cx="1920240" cy="18288"/>
          </a:xfrm>
          <a:prstGeom prst="rect">
            <a:avLst/>
          </a:prstGeom>
          <a:solidFill>
            <a:srgbClr val="77589C"/>
          </a:solidFill>
          <a:ln w="12700">
            <a:solidFill>
              <a:srgbClr val="77589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" y="3246120"/>
            <a:ext cx="749808" cy="256032"/>
          </a:xfrm>
          <a:prstGeom prst="roundRect">
            <a:avLst>
              <a:gd name="adj" fmla="val 42857"/>
            </a:avLst>
          </a:prstGeom>
          <a:solidFill>
            <a:srgbClr val="F7F8FA"/>
          </a:solidFill>
          <a:ln w="10160">
            <a:solidFill>
              <a:srgbClr val="E8EB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3282696"/>
            <a:ext cx="5303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全部项目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947672" y="3246120"/>
            <a:ext cx="777240" cy="256032"/>
          </a:xfrm>
          <a:prstGeom prst="roundRect">
            <a:avLst>
              <a:gd name="adj" fmla="val 42857"/>
            </a:avLst>
          </a:prstGeom>
          <a:solidFill>
            <a:srgbClr val="F7F8FA"/>
          </a:solidFill>
          <a:ln w="10160">
            <a:solidFill>
              <a:srgbClr val="E8EB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7400" y="3282696"/>
            <a:ext cx="5577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正常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907792" y="3246120"/>
            <a:ext cx="777240" cy="256032"/>
          </a:xfrm>
          <a:prstGeom prst="roundRect">
            <a:avLst>
              <a:gd name="adj" fmla="val 42857"/>
            </a:avLst>
          </a:prstGeom>
          <a:solidFill>
            <a:srgbClr val="F8EAEA"/>
          </a:solidFill>
          <a:ln w="10160">
            <a:solidFill>
              <a:srgbClr val="B94C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3282696"/>
            <a:ext cx="5577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94C4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有风险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67912" y="3246120"/>
            <a:ext cx="777240" cy="256032"/>
          </a:xfrm>
          <a:prstGeom prst="roundRect">
            <a:avLst>
              <a:gd name="adj" fmla="val 42857"/>
            </a:avLst>
          </a:prstGeom>
          <a:solidFill>
            <a:srgbClr val="F7F8FA"/>
          </a:solidFill>
          <a:ln w="10160">
            <a:solidFill>
              <a:srgbClr val="E8EB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3282696"/>
            <a:ext cx="5577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已逾期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28032" y="3246120"/>
            <a:ext cx="777240" cy="256032"/>
          </a:xfrm>
          <a:prstGeom prst="roundRect">
            <a:avLst>
              <a:gd name="adj" fmla="val 42857"/>
            </a:avLst>
          </a:prstGeom>
          <a:solidFill>
            <a:srgbClr val="F7F8FA"/>
          </a:solidFill>
          <a:ln w="10160">
            <a:solidFill>
              <a:srgbClr val="E8EB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282696"/>
            <a:ext cx="5577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等待评审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921240" y="3200400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30968" y="3236976"/>
            <a:ext cx="786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高级筛选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87552" y="3657600"/>
            <a:ext cx="315468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87552" y="3657600"/>
            <a:ext cx="3154680" cy="36576"/>
          </a:xfrm>
          <a:prstGeom prst="rect">
            <a:avLst/>
          </a:prstGeom>
          <a:solidFill>
            <a:srgbClr val="B94C4C"/>
          </a:solidFill>
          <a:ln w="12700">
            <a:solidFill>
              <a:srgbClr val="B94C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52144" y="3877056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深海蓝定制色开发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3319272" y="3858768"/>
            <a:ext cx="603504" cy="256032"/>
          </a:xfrm>
          <a:prstGeom prst="roundRect">
            <a:avLst>
              <a:gd name="adj" fmla="val 42857"/>
            </a:avLst>
          </a:prstGeom>
          <a:solidFill>
            <a:srgbClr val="F8EAEA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3895344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94C4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52144" y="4224528"/>
            <a:ext cx="7315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当前工序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1152144" y="4407408"/>
            <a:ext cx="1280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涂料采购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152144" y="4791456"/>
            <a:ext cx="2148840" cy="0"/>
          </a:xfrm>
          <a:prstGeom prst="line">
            <a:avLst/>
          </a:prstGeom>
          <a:noFill/>
          <a:ln w="50800">
            <a:solidFill>
              <a:srgbClr val="E9EDF2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1152144" y="4791456"/>
            <a:ext cx="838048" cy="0"/>
          </a:xfrm>
          <a:prstGeom prst="line">
            <a:avLst/>
          </a:prstGeom>
          <a:noFill/>
          <a:ln w="50800">
            <a:solidFill>
              <a:srgbClr val="B94C4C"/>
            </a:solidFill>
            <a:prstDash val="solid"/>
            <a:headEnd type="non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1152144" y="4937760"/>
            <a:ext cx="1783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B94C4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缺少到货确认记录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3182112" y="4892040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 w="10160">
            <a:solidFill>
              <a:srgbClr val="C7D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4928616"/>
            <a:ext cx="5303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进入项目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4443984" y="3657600"/>
            <a:ext cx="315468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443984" y="3657600"/>
            <a:ext cx="3154680" cy="36576"/>
          </a:xfrm>
          <a:prstGeom prst="rect">
            <a:avLst/>
          </a:prstGeom>
          <a:solidFill>
            <a:srgbClr val="B27A21"/>
          </a:solidFill>
          <a:ln w="12700">
            <a:solidFill>
              <a:srgbClr val="B27A2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08576" y="3877056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星河银定制色开发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6775704" y="3858768"/>
            <a:ext cx="603504" cy="256032"/>
          </a:xfrm>
          <a:prstGeom prst="roundRect">
            <a:avLst>
              <a:gd name="adj" fmla="val 42857"/>
            </a:avLst>
          </a:prstGeom>
          <a:solidFill>
            <a:srgbClr val="F7EEDC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85432" y="3895344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27A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待评审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608576" y="4224528"/>
            <a:ext cx="7315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当前工序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608576" y="4407408"/>
            <a:ext cx="1280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样车评审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608576" y="4791456"/>
            <a:ext cx="2148840" cy="0"/>
          </a:xfrm>
          <a:prstGeom prst="line">
            <a:avLst/>
          </a:prstGeom>
          <a:noFill/>
          <a:ln w="50800">
            <a:solidFill>
              <a:srgbClr val="E9EDF2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4608576" y="4791456"/>
            <a:ext cx="1310792" cy="0"/>
          </a:xfrm>
          <a:prstGeom prst="line">
            <a:avLst/>
          </a:prstGeom>
          <a:noFill/>
          <a:ln w="50800">
            <a:solidFill>
              <a:srgbClr val="B27A21"/>
            </a:solidFill>
            <a:prstDash val="solid"/>
            <a:headEnd type="none"/>
            <a:tailEnd type="none"/>
          </a:ln>
        </p:spPr>
      </p:sp>
      <p:sp>
        <p:nvSpPr>
          <p:cNvPr id="61" name="Text 59"/>
          <p:cNvSpPr/>
          <p:nvPr/>
        </p:nvSpPr>
        <p:spPr>
          <a:xfrm>
            <a:off x="4608576" y="4937760"/>
            <a:ext cx="1783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今天需要评审结论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6638544" y="4892040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 w="10160">
            <a:solidFill>
              <a:srgbClr val="C7D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48272" y="4928616"/>
            <a:ext cx="5303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进入项目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7900416" y="3657600"/>
            <a:ext cx="3154680" cy="1664208"/>
          </a:xfrm>
          <a:prstGeom prst="roundRect">
            <a:avLst>
              <a:gd name="adj" fmla="val 4945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900416" y="3657600"/>
            <a:ext cx="3154680" cy="36576"/>
          </a:xfrm>
          <a:prstGeom prst="rect">
            <a:avLst/>
          </a:prstGeom>
          <a:solidFill>
            <a:srgbClr val="367A54"/>
          </a:solidFill>
          <a:ln w="12700">
            <a:solidFill>
              <a:srgbClr val="367A5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65008" y="3877056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极光白定制色开发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10232136" y="3858768"/>
            <a:ext cx="603504" cy="256032"/>
          </a:xfrm>
          <a:prstGeom prst="roundRect">
            <a:avLst>
              <a:gd name="adj" fmla="val 42857"/>
            </a:avLst>
          </a:prstGeom>
          <a:solidFill>
            <a:srgbClr val="E9F2EC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341864" y="3895344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67A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正常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065008" y="4224528"/>
            <a:ext cx="7315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当前工序</a:t>
            </a:r>
            <a:endParaRPr lang="en-US" sz="740" dirty="0"/>
          </a:p>
        </p:txBody>
      </p:sp>
      <p:sp>
        <p:nvSpPr>
          <p:cNvPr id="70" name="Text 68"/>
          <p:cNvSpPr/>
          <p:nvPr/>
        </p:nvSpPr>
        <p:spPr>
          <a:xfrm>
            <a:off x="8065008" y="4407408"/>
            <a:ext cx="1280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月度评审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8065008" y="4791456"/>
            <a:ext cx="2148840" cy="0"/>
          </a:xfrm>
          <a:prstGeom prst="line">
            <a:avLst/>
          </a:prstGeom>
          <a:noFill/>
          <a:ln w="50800">
            <a:solidFill>
              <a:srgbClr val="E9EDF2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8065008" y="4791456"/>
            <a:ext cx="1676095" cy="0"/>
          </a:xfrm>
          <a:prstGeom prst="line">
            <a:avLst/>
          </a:prstGeom>
          <a:noFill/>
          <a:ln w="50800">
            <a:solidFill>
              <a:srgbClr val="367A54"/>
            </a:solidFill>
            <a:prstDash val="solid"/>
            <a:headEnd type="none"/>
            <a:tailEnd type="none"/>
          </a:ln>
        </p:spPr>
      </p:sp>
      <p:sp>
        <p:nvSpPr>
          <p:cNvPr id="73" name="Text 71"/>
          <p:cNvSpPr/>
          <p:nvPr/>
        </p:nvSpPr>
        <p:spPr>
          <a:xfrm>
            <a:off x="8065008" y="4937760"/>
            <a:ext cx="1783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第17步 3 / 12 月</a:t>
            </a:r>
            <a:endParaRPr lang="en-US" sz="820" dirty="0"/>
          </a:p>
        </p:txBody>
      </p:sp>
      <p:sp>
        <p:nvSpPr>
          <p:cNvPr id="74" name="Shape 72"/>
          <p:cNvSpPr/>
          <p:nvPr/>
        </p:nvSpPr>
        <p:spPr>
          <a:xfrm>
            <a:off x="10094976" y="4892040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 w="10160">
            <a:solidFill>
              <a:srgbClr val="C7D8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204704" y="4928616"/>
            <a:ext cx="5303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进入项目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03｜项目工作区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6217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项目内的唯一主界面：流程地图 + 当前工序 + 直接提交。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280160"/>
            <a:ext cx="10881360" cy="5257800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280160"/>
            <a:ext cx="10881360" cy="420624"/>
          </a:xfrm>
          <a:prstGeom prst="rect">
            <a:avLst/>
          </a:prstGeom>
          <a:solidFill>
            <a:srgbClr val="FBFBFC"/>
          </a:solidFill>
          <a:ln w="6350">
            <a:solidFill>
              <a:srgbClr val="E2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08176"/>
            <a:ext cx="5440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深海蓝定制色开发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13648" y="1408176"/>
            <a:ext cx="2651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当前：涂料采购｜进度 7/18｜逾期 0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987552" y="1810512"/>
            <a:ext cx="6583680" cy="4572000"/>
          </a:xfrm>
          <a:prstGeom prst="roundRect">
            <a:avLst>
              <a:gd name="adj" fmla="val 1600"/>
            </a:avLst>
          </a:prstGeom>
          <a:solidFill>
            <a:srgbClr val="FBFCFD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2011680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实时流程地图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432304"/>
            <a:ext cx="0" cy="310896"/>
          </a:xfrm>
          <a:prstGeom prst="line">
            <a:avLst/>
          </a:prstGeom>
          <a:noFill/>
          <a:ln w="15240">
            <a:solidFill>
              <a:srgbClr val="367A5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54680" y="3090672"/>
            <a:ext cx="0" cy="310896"/>
          </a:xfrm>
          <a:prstGeom prst="line">
            <a:avLst/>
          </a:prstGeom>
          <a:noFill/>
          <a:ln w="15240">
            <a:solidFill>
              <a:srgbClr val="367A5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11880" y="3657600"/>
            <a:ext cx="1005840" cy="0"/>
          </a:xfrm>
          <a:prstGeom prst="line">
            <a:avLst/>
          </a:prstGeom>
          <a:noFill/>
          <a:ln w="15240">
            <a:solidFill>
              <a:srgbClr val="367A5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54680" y="3877056"/>
            <a:ext cx="0" cy="347472"/>
          </a:xfrm>
          <a:prstGeom prst="line">
            <a:avLst/>
          </a:prstGeom>
          <a:noFill/>
          <a:ln w="15240">
            <a:solidFill>
              <a:srgbClr val="315F8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11880" y="4389120"/>
            <a:ext cx="1143000" cy="0"/>
          </a:xfrm>
          <a:prstGeom prst="line">
            <a:avLst/>
          </a:prstGeom>
          <a:noFill/>
          <a:ln w="15240">
            <a:solidFill>
              <a:srgbClr val="D8DDE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154680" y="4645152"/>
            <a:ext cx="0" cy="365760"/>
          </a:xfrm>
          <a:prstGeom prst="line">
            <a:avLst/>
          </a:prstGeom>
          <a:noFill/>
          <a:ln w="15240">
            <a:solidFill>
              <a:srgbClr val="D8DDE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54680" y="5422392"/>
            <a:ext cx="0" cy="301752"/>
          </a:xfrm>
          <a:prstGeom prst="line">
            <a:avLst/>
          </a:prstGeom>
          <a:noFill/>
          <a:ln w="15240">
            <a:solidFill>
              <a:srgbClr val="D8DDE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11880" y="5532120"/>
            <a:ext cx="1143000" cy="0"/>
          </a:xfrm>
          <a:prstGeom prst="line">
            <a:avLst/>
          </a:prstGeom>
          <a:noFill/>
          <a:ln w="15240">
            <a:solidFill>
              <a:srgbClr val="D8DDE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542032" y="2267712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E9F2EC"/>
          </a:solidFill>
          <a:ln w="13970">
            <a:solidFill>
              <a:srgbClr val="367A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96896" y="2322576"/>
            <a:ext cx="182880" cy="182880"/>
          </a:xfrm>
          <a:prstGeom prst="ellipse">
            <a:avLst/>
          </a:prstGeom>
          <a:solidFill>
            <a:srgbClr val="367A54"/>
          </a:solidFill>
          <a:ln w="12700">
            <a:solidFill>
              <a:srgbClr val="367A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2336292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2798064" y="2340864"/>
            <a:ext cx="905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市场需求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2798064" y="2514600"/>
            <a:ext cx="9052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</a:t>
            </a:r>
            <a:endParaRPr lang="en-US" sz="580" dirty="0"/>
          </a:p>
        </p:txBody>
      </p:sp>
      <p:sp>
        <p:nvSpPr>
          <p:cNvPr id="24" name="Shape 22"/>
          <p:cNvSpPr/>
          <p:nvPr/>
        </p:nvSpPr>
        <p:spPr>
          <a:xfrm>
            <a:off x="2542032" y="2926080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E9F2EC"/>
          </a:solidFill>
          <a:ln w="13970">
            <a:solidFill>
              <a:srgbClr val="367A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96896" y="2980944"/>
            <a:ext cx="182880" cy="182880"/>
          </a:xfrm>
          <a:prstGeom prst="ellipse">
            <a:avLst/>
          </a:prstGeom>
          <a:solidFill>
            <a:srgbClr val="367A54"/>
          </a:solidFill>
          <a:ln w="12700">
            <a:solidFill>
              <a:srgbClr val="367A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2994660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550" dirty="0"/>
          </a:p>
        </p:txBody>
      </p:sp>
      <p:sp>
        <p:nvSpPr>
          <p:cNvPr id="27" name="Text 25"/>
          <p:cNvSpPr/>
          <p:nvPr/>
        </p:nvSpPr>
        <p:spPr>
          <a:xfrm>
            <a:off x="2798064" y="2999232"/>
            <a:ext cx="905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涂料开发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2798064" y="3172968"/>
            <a:ext cx="9052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2542032" y="3493008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E9F2EC"/>
          </a:solidFill>
          <a:ln w="13970">
            <a:solidFill>
              <a:srgbClr val="367A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96896" y="3547872"/>
            <a:ext cx="182880" cy="182880"/>
          </a:xfrm>
          <a:prstGeom prst="ellipse">
            <a:avLst/>
          </a:prstGeom>
          <a:solidFill>
            <a:srgbClr val="367A54"/>
          </a:solidFill>
          <a:ln w="12700">
            <a:solidFill>
              <a:srgbClr val="367A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561588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550" dirty="0"/>
          </a:p>
        </p:txBody>
      </p:sp>
      <p:sp>
        <p:nvSpPr>
          <p:cNvPr id="32" name="Text 30"/>
          <p:cNvSpPr/>
          <p:nvPr/>
        </p:nvSpPr>
        <p:spPr>
          <a:xfrm>
            <a:off x="2798064" y="3566160"/>
            <a:ext cx="905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样板确认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2798064" y="3739896"/>
            <a:ext cx="9052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</a:t>
            </a:r>
            <a:endParaRPr lang="en-US" sz="580" dirty="0"/>
          </a:p>
        </p:txBody>
      </p:sp>
      <p:sp>
        <p:nvSpPr>
          <p:cNvPr id="34" name="Shape 32"/>
          <p:cNvSpPr/>
          <p:nvPr/>
        </p:nvSpPr>
        <p:spPr>
          <a:xfrm>
            <a:off x="4754880" y="3493008"/>
            <a:ext cx="1325880" cy="438912"/>
          </a:xfrm>
          <a:prstGeom prst="roundRect">
            <a:avLst>
              <a:gd name="adj" fmla="val 12500"/>
            </a:avLst>
          </a:prstGeom>
          <a:solidFill>
            <a:srgbClr val="E9F2EC"/>
          </a:solidFill>
          <a:ln w="13970">
            <a:solidFill>
              <a:srgbClr val="367A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9744" y="3547872"/>
            <a:ext cx="182880" cy="182880"/>
          </a:xfrm>
          <a:prstGeom prst="ellipse">
            <a:avLst/>
          </a:prstGeom>
          <a:solidFill>
            <a:srgbClr val="367A54"/>
          </a:solidFill>
          <a:ln w="12700">
            <a:solidFill>
              <a:srgbClr val="367A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561588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5010912" y="3566160"/>
            <a:ext cx="9966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新颜色取号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5010912" y="3739896"/>
            <a:ext cx="9966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支线完成</a:t>
            </a:r>
            <a:endParaRPr lang="en-US" sz="580" dirty="0"/>
          </a:p>
        </p:txBody>
      </p:sp>
      <p:sp>
        <p:nvSpPr>
          <p:cNvPr id="39" name="Shape 37"/>
          <p:cNvSpPr/>
          <p:nvPr/>
        </p:nvSpPr>
        <p:spPr>
          <a:xfrm>
            <a:off x="2542032" y="4224528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EAF1F7"/>
          </a:solidFill>
          <a:ln w="13970">
            <a:solidFill>
              <a:srgbClr val="315F8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96896" y="4279392"/>
            <a:ext cx="182880" cy="182880"/>
          </a:xfrm>
          <a:prstGeom prst="ellipse">
            <a:avLst/>
          </a:prstGeom>
          <a:solidFill>
            <a:srgbClr val="315F86"/>
          </a:solidFill>
          <a:ln w="12700">
            <a:solidFill>
              <a:srgbClr val="315F8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06040" y="4293108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2798064" y="4297680"/>
            <a:ext cx="905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涂料采购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2798064" y="4471416"/>
            <a:ext cx="9052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今天截止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1143000" y="4224528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13970">
            <a:solidFill>
              <a:srgbClr val="CBD2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97864" y="4279392"/>
            <a:ext cx="182880" cy="182880"/>
          </a:xfrm>
          <a:prstGeom prst="ellipse">
            <a:avLst/>
          </a:prstGeom>
          <a:solidFill>
            <a:srgbClr val="CBD2DA"/>
          </a:solidFill>
          <a:ln w="12700">
            <a:solidFill>
              <a:srgbClr val="CBD2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07008" y="4293108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550" dirty="0"/>
          </a:p>
        </p:txBody>
      </p:sp>
      <p:sp>
        <p:nvSpPr>
          <p:cNvPr id="47" name="Text 45"/>
          <p:cNvSpPr/>
          <p:nvPr/>
        </p:nvSpPr>
        <p:spPr>
          <a:xfrm>
            <a:off x="1399032" y="4297680"/>
            <a:ext cx="905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性能试验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1399032" y="4471416"/>
            <a:ext cx="9052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非阻塞</a:t>
            </a:r>
            <a:endParaRPr lang="en-US" sz="580" dirty="0"/>
          </a:p>
        </p:txBody>
      </p:sp>
      <p:sp>
        <p:nvSpPr>
          <p:cNvPr id="49" name="Shape 47"/>
          <p:cNvSpPr/>
          <p:nvPr/>
        </p:nvSpPr>
        <p:spPr>
          <a:xfrm>
            <a:off x="4754880" y="4224528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13970">
            <a:solidFill>
              <a:srgbClr val="CBD2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9744" y="4279392"/>
            <a:ext cx="182880" cy="182880"/>
          </a:xfrm>
          <a:prstGeom prst="ellipse">
            <a:avLst/>
          </a:prstGeom>
          <a:solidFill>
            <a:srgbClr val="CBD2DA"/>
          </a:solidFill>
          <a:ln w="12700">
            <a:solidFill>
              <a:srgbClr val="CBD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4293108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550" dirty="0"/>
          </a:p>
        </p:txBody>
      </p:sp>
      <p:sp>
        <p:nvSpPr>
          <p:cNvPr id="52" name="Text 50"/>
          <p:cNvSpPr/>
          <p:nvPr/>
        </p:nvSpPr>
        <p:spPr>
          <a:xfrm>
            <a:off x="5010912" y="4297680"/>
            <a:ext cx="10881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标准板制作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010912" y="4471416"/>
            <a:ext cx="108813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未开始</a:t>
            </a:r>
            <a:endParaRPr lang="en-US" sz="580" dirty="0"/>
          </a:p>
        </p:txBody>
      </p:sp>
      <p:sp>
        <p:nvSpPr>
          <p:cNvPr id="54" name="Shape 52"/>
          <p:cNvSpPr/>
          <p:nvPr/>
        </p:nvSpPr>
        <p:spPr>
          <a:xfrm>
            <a:off x="2542032" y="5010912"/>
            <a:ext cx="1234440" cy="438912"/>
          </a:xfrm>
          <a:prstGeom prst="roundRect">
            <a:avLst>
              <a:gd name="adj" fmla="val 12500"/>
            </a:avLst>
          </a:prstGeom>
          <a:solidFill>
            <a:srgbClr val="F4F5F7"/>
          </a:solidFill>
          <a:ln w="13970">
            <a:solidFill>
              <a:srgbClr val="CBD2D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96896" y="5065776"/>
            <a:ext cx="182880" cy="182880"/>
          </a:xfrm>
          <a:prstGeom prst="ellipse">
            <a:avLst/>
          </a:prstGeom>
          <a:solidFill>
            <a:srgbClr val="CBD2DA"/>
          </a:solidFill>
          <a:ln w="12700">
            <a:solidFill>
              <a:srgbClr val="CBD2D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06040" y="5079492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550" dirty="0"/>
          </a:p>
        </p:txBody>
      </p:sp>
      <p:sp>
        <p:nvSpPr>
          <p:cNvPr id="57" name="Text 55"/>
          <p:cNvSpPr/>
          <p:nvPr/>
        </p:nvSpPr>
        <p:spPr>
          <a:xfrm>
            <a:off x="2798064" y="5084064"/>
            <a:ext cx="905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首台计划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2798064" y="5257800"/>
            <a:ext cx="9052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580" dirty="0"/>
          </a:p>
        </p:txBody>
      </p:sp>
      <p:sp>
        <p:nvSpPr>
          <p:cNvPr id="59" name="Shape 57"/>
          <p:cNvSpPr/>
          <p:nvPr/>
        </p:nvSpPr>
        <p:spPr>
          <a:xfrm>
            <a:off x="2423160" y="5715000"/>
            <a:ext cx="1463040" cy="530352"/>
          </a:xfrm>
          <a:prstGeom prst="diamond">
            <a:avLst/>
          </a:prstGeom>
          <a:solidFill>
            <a:srgbClr val="F7EEDC"/>
          </a:solidFill>
          <a:ln w="15240">
            <a:solidFill>
              <a:srgbClr val="B27A2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04620" y="5893308"/>
            <a:ext cx="182880" cy="182880"/>
          </a:xfrm>
          <a:prstGeom prst="ellipse">
            <a:avLst/>
          </a:prstGeom>
          <a:solidFill>
            <a:srgbClr val="B27A21"/>
          </a:solidFill>
          <a:ln w="12700">
            <a:solidFill>
              <a:srgbClr val="B27A2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2713764" y="5907024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550" dirty="0"/>
          </a:p>
        </p:txBody>
      </p:sp>
      <p:sp>
        <p:nvSpPr>
          <p:cNvPr id="62" name="Text 60"/>
          <p:cNvSpPr/>
          <p:nvPr/>
        </p:nvSpPr>
        <p:spPr>
          <a:xfrm>
            <a:off x="2926080" y="5815583"/>
            <a:ext cx="11338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样车评审</a:t>
            </a:r>
            <a:endParaRPr lang="en-US" sz="660" dirty="0"/>
          </a:p>
        </p:txBody>
      </p:sp>
      <p:sp>
        <p:nvSpPr>
          <p:cNvPr id="63" name="Text 61"/>
          <p:cNvSpPr/>
          <p:nvPr/>
        </p:nvSpPr>
        <p:spPr>
          <a:xfrm>
            <a:off x="2905788" y="5970029"/>
            <a:ext cx="11338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关键决策</a:t>
            </a:r>
            <a:endParaRPr lang="en-US" sz="580" dirty="0"/>
          </a:p>
        </p:txBody>
      </p:sp>
      <p:sp>
        <p:nvSpPr>
          <p:cNvPr id="64" name="Shape 62"/>
          <p:cNvSpPr/>
          <p:nvPr/>
        </p:nvSpPr>
        <p:spPr>
          <a:xfrm>
            <a:off x="4754880" y="5376672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F4F5F7"/>
          </a:solidFill>
          <a:ln w="13970">
            <a:solidFill>
              <a:srgbClr val="CBD2D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9744" y="5431536"/>
            <a:ext cx="182880" cy="182880"/>
          </a:xfrm>
          <a:prstGeom prst="ellipse">
            <a:avLst/>
          </a:prstGeom>
          <a:solidFill>
            <a:srgbClr val="CBD2DA"/>
          </a:solidFill>
          <a:ln w="12700">
            <a:solidFill>
              <a:srgbClr val="CBD2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18888" y="5445252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550" dirty="0"/>
          </a:p>
        </p:txBody>
      </p:sp>
      <p:sp>
        <p:nvSpPr>
          <p:cNvPr id="67" name="Text 65"/>
          <p:cNvSpPr/>
          <p:nvPr/>
        </p:nvSpPr>
        <p:spPr>
          <a:xfrm>
            <a:off x="5010912" y="5449824"/>
            <a:ext cx="7680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收费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5010912" y="5623560"/>
            <a:ext cx="7680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10000元</a:t>
            </a:r>
            <a:endParaRPr lang="en-US" sz="580" dirty="0"/>
          </a:p>
        </p:txBody>
      </p:sp>
      <p:sp>
        <p:nvSpPr>
          <p:cNvPr id="69" name="Shape 67"/>
          <p:cNvSpPr/>
          <p:nvPr/>
        </p:nvSpPr>
        <p:spPr>
          <a:xfrm>
            <a:off x="4754880" y="5897880"/>
            <a:ext cx="1234440" cy="411480"/>
          </a:xfrm>
          <a:prstGeom prst="roundRect">
            <a:avLst>
              <a:gd name="adj" fmla="val 13333"/>
            </a:avLst>
          </a:prstGeom>
          <a:solidFill>
            <a:srgbClr val="E8F3F2"/>
          </a:solidFill>
          <a:ln w="13970">
            <a:solidFill>
              <a:srgbClr val="2F7B7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09744" y="5952744"/>
            <a:ext cx="182880" cy="182880"/>
          </a:xfrm>
          <a:prstGeom prst="ellipse">
            <a:avLst/>
          </a:prstGeom>
          <a:solidFill>
            <a:srgbClr val="2F7B79"/>
          </a:solidFill>
          <a:ln w="12700">
            <a:solidFill>
              <a:srgbClr val="2F7B7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18888" y="5966460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550" dirty="0"/>
          </a:p>
        </p:txBody>
      </p:sp>
      <p:sp>
        <p:nvSpPr>
          <p:cNvPr id="72" name="Text 70"/>
          <p:cNvSpPr/>
          <p:nvPr/>
        </p:nvSpPr>
        <p:spPr>
          <a:xfrm>
            <a:off x="5010912" y="5971032"/>
            <a:ext cx="905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月度评审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010912" y="6144768"/>
            <a:ext cx="90525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 / 12 月</a:t>
            </a:r>
            <a:endParaRPr lang="en-US" sz="580" dirty="0"/>
          </a:p>
        </p:txBody>
      </p:sp>
      <p:sp>
        <p:nvSpPr>
          <p:cNvPr id="74" name="Shape 72"/>
          <p:cNvSpPr/>
          <p:nvPr/>
        </p:nvSpPr>
        <p:spPr>
          <a:xfrm>
            <a:off x="7818120" y="1810512"/>
            <a:ext cx="3246120" cy="4315968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8101584" y="2048256"/>
            <a:ext cx="10058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当前工序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101584" y="2359152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06｜涂料采购</a:t>
            </a:r>
            <a:endParaRPr lang="en-US" sz="1900" dirty="0"/>
          </a:p>
        </p:txBody>
      </p:sp>
      <p:sp>
        <p:nvSpPr>
          <p:cNvPr id="77" name="Text 75"/>
          <p:cNvSpPr/>
          <p:nvPr/>
        </p:nvSpPr>
        <p:spPr>
          <a:xfrm>
            <a:off x="8119872" y="2788920"/>
            <a:ext cx="233172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负责人：张七巧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责任部门：采购部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截止时间：今天 17:00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材料进度：2 / 3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101584" y="3785616"/>
            <a:ext cx="2606040" cy="694944"/>
          </a:xfrm>
          <a:prstGeom prst="roundRect">
            <a:avLst>
              <a:gd name="adj" fmla="val 7895"/>
            </a:avLst>
          </a:prstGeom>
          <a:solidFill>
            <a:srgbClr val="F8EAEA"/>
          </a:solidFill>
          <a:ln w="10160">
            <a:solidFill>
              <a:srgbClr val="F0D4D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02752" y="3959352"/>
            <a:ext cx="8686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B94C4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当前缺失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302752" y="4187952"/>
            <a:ext cx="15087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94C4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到货确认记录</a:t>
            </a:r>
            <a:endParaRPr lang="en-US" sz="1250" dirty="0"/>
          </a:p>
        </p:txBody>
      </p:sp>
      <p:sp>
        <p:nvSpPr>
          <p:cNvPr id="81" name="Shape 79"/>
          <p:cNvSpPr/>
          <p:nvPr/>
        </p:nvSpPr>
        <p:spPr>
          <a:xfrm>
            <a:off x="8101584" y="4818888"/>
            <a:ext cx="1371600" cy="292608"/>
          </a:xfrm>
          <a:prstGeom prst="roundRect">
            <a:avLst>
              <a:gd name="adj" fmla="val 37500"/>
            </a:avLst>
          </a:prstGeom>
          <a:solidFill>
            <a:srgbClr val="315F86"/>
          </a:solidFill>
          <a:ln w="10160">
            <a:solidFill>
              <a:srgbClr val="315F8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11312" y="4855464"/>
            <a:ext cx="11521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提交工作进展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646920" y="4818888"/>
            <a:ext cx="109728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756648" y="4855464"/>
            <a:ext cx="8778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查看全部记录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 INTERACTION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04｜进展提交面板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目标：员工 60 秒内完成一次准确汇报，系统自动带出项目、工序、人员和时间。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43000" y="1353312"/>
            <a:ext cx="987552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72768" y="1737360"/>
            <a:ext cx="21031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提交工作进展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72768" y="2121408"/>
            <a:ext cx="34747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深海蓝定制色开发 · 步骤06 涂料采购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72768" y="2615184"/>
            <a:ext cx="320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56816" y="2651760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本次做了什么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572768" y="2980944"/>
            <a:ext cx="2542032" cy="2487168"/>
          </a:xfrm>
          <a:prstGeom prst="roundRect">
            <a:avLst>
              <a:gd name="adj" fmla="val 2941"/>
            </a:avLst>
          </a:prstGeom>
          <a:solidFill>
            <a:srgbClr val="FAFBFC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2615184"/>
            <a:ext cx="320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0056" y="2651760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是否有阻塞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36008" y="2980944"/>
            <a:ext cx="2542032" cy="2487168"/>
          </a:xfrm>
          <a:prstGeom prst="roundRect">
            <a:avLst>
              <a:gd name="adj" fmla="val 2941"/>
            </a:avLst>
          </a:prstGeom>
          <a:solidFill>
            <a:srgbClr val="FAFBFC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9248" y="2615184"/>
            <a:ext cx="320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83296" y="2651760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上传证明材料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99248" y="2980944"/>
            <a:ext cx="2542032" cy="2487168"/>
          </a:xfrm>
          <a:prstGeom prst="roundRect">
            <a:avLst>
              <a:gd name="adj" fmla="val 2941"/>
            </a:avLst>
          </a:prstGeom>
          <a:solidFill>
            <a:srgbClr val="FAFBFC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0512" y="3246120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282696"/>
            <a:ext cx="6949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尚未开始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34640" y="3246120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EAF1F7"/>
          </a:solidFill>
          <a:ln w="10160">
            <a:solidFill>
              <a:srgbClr val="C7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3282696"/>
            <a:ext cx="6949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正在进行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10512" y="3657600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3694176"/>
            <a:ext cx="6949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34640" y="3657600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44368" y="3694176"/>
            <a:ext cx="6949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遇到阻塞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810512" y="4160520"/>
            <a:ext cx="9144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完成内容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10512" y="4434840"/>
            <a:ext cx="2011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3246120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F7EEDC"/>
          </a:solidFill>
          <a:ln w="10160">
            <a:solidFill>
              <a:srgbClr val="B27A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3282696"/>
            <a:ext cx="6949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B27A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等待材料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16168" y="3246120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25896" y="3282696"/>
            <a:ext cx="6949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等待确认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92040" y="3657600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01768" y="3694176"/>
            <a:ext cx="6949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供应商问题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16168" y="3657600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25896" y="3694176"/>
            <a:ext cx="69494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其他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92040" y="4160520"/>
            <a:ext cx="10972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需要谁协助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92040" y="443484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4517136"/>
            <a:ext cx="14630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采购主管 / 供应商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7973568" y="3246120"/>
            <a:ext cx="1463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必交材料 2 / 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01000" y="3566160"/>
            <a:ext cx="128016" cy="128016"/>
          </a:xfrm>
          <a:prstGeom prst="ellipse">
            <a:avLst/>
          </a:prstGeom>
          <a:solidFill>
            <a:srgbClr val="367A54"/>
          </a:solidFill>
          <a:ln w="12700">
            <a:solidFill>
              <a:srgbClr val="367A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74736" y="3547872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采购申请单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001000" y="3895344"/>
            <a:ext cx="128016" cy="128016"/>
          </a:xfrm>
          <a:prstGeom prst="ellipse">
            <a:avLst/>
          </a:prstGeom>
          <a:solidFill>
            <a:srgbClr val="367A54"/>
          </a:solidFill>
          <a:ln w="12700">
            <a:solidFill>
              <a:srgbClr val="367A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74736" y="3877056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供应商确认单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001000" y="4224528"/>
            <a:ext cx="128016" cy="128016"/>
          </a:xfrm>
          <a:prstGeom prst="ellipse">
            <a:avLst/>
          </a:prstGeom>
          <a:solidFill>
            <a:srgbClr val="B94C4C"/>
          </a:solidFill>
          <a:ln w="12700">
            <a:solidFill>
              <a:srgbClr val="B94C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74736" y="4206240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到货确认记录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973568" y="461772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4773168"/>
            <a:ext cx="1417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拖拽文件到此处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或选择文件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15200" y="5779008"/>
            <a:ext cx="109728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24928" y="5815584"/>
            <a:ext cx="87782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保存草稿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577072" y="5779008"/>
            <a:ext cx="1143000" cy="292608"/>
          </a:xfrm>
          <a:prstGeom prst="roundRect">
            <a:avLst>
              <a:gd name="adj" fmla="val 37500"/>
            </a:avLst>
          </a:prstGeom>
          <a:solidFill>
            <a:srgbClr val="315F86"/>
          </a:solidFill>
          <a:ln w="10160">
            <a:solidFill>
              <a:srgbClr val="315F8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5815584"/>
            <a:ext cx="92354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提交进展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05｜我的任务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7315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任务页是员工的操作队列：待处理、待评审、即将到期、已逾期、已完成。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5074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53312"/>
            <a:ext cx="10881360" cy="420624"/>
          </a:xfrm>
          <a:prstGeom prst="rect">
            <a:avLst/>
          </a:prstGeom>
          <a:solidFill>
            <a:srgbClr val="FBFBFC"/>
          </a:solidFill>
          <a:ln w="6350">
            <a:solidFill>
              <a:srgbClr val="E2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81328"/>
            <a:ext cx="5440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我的任务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13648" y="1481328"/>
            <a:ext cx="2651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 16 项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005840" y="1874520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EAF1F7"/>
          </a:solidFill>
          <a:ln w="10160">
            <a:solidFill>
              <a:srgbClr val="C7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911096"/>
            <a:ext cx="6035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待我处理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65960" y="1874520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1911096"/>
            <a:ext cx="6035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待我评审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0" y="1874520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1911096"/>
            <a:ext cx="6035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即将到期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86200" y="1874520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95928" y="1911096"/>
            <a:ext cx="6035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已逾期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1874520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1911096"/>
            <a:ext cx="6035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5840" y="2514600"/>
            <a:ext cx="9966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2514600"/>
            <a:ext cx="45720" cy="786384"/>
          </a:xfrm>
          <a:prstGeom prst="rect">
            <a:avLst/>
          </a:prstGeom>
          <a:solidFill>
            <a:srgbClr val="B94C4C"/>
          </a:solidFill>
          <a:ln w="12700">
            <a:solidFill>
              <a:srgbClr val="B94C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2670048"/>
            <a:ext cx="2286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深海蓝定制色开发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03320" y="2670048"/>
            <a:ext cx="1874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步骤06｜涂料采购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06440" y="2670048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94C4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 17:00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86600" y="2670048"/>
            <a:ext cx="960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 2/3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555480" y="2743200"/>
            <a:ext cx="914400" cy="237744"/>
          </a:xfrm>
          <a:prstGeom prst="roundRect">
            <a:avLst>
              <a:gd name="adj" fmla="val 46154"/>
            </a:avLst>
          </a:prstGeom>
          <a:solidFill>
            <a:srgbClr val="315F86"/>
          </a:solidFill>
          <a:ln w="10160">
            <a:solidFill>
              <a:srgbClr val="315F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65208" y="2779776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提交进展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234440" y="2990088"/>
            <a:ext cx="1645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最后更新 2小时前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1005840" y="3493008"/>
            <a:ext cx="9966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3493008"/>
            <a:ext cx="45720" cy="786384"/>
          </a:xfrm>
          <a:prstGeom prst="rect">
            <a:avLst/>
          </a:prstGeom>
          <a:solidFill>
            <a:srgbClr val="B27A21"/>
          </a:solidFill>
          <a:ln w="12700">
            <a:solidFill>
              <a:srgbClr val="B27A2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3648456"/>
            <a:ext cx="2286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星河银定制色开发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703320" y="3648456"/>
            <a:ext cx="1874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步骤12｜样车评审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806440" y="3648456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27A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待评审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86600" y="3648456"/>
            <a:ext cx="960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 2/2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555480" y="3721608"/>
            <a:ext cx="914400" cy="237744"/>
          </a:xfrm>
          <a:prstGeom prst="roundRect">
            <a:avLst>
              <a:gd name="adj" fmla="val 46154"/>
            </a:avLst>
          </a:prstGeom>
          <a:solidFill>
            <a:srgbClr val="315F86"/>
          </a:solidFill>
          <a:ln w="10160">
            <a:solidFill>
              <a:srgbClr val="315F8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65208" y="3758184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开始评审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34440" y="3968496"/>
            <a:ext cx="1645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最后更新 2小时前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1005840" y="4471416"/>
            <a:ext cx="9966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4471416"/>
            <a:ext cx="45720" cy="786384"/>
          </a:xfrm>
          <a:prstGeom prst="rect">
            <a:avLst/>
          </a:prstGeom>
          <a:solidFill>
            <a:srgbClr val="2F7B79"/>
          </a:solidFill>
          <a:ln w="12700">
            <a:solidFill>
              <a:srgbClr val="2F7B7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34440" y="4626864"/>
            <a:ext cx="2286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极光白定制色开发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703320" y="4626864"/>
            <a:ext cx="1874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步骤17｜月度评审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806440" y="4626864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7B7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本月到期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86600" y="4626864"/>
            <a:ext cx="960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3/12 月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555480" y="4700016"/>
            <a:ext cx="914400" cy="237744"/>
          </a:xfrm>
          <a:prstGeom prst="roundRect">
            <a:avLst>
              <a:gd name="adj" fmla="val 46154"/>
            </a:avLst>
          </a:prstGeom>
          <a:solidFill>
            <a:srgbClr val="315F86"/>
          </a:solidFill>
          <a:ln w="10160">
            <a:solidFill>
              <a:srgbClr val="315F8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65208" y="4736592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234440" y="4946904"/>
            <a:ext cx="1645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最后更新 2小时前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1005840" y="5449824"/>
            <a:ext cx="99669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05840" y="5449824"/>
            <a:ext cx="45720" cy="786384"/>
          </a:xfrm>
          <a:prstGeom prst="rect">
            <a:avLst/>
          </a:prstGeom>
          <a:solidFill>
            <a:srgbClr val="315F86"/>
          </a:solidFill>
          <a:ln w="12700">
            <a:solidFill>
              <a:srgbClr val="315F8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34440" y="5605272"/>
            <a:ext cx="2286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沙岩灰定制色开发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703320" y="5605272"/>
            <a:ext cx="1874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步骤13｜开发收费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806440" y="5605272"/>
            <a:ext cx="11430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明天到期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086600" y="5605272"/>
            <a:ext cx="960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凭证待传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555480" y="5678424"/>
            <a:ext cx="914400" cy="237744"/>
          </a:xfrm>
          <a:prstGeom prst="roundRect">
            <a:avLst>
              <a:gd name="adj" fmla="val 46154"/>
            </a:avLst>
          </a:prstGeom>
          <a:solidFill>
            <a:srgbClr val="315F86"/>
          </a:solidFill>
          <a:ln w="10160">
            <a:solidFill>
              <a:srgbClr val="315F8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65208" y="5715000"/>
            <a:ext cx="6949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上传凭证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234440" y="5925312"/>
            <a:ext cx="1645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最后更新 2小时前</a:t>
            </a:r>
            <a:endParaRPr lang="en-US" sz="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06｜进展材料上传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74980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当前阶段只做“进展材料上传”：按项目、工序、材料类型提交证明材料。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5074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53312"/>
            <a:ext cx="10881360" cy="420624"/>
          </a:xfrm>
          <a:prstGeom prst="rect">
            <a:avLst/>
          </a:prstGeom>
          <a:solidFill>
            <a:srgbClr val="FBFBFC"/>
          </a:solidFill>
          <a:ln w="6350">
            <a:solidFill>
              <a:srgbClr val="E2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81328"/>
            <a:ext cx="5440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进展材料上传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13648" y="1481328"/>
            <a:ext cx="2651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项目与工序自动带出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005840" y="1874520"/>
            <a:ext cx="2834640" cy="4069080"/>
          </a:xfrm>
          <a:prstGeom prst="roundRect">
            <a:avLst>
              <a:gd name="adj" fmla="val 2581"/>
            </a:avLst>
          </a:prstGeom>
          <a:solidFill>
            <a:srgbClr val="FAFBFC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2148840"/>
            <a:ext cx="1005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必交材料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2606040"/>
            <a:ext cx="22860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2807208"/>
            <a:ext cx="82296" cy="82296"/>
          </a:xfrm>
          <a:prstGeom prst="ellipse">
            <a:avLst/>
          </a:prstGeom>
          <a:solidFill>
            <a:srgbClr val="367A54"/>
          </a:solidFill>
          <a:ln w="12700">
            <a:solidFill>
              <a:srgbClr val="367A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7048" y="2793492"/>
            <a:ext cx="731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采购申请单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2880360" y="2761488"/>
            <a:ext cx="5029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67A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已提交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234440" y="3319272"/>
            <a:ext cx="22860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7320" y="3520440"/>
            <a:ext cx="82296" cy="82296"/>
          </a:xfrm>
          <a:prstGeom prst="ellipse">
            <a:avLst/>
          </a:prstGeom>
          <a:solidFill>
            <a:srgbClr val="367A54"/>
          </a:solidFill>
          <a:ln w="12700">
            <a:solidFill>
              <a:srgbClr val="367A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7048" y="3506724"/>
            <a:ext cx="731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供应商确认单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2880360" y="3474720"/>
            <a:ext cx="5029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367A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已提交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234440" y="4032504"/>
            <a:ext cx="22860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4233672"/>
            <a:ext cx="82296" cy="82296"/>
          </a:xfrm>
          <a:prstGeom prst="ellipse">
            <a:avLst/>
          </a:prstGeom>
          <a:solidFill>
            <a:srgbClr val="B94C4C"/>
          </a:solidFill>
          <a:ln w="12700">
            <a:solidFill>
              <a:srgbClr val="B94C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27048" y="4219956"/>
            <a:ext cx="731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到货确认记录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2880360" y="4187952"/>
            <a:ext cx="5029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94C4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缺失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160520" y="1874520"/>
            <a:ext cx="2926080" cy="4069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2148840"/>
            <a:ext cx="1097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上传材料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80560" y="260604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FAFBFC"/>
          </a:solidFill>
          <a:ln w="10160">
            <a:solidFill>
              <a:srgbClr val="D3DA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3063240"/>
            <a:ext cx="15087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拖拽文件到此处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或选择文件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10912" y="3703320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315F86"/>
          </a:solidFill>
          <a:ln w="10160">
            <a:solidFill>
              <a:srgbClr val="315F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739896"/>
            <a:ext cx="7863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选择文件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4453128"/>
            <a:ext cx="7315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材料类型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230368" y="4370832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4443984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到货确认记录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360920" y="1874520"/>
            <a:ext cx="3474720" cy="4069080"/>
          </a:xfrm>
          <a:prstGeom prst="roundRect">
            <a:avLst>
              <a:gd name="adj" fmla="val 2105"/>
            </a:avLst>
          </a:prstGeom>
          <a:solidFill>
            <a:srgbClr val="FAFBFC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2148840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已上传材料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35240" y="2615184"/>
            <a:ext cx="28803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2761488"/>
            <a:ext cx="12344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采购申请单.pdf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7818120" y="2944368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张七巧 · V1 · 审核通过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738360" y="2761488"/>
            <a:ext cx="530352" cy="201168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48088" y="2798064"/>
            <a:ext cx="3108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7635240" y="3364992"/>
            <a:ext cx="28803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3511296"/>
            <a:ext cx="12344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供应商确认单.xlsx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7818120" y="3694176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张七巧 · V1 · 已提交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738360" y="3511296"/>
            <a:ext cx="530352" cy="201168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48088" y="3547872"/>
            <a:ext cx="31089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PAGE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07｜项目生命周期复盘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7406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项目完成后自动生成复盘草稿：周期、延期、返工、卡点和改进措施。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5074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53312"/>
            <a:ext cx="10881360" cy="420624"/>
          </a:xfrm>
          <a:prstGeom prst="rect">
            <a:avLst/>
          </a:prstGeom>
          <a:solidFill>
            <a:srgbClr val="FBFBFC"/>
          </a:solidFill>
          <a:ln w="6350">
            <a:solidFill>
              <a:srgbClr val="E2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81328"/>
            <a:ext cx="5440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深海蓝定制色开发｜项目复盘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13648" y="1481328"/>
            <a:ext cx="2651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完成后自动生成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1005840" y="187452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61872" y="2103120"/>
            <a:ext cx="822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最终结论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61872" y="2432304"/>
            <a:ext cx="13716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67A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颜色保留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61872" y="2788920"/>
            <a:ext cx="1828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年产量 46 台｜月度评审 12/12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94760" y="187452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50792" y="2103120"/>
            <a:ext cx="822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周期表现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50792" y="2432304"/>
            <a:ext cx="1508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94C4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延期 27 天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50792" y="2788920"/>
            <a:ext cx="1828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计划 320 天｜实际 347 天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83680" y="1874520"/>
            <a:ext cx="4069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39712" y="2103120"/>
            <a:ext cx="822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关键卡点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39712" y="2432304"/>
            <a:ext cx="22402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涂料采购｜延期 14 天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39712" y="2816352"/>
            <a:ext cx="24231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原因：供应商到货确认周期过长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05840" y="3520440"/>
            <a:ext cx="4754880" cy="2148840"/>
          </a:xfrm>
          <a:prstGeom prst="roundRect">
            <a:avLst>
              <a:gd name="adj" fmla="val 3404"/>
            </a:avLst>
          </a:prstGeom>
          <a:solidFill>
            <a:srgbClr val="FAFBFC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61872" y="3749040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计划与实际对比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61872" y="4114800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需求与开发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2542032" y="4206240"/>
            <a:ext cx="2148840" cy="0"/>
          </a:xfrm>
          <a:prstGeom prst="line">
            <a:avLst/>
          </a:prstGeom>
          <a:noFill/>
          <a:ln w="50800">
            <a:solidFill>
              <a:srgbClr val="E9EDF2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542032" y="4206240"/>
            <a:ext cx="1933956" cy="0"/>
          </a:xfrm>
          <a:prstGeom prst="line">
            <a:avLst/>
          </a:prstGeom>
          <a:noFill/>
          <a:ln w="50800">
            <a:solidFill>
              <a:srgbClr val="367A54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4828032" y="4114800"/>
            <a:ext cx="685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67A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20天 → 18天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1261872" y="4443984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采购与验证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2542032" y="4535424"/>
            <a:ext cx="2148840" cy="0"/>
          </a:xfrm>
          <a:prstGeom prst="line">
            <a:avLst/>
          </a:prstGeom>
          <a:noFill/>
          <a:ln w="50800">
            <a:solidFill>
              <a:srgbClr val="E9EDF2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2542032" y="4535424"/>
            <a:ext cx="2148840" cy="0"/>
          </a:xfrm>
          <a:prstGeom prst="line">
            <a:avLst/>
          </a:prstGeom>
          <a:noFill/>
          <a:ln w="50800">
            <a:solidFill>
              <a:srgbClr val="B94C4C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4828032" y="4443984"/>
            <a:ext cx="685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B94C4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30天 → 44天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1261872" y="4773168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试制与评审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2542032" y="4864608"/>
            <a:ext cx="2148840" cy="0"/>
          </a:xfrm>
          <a:prstGeom prst="line">
            <a:avLst/>
          </a:prstGeom>
          <a:noFill/>
          <a:ln w="50800">
            <a:solidFill>
              <a:srgbClr val="E9EDF2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2542032" y="4864608"/>
            <a:ext cx="1826514" cy="0"/>
          </a:xfrm>
          <a:prstGeom prst="line">
            <a:avLst/>
          </a:prstGeom>
          <a:noFill/>
          <a:ln w="50800">
            <a:solidFill>
              <a:srgbClr val="B94C4C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4828032" y="4773168"/>
            <a:ext cx="685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B94C4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12天 → 25天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1261872" y="5102352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批量生产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2542032" y="5193792"/>
            <a:ext cx="2148840" cy="0"/>
          </a:xfrm>
          <a:prstGeom prst="line">
            <a:avLst/>
          </a:prstGeom>
          <a:noFill/>
          <a:ln w="50800">
            <a:solidFill>
              <a:srgbClr val="E9EDF2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542032" y="5193792"/>
            <a:ext cx="1181862" cy="0"/>
          </a:xfrm>
          <a:prstGeom prst="line">
            <a:avLst/>
          </a:prstGeom>
          <a:noFill/>
          <a:ln w="50800">
            <a:solidFill>
              <a:srgbClr val="367A54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4828032" y="5102352"/>
            <a:ext cx="685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67A5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5天 → 5天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5989320" y="3520440"/>
            <a:ext cx="46634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3749040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改进措施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63640" y="4114800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采购前必须完成供应商交期确认。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263640" y="4480560"/>
            <a:ext cx="310896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责任部门：采购部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完成日期：2026年7月30日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后续规则：进入涂料采购前，必须上传供应商交期确认。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5285232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315F86"/>
          </a:solidFill>
          <a:ln w="10160">
            <a:solidFill>
              <a:srgbClr val="315F8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5321808"/>
            <a:ext cx="74066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完成复盘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06640" y="5285232"/>
            <a:ext cx="82296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16368" y="5321808"/>
            <a:ext cx="6035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导出PDF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ADMIN PAGE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08｜后台管理看板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7955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管理员只需要组织与权限、流程与参数、系统审计三类能力，避免普通用户误入配置。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10881360" cy="5074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53312"/>
            <a:ext cx="10881360" cy="420624"/>
          </a:xfrm>
          <a:prstGeom prst="rect">
            <a:avLst/>
          </a:prstGeom>
          <a:solidFill>
            <a:srgbClr val="FBFBFC"/>
          </a:solidFill>
          <a:ln w="6350">
            <a:solidFill>
              <a:srgbClr val="E2E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81328"/>
            <a:ext cx="5440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后台管理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13648" y="1481328"/>
            <a:ext cx="2651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20" dirty="0">
                <a:solidFill>
                  <a:srgbClr val="8B93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仅管理员可见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987552" y="1874520"/>
            <a:ext cx="1920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984248"/>
            <a:ext cx="16642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15568" y="2157984"/>
            <a:ext cx="16642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126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87552" y="2569464"/>
            <a:ext cx="1920240" cy="18288"/>
          </a:xfrm>
          <a:prstGeom prst="rect">
            <a:avLst/>
          </a:prstGeom>
          <a:solidFill>
            <a:srgbClr val="315F86"/>
          </a:solidFill>
          <a:ln w="12700">
            <a:solidFill>
              <a:srgbClr val="315F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9272" y="1874520"/>
            <a:ext cx="1920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1984248"/>
            <a:ext cx="16642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部门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47288" y="2157984"/>
            <a:ext cx="16642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319272" y="2569464"/>
            <a:ext cx="1920240" cy="18288"/>
          </a:xfrm>
          <a:prstGeom prst="rect">
            <a:avLst/>
          </a:prstGeom>
          <a:solidFill>
            <a:srgbClr val="315F86"/>
          </a:solidFill>
          <a:ln w="12700">
            <a:solidFill>
              <a:srgbClr val="315F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50992" y="1874520"/>
            <a:ext cx="1920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9008" y="1984248"/>
            <a:ext cx="16642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流程模板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779008" y="2157984"/>
            <a:ext cx="16642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50992" y="2569464"/>
            <a:ext cx="1920240" cy="18288"/>
          </a:xfrm>
          <a:prstGeom prst="rect">
            <a:avLst/>
          </a:prstGeom>
          <a:solidFill>
            <a:srgbClr val="315F86"/>
          </a:solidFill>
          <a:ln w="12700">
            <a:solidFill>
              <a:srgbClr val="315F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82712" y="1874520"/>
            <a:ext cx="1920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1984248"/>
            <a:ext cx="166420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异常操作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110728" y="2157984"/>
            <a:ext cx="16642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982712" y="2569464"/>
            <a:ext cx="1920240" cy="18288"/>
          </a:xfrm>
          <a:prstGeom prst="rect">
            <a:avLst/>
          </a:prstGeom>
          <a:solidFill>
            <a:srgbClr val="367A54"/>
          </a:solidFill>
          <a:ln w="12700">
            <a:solidFill>
              <a:srgbClr val="367A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7552" y="3063240"/>
            <a:ext cx="4434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16152" y="3264408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组织与人员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16152" y="3566160"/>
            <a:ext cx="29260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用户、部门、岗位、飞书用户映射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16552" y="3355848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 w="10160">
            <a:solidFill>
              <a:srgbClr val="C7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3392424"/>
            <a:ext cx="42062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788152" y="3063240"/>
            <a:ext cx="4434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16752" y="3264408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角色与权限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566160"/>
            <a:ext cx="29260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项目可见性、工序操作、评审权限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217152" y="3355848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 w="10160">
            <a:solidFill>
              <a:srgbClr val="C7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0" y="3392424"/>
            <a:ext cx="42062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987552" y="4160520"/>
            <a:ext cx="4434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216152" y="4361688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流程与参数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16152" y="4663440"/>
            <a:ext cx="29260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节点责任、工作日历、收费金额、退出阈值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16552" y="4453128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 w="10160">
            <a:solidFill>
              <a:srgbClr val="C7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4489704"/>
            <a:ext cx="42062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788152" y="4160520"/>
            <a:ext cx="4434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016752" y="4361688"/>
            <a:ext cx="1463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系统审计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016752" y="4663440"/>
            <a:ext cx="29260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登录记录、状态变更、附件上传、异常行为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217152" y="4453128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AF1F7"/>
          </a:solidFill>
          <a:ln w="10160">
            <a:solidFill>
              <a:srgbClr val="C7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0" y="4489704"/>
            <a:ext cx="42062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0350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落地优先级与验收标准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21792" y="932688"/>
            <a:ext cx="7772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先把三个决定体验的场景打磨到位：员工工作台、项目工作区、进展提交。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102870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70432" y="1755648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1719072"/>
            <a:ext cx="12801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员工体验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46120" y="1737360"/>
            <a:ext cx="6949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秒内找到自己的任务；60 秒内完成进展提交；无需重复选择项目/工序。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102870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70432" y="2990088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2953512"/>
            <a:ext cx="12801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项目经理体验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46120" y="2971800"/>
            <a:ext cx="6949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秒内看到风险项目；2 次点击进入停滞节点；能看到原因与预计解除时间。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914400" y="3977640"/>
            <a:ext cx="102870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0160">
            <a:solidFill>
              <a:srgbClr val="E2E5E9"/>
            </a:solidFill>
            <a:prstDash val="solid"/>
          </a:ln>
          <a:effectLst>
            <a:outerShdw blurRad="25400" dist="50800" dir="2700000" algn="bl" rotWithShape="0">
              <a:srgbClr val="C8CDD4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70432" y="4224528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37360" y="4187952"/>
            <a:ext cx="12801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管理层体验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4206240"/>
            <a:ext cx="6949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E64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一页看到周期、延期、返工和颜色退出结论；复盘自动生成改进措施。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914400" y="5486400"/>
            <a:ext cx="10287000" cy="566928"/>
          </a:xfrm>
          <a:prstGeom prst="roundRect">
            <a:avLst>
              <a:gd name="adj" fmla="val 12903"/>
            </a:avLst>
          </a:prstGeom>
          <a:solidFill>
            <a:srgbClr val="EAF1F7"/>
          </a:solidFill>
          <a:ln w="10160">
            <a:solidFill>
              <a:srgbClr val="C7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5650992"/>
            <a:ext cx="9601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15F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产品重构原则：同一数据只维护一次，同一概念只有一个入口，页面必须有主动作，默认只显示必要信息。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760</Words>
  <Application>Microsoft Macintosh PowerPoint</Application>
  <PresentationFormat>宽屏</PresentationFormat>
  <Paragraphs>349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PingFang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轻卡定制色开发系统_Apple风产品UI设计稿</dc:title>
  <dc:subject>轻卡定制色开发系统 UI 产品设计</dc:subject>
  <dc:creator>OpenAI</dc:creator>
  <cp:lastModifiedBy>Xiaochen Li</cp:lastModifiedBy>
  <cp:revision>2</cp:revision>
  <dcterms:created xsi:type="dcterms:W3CDTF">2026-07-13T03:16:47Z</dcterms:created>
  <dcterms:modified xsi:type="dcterms:W3CDTF">2026-07-13T05:15:23Z</dcterms:modified>
</cp:coreProperties>
</file>