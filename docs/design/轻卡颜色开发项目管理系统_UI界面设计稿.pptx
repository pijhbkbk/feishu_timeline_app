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548640"/>
            <a:ext cx="11155680" cy="5806440"/>
          </a:xfrm>
          <a:prstGeom prst="roundRect">
            <a:avLst>
              <a:gd name="adj" fmla="val 3780"/>
            </a:avLst>
          </a:prstGeom>
          <a:solidFill>
            <a:srgbClr val="FFFFFF"/>
          </a:solidFill>
          <a:ln w="7620">
            <a:solidFill>
              <a:srgbClr val="D9E2EC"/>
            </a:solidFill>
            <a:prstDash val="solid"/>
          </a:ln>
          <a:effectLst>
            <a:outerShdw sx="100000" sy="100000" kx="0" ky="0" algn="bl" rotWithShape="0" blurRad="38100" dist="50800" dir="2700000">
              <a:srgbClr val="CBD5E1">
                <a:alpha val="22000"/>
              </a:srgbClr>
            </a:outerShdw>
          </a:effectLst>
        </p:spPr>
      </p:sp>
      <p:sp>
        <p:nvSpPr>
          <p:cNvPr id="3" name="Shape 1"/>
          <p:cNvSpPr/>
          <p:nvPr/>
        </p:nvSpPr>
        <p:spPr>
          <a:xfrm>
            <a:off x="868680" y="914400"/>
            <a:ext cx="3931920" cy="5120640"/>
          </a:xfrm>
          <a:prstGeom prst="roundRect">
            <a:avLst>
              <a:gd name="adj" fmla="val 5116"/>
            </a:avLst>
          </a:prstGeom>
          <a:solidFill>
            <a:srgbClr val="F8FAFC"/>
          </a:solidFill>
          <a:ln w="7620">
            <a:solidFill>
              <a:srgbClr val="D9E2E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257800" y="105156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轻卡定制颜色开发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257800" y="1536192"/>
            <a:ext cx="5760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2563E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项目管理系统 UI 界面设计稿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5257800" y="2029968"/>
            <a:ext cx="5943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中文化 · 时间线看板 · 工序清单 · 材料提交 · 数据中心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257800" y="2514600"/>
            <a:ext cx="1188720" cy="256032"/>
          </a:xfrm>
          <a:prstGeom prst="roundRect">
            <a:avLst>
              <a:gd name="adj" fmla="val 42857"/>
            </a:avLst>
          </a:prstGeom>
          <a:solidFill>
            <a:srgbClr val="DBEAFE"/>
          </a:solidFill>
          <a:ln w="7620">
            <a:solidFill>
              <a:srgbClr val="DBEAF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257800" y="2519172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563E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产品化界面方案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6629400" y="2514600"/>
            <a:ext cx="1298448" cy="256032"/>
          </a:xfrm>
          <a:prstGeom prst="roundRect">
            <a:avLst>
              <a:gd name="adj" fmla="val 42857"/>
            </a:avLst>
          </a:prstGeom>
          <a:solidFill>
            <a:srgbClr val="CFFAFE"/>
          </a:solidFill>
          <a:ln w="7620">
            <a:solidFill>
              <a:srgbClr val="CFFAF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629400" y="2519172"/>
            <a:ext cx="12984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6B6D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制造业流程管理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8138160" y="2514600"/>
            <a:ext cx="1508760" cy="256032"/>
          </a:xfrm>
          <a:prstGeom prst="roundRect">
            <a:avLst>
              <a:gd name="adj" fmla="val 42857"/>
            </a:avLst>
          </a:prstGeom>
          <a:solidFill>
            <a:srgbClr val="FEF3C7"/>
          </a:solidFill>
          <a:ln w="7620">
            <a:solidFill>
              <a:srgbClr val="FEF3C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138160" y="2519172"/>
            <a:ext cx="1508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59E0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SLA / 责任 / 材料留痕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1143000" y="1188720"/>
            <a:ext cx="3200400" cy="443484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7620">
            <a:solidFill>
              <a:srgbClr val="D9E2EC"/>
            </a:solidFill>
            <a:prstDash val="solid"/>
          </a:ln>
          <a:effectLst>
            <a:outerShdw sx="100000" sy="100000" kx="0" ky="0" algn="bl" rotWithShape="0" blurRad="483870000" dist="645160000" dir="162000000000">
              <a:srgbClr val="CBD5E1">
                <a:alpha val="220000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1143000" y="1188720"/>
            <a:ext cx="3200400" cy="438912"/>
          </a:xfrm>
          <a:prstGeom prst="roundRect">
            <a:avLst>
              <a:gd name="adj" fmla="val 33333"/>
            </a:avLst>
          </a:prstGeom>
          <a:solidFill>
            <a:srgbClr val="EFF6FF"/>
          </a:solidFill>
          <a:ln w="7620">
            <a:solidFill>
              <a:srgbClr val="D9E2E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344168" y="1353312"/>
            <a:ext cx="109728" cy="109728"/>
          </a:xfrm>
          <a:prstGeom prst="ellipse">
            <a:avLst/>
          </a:prstGeom>
          <a:solidFill>
            <a:srgbClr val="F87171"/>
          </a:solidFill>
          <a:ln w="6350">
            <a:solidFill>
              <a:srgbClr val="F87171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527048" y="1353312"/>
            <a:ext cx="109728" cy="109728"/>
          </a:xfrm>
          <a:prstGeom prst="ellipse">
            <a:avLst/>
          </a:prstGeom>
          <a:solidFill>
            <a:srgbClr val="FBBF24"/>
          </a:solidFill>
          <a:ln w="6350">
            <a:solidFill>
              <a:srgbClr val="FBBF24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709928" y="1353312"/>
            <a:ext cx="109728" cy="109728"/>
          </a:xfrm>
          <a:prstGeom prst="ellipse">
            <a:avLst/>
          </a:prstGeom>
          <a:solidFill>
            <a:srgbClr val="34D399"/>
          </a:solidFill>
          <a:ln w="6350">
            <a:solidFill>
              <a:srgbClr val="34D39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984248" y="1307592"/>
            <a:ext cx="2103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项目进度驾驶舱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1143000" y="1627632"/>
            <a:ext cx="1417320" cy="3995928"/>
          </a:xfrm>
          <a:prstGeom prst="rect">
            <a:avLst>
              <a:gd name="adj" fmla="val 5161"/>
            </a:avLst>
          </a:prstGeom>
          <a:solidFill>
            <a:srgbClr val="0F172A"/>
          </a:solidFill>
          <a:ln w="7620">
            <a:solidFill>
              <a:srgbClr val="0F172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307592" y="1810512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颜色开发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307592" y="2066544"/>
            <a:ext cx="1143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60" dirty="0">
                <a:solidFill>
                  <a:srgbClr val="CBD5E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项目管理系统</a:t>
            </a:r>
            <a:endParaRPr lang="en-US" sz="760" dirty="0"/>
          </a:p>
        </p:txBody>
      </p:sp>
      <p:sp>
        <p:nvSpPr>
          <p:cNvPr id="22" name="Shape 20"/>
          <p:cNvSpPr/>
          <p:nvPr/>
        </p:nvSpPr>
        <p:spPr>
          <a:xfrm>
            <a:off x="1261872" y="2523744"/>
            <a:ext cx="1179576" cy="301752"/>
          </a:xfrm>
          <a:prstGeom prst="roundRect">
            <a:avLst>
              <a:gd name="adj" fmla="val 24242"/>
            </a:avLst>
          </a:prstGeom>
          <a:solidFill>
            <a:srgbClr val="2563EB"/>
          </a:solidFill>
          <a:ln w="7620">
            <a:solidFill>
              <a:srgbClr val="2563E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399032" y="2587752"/>
            <a:ext cx="10058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工作台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1261872" y="2944368"/>
            <a:ext cx="1179576" cy="301752"/>
          </a:xfrm>
          <a:prstGeom prst="roundRect">
            <a:avLst>
              <a:gd name="adj" fmla="val 24242"/>
            </a:avLst>
          </a:prstGeom>
          <a:solidFill>
            <a:srgbClr val="0F172A"/>
          </a:solidFill>
          <a:ln w="7620">
            <a:solidFill>
              <a:srgbClr val="0F172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399032" y="3008376"/>
            <a:ext cx="10058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CBD5E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项目管理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1261872" y="3364992"/>
            <a:ext cx="1179576" cy="301752"/>
          </a:xfrm>
          <a:prstGeom prst="roundRect">
            <a:avLst>
              <a:gd name="adj" fmla="val 24242"/>
            </a:avLst>
          </a:prstGeom>
          <a:solidFill>
            <a:srgbClr val="0F172A"/>
          </a:solidFill>
          <a:ln w="7620">
            <a:solidFill>
              <a:srgbClr val="0F172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399032" y="3429000"/>
            <a:ext cx="10058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CBD5E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工序管理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1261872" y="3785616"/>
            <a:ext cx="1179576" cy="301752"/>
          </a:xfrm>
          <a:prstGeom prst="roundRect">
            <a:avLst>
              <a:gd name="adj" fmla="val 24242"/>
            </a:avLst>
          </a:prstGeom>
          <a:solidFill>
            <a:srgbClr val="0F172A"/>
          </a:solidFill>
          <a:ln w="7620">
            <a:solidFill>
              <a:srgbClr val="0F172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399032" y="3849624"/>
            <a:ext cx="10058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CBD5E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材料中心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1261872" y="4206240"/>
            <a:ext cx="1179576" cy="301752"/>
          </a:xfrm>
          <a:prstGeom prst="roundRect">
            <a:avLst>
              <a:gd name="adj" fmla="val 24242"/>
            </a:avLst>
          </a:prstGeom>
          <a:solidFill>
            <a:srgbClr val="0F172A"/>
          </a:solidFill>
          <a:ln w="7620">
            <a:solidFill>
              <a:srgbClr val="0F172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399032" y="4270248"/>
            <a:ext cx="10058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CBD5E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月度评审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1261872" y="4626864"/>
            <a:ext cx="1179576" cy="301752"/>
          </a:xfrm>
          <a:prstGeom prst="roundRect">
            <a:avLst>
              <a:gd name="adj" fmla="val 24242"/>
            </a:avLst>
          </a:prstGeom>
          <a:solidFill>
            <a:srgbClr val="0F172A"/>
          </a:solidFill>
          <a:ln w="7620">
            <a:solidFill>
              <a:srgbClr val="0F172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399032" y="4690872"/>
            <a:ext cx="10058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CBD5E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数据中心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1261872" y="5047488"/>
            <a:ext cx="1179576" cy="301752"/>
          </a:xfrm>
          <a:prstGeom prst="roundRect">
            <a:avLst>
              <a:gd name="adj" fmla="val 24242"/>
            </a:avLst>
          </a:prstGeom>
          <a:solidFill>
            <a:srgbClr val="0F172A"/>
          </a:solidFill>
          <a:ln w="7620">
            <a:solidFill>
              <a:srgbClr val="0F172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399032" y="5111496"/>
            <a:ext cx="10058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CBD5E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系统设置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2560320" y="1627632"/>
            <a:ext cx="1783080" cy="512064"/>
          </a:xfrm>
          <a:prstGeom prst="rect">
            <a:avLst>
              <a:gd name="adj" fmla="val 14286"/>
            </a:avLst>
          </a:prstGeom>
          <a:solidFill>
            <a:srgbClr val="FFFFFF"/>
          </a:solidFill>
          <a:ln w="7620">
            <a:solidFill>
              <a:srgbClr val="D9E2EC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852928" y="1783080"/>
            <a:ext cx="1920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20" dirty="0">
                <a:solidFill>
                  <a:srgbClr val="94A3B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搜索项目 / 颜色 / 负责人</a:t>
            </a:r>
            <a:endParaRPr lang="en-US" sz="720" dirty="0"/>
          </a:p>
        </p:txBody>
      </p:sp>
      <p:sp>
        <p:nvSpPr>
          <p:cNvPr id="38" name="Shape 36"/>
          <p:cNvSpPr/>
          <p:nvPr/>
        </p:nvSpPr>
        <p:spPr>
          <a:xfrm>
            <a:off x="2423160" y="1737360"/>
            <a:ext cx="685800" cy="274320"/>
          </a:xfrm>
          <a:prstGeom prst="roundRect">
            <a:avLst>
              <a:gd name="adj" fmla="val 26667"/>
            </a:avLst>
          </a:prstGeom>
          <a:solidFill>
            <a:srgbClr val="DBEAFE"/>
          </a:solidFill>
          <a:ln w="7620">
            <a:solidFill>
              <a:srgbClr val="DBEAFE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478024" y="1792224"/>
            <a:ext cx="57607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60" b="1" dirty="0">
                <a:solidFill>
                  <a:srgbClr val="2563E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立即刷新</a:t>
            </a:r>
            <a:endParaRPr lang="en-US" sz="660" dirty="0"/>
          </a:p>
        </p:txBody>
      </p:sp>
      <p:sp>
        <p:nvSpPr>
          <p:cNvPr id="40" name="Text 38"/>
          <p:cNvSpPr/>
          <p:nvPr/>
        </p:nvSpPr>
        <p:spPr>
          <a:xfrm>
            <a:off x="3200400" y="1783080"/>
            <a:ext cx="9601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80" dirty="0">
                <a:solidFill>
                  <a:srgbClr val="64748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最近更新 14:32</a:t>
            </a:r>
            <a:endParaRPr lang="en-US" sz="680" dirty="0"/>
          </a:p>
        </p:txBody>
      </p:sp>
      <p:sp>
        <p:nvSpPr>
          <p:cNvPr id="41" name="Shape 39"/>
          <p:cNvSpPr/>
          <p:nvPr/>
        </p:nvSpPr>
        <p:spPr>
          <a:xfrm>
            <a:off x="2788920" y="2286000"/>
            <a:ext cx="749808" cy="502920"/>
          </a:xfrm>
          <a:prstGeom prst="roundRect">
            <a:avLst>
              <a:gd name="adj" fmla="val 23636"/>
            </a:avLst>
          </a:prstGeom>
          <a:solidFill>
            <a:srgbClr val="FFFFFF"/>
          </a:solidFill>
          <a:ln w="7620">
            <a:solidFill>
              <a:srgbClr val="D9E2EC"/>
            </a:solidFill>
            <a:prstDash val="solid"/>
          </a:ln>
          <a:effectLst>
            <a:outerShdw sx="100000" sy="100000" kx="0" ky="0" algn="bl" rotWithShape="0" blurRad="25400" dist="50800" dir="2700000">
              <a:srgbClr val="CBD5E1">
                <a:alpha val="12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2898648" y="2395728"/>
            <a:ext cx="292608" cy="292608"/>
          </a:xfrm>
          <a:prstGeom prst="roundRect">
            <a:avLst>
              <a:gd name="adj" fmla="val 25000"/>
            </a:avLst>
          </a:prstGeom>
          <a:solidFill>
            <a:srgbClr val="2563EB"/>
          </a:solidFill>
          <a:ln w="7620">
            <a:solidFill>
              <a:srgbClr val="2563EB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2898648" y="2441448"/>
            <a:ext cx="29260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●</a:t>
            </a:r>
            <a:endParaRPr lang="en-US" sz="700" dirty="0"/>
          </a:p>
        </p:txBody>
      </p:sp>
      <p:sp>
        <p:nvSpPr>
          <p:cNvPr id="44" name="Text 42"/>
          <p:cNvSpPr/>
          <p:nvPr/>
        </p:nvSpPr>
        <p:spPr>
          <a:xfrm>
            <a:off x="3264408" y="2414016"/>
            <a:ext cx="2011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40" dirty="0">
                <a:solidFill>
                  <a:srgbClr val="64748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进行中</a:t>
            </a:r>
            <a:endParaRPr lang="en-US" sz="740" dirty="0"/>
          </a:p>
        </p:txBody>
      </p:sp>
      <p:sp>
        <p:nvSpPr>
          <p:cNvPr id="45" name="Text 43"/>
          <p:cNvSpPr/>
          <p:nvPr/>
        </p:nvSpPr>
        <p:spPr>
          <a:xfrm>
            <a:off x="3264408" y="2633472"/>
            <a:ext cx="502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12</a:t>
            </a:r>
            <a:endParaRPr lang="en-US" sz="1600" dirty="0"/>
          </a:p>
        </p:txBody>
      </p:sp>
      <p:sp>
        <p:nvSpPr>
          <p:cNvPr id="46" name="Text 44"/>
          <p:cNvSpPr/>
          <p:nvPr/>
        </p:nvSpPr>
        <p:spPr>
          <a:xfrm>
            <a:off x="3749040" y="2688336"/>
            <a:ext cx="4114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20" dirty="0">
                <a:solidFill>
                  <a:srgbClr val="64748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个</a:t>
            </a:r>
            <a:endParaRPr lang="en-US" sz="720" dirty="0"/>
          </a:p>
        </p:txBody>
      </p:sp>
      <p:sp>
        <p:nvSpPr>
          <p:cNvPr id="47" name="Shape 45"/>
          <p:cNvSpPr/>
          <p:nvPr/>
        </p:nvSpPr>
        <p:spPr>
          <a:xfrm>
            <a:off x="3611880" y="2286000"/>
            <a:ext cx="749808" cy="502920"/>
          </a:xfrm>
          <a:prstGeom prst="roundRect">
            <a:avLst>
              <a:gd name="adj" fmla="val 23636"/>
            </a:avLst>
          </a:prstGeom>
          <a:solidFill>
            <a:srgbClr val="FFFFFF"/>
          </a:solidFill>
          <a:ln w="7620">
            <a:solidFill>
              <a:srgbClr val="D9E2EC"/>
            </a:solidFill>
            <a:prstDash val="solid"/>
          </a:ln>
          <a:effectLst>
            <a:outerShdw sx="100000" sy="100000" kx="0" ky="0" algn="bl" rotWithShape="0" blurRad="322580000" dist="645160000" dir="162000000000">
              <a:srgbClr val="CBD5E1">
                <a:alpha val="1200000000"/>
              </a:srgbClr>
            </a:outerShdw>
          </a:effectLst>
        </p:spPr>
      </p:sp>
      <p:sp>
        <p:nvSpPr>
          <p:cNvPr id="48" name="Shape 46"/>
          <p:cNvSpPr/>
          <p:nvPr/>
        </p:nvSpPr>
        <p:spPr>
          <a:xfrm>
            <a:off x="3721608" y="2395728"/>
            <a:ext cx="292608" cy="292608"/>
          </a:xfrm>
          <a:prstGeom prst="roundRect">
            <a:avLst>
              <a:gd name="adj" fmla="val 25000"/>
            </a:avLst>
          </a:prstGeom>
          <a:solidFill>
            <a:srgbClr val="EF4444"/>
          </a:solidFill>
          <a:ln w="7620">
            <a:solidFill>
              <a:srgbClr val="EF4444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3721608" y="2441448"/>
            <a:ext cx="29260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!</a:t>
            </a:r>
            <a:endParaRPr lang="en-US" sz="700" dirty="0"/>
          </a:p>
        </p:txBody>
      </p:sp>
      <p:sp>
        <p:nvSpPr>
          <p:cNvPr id="50" name="Text 48"/>
          <p:cNvSpPr/>
          <p:nvPr/>
        </p:nvSpPr>
        <p:spPr>
          <a:xfrm>
            <a:off x="4087368" y="2414016"/>
            <a:ext cx="2011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40" dirty="0">
                <a:solidFill>
                  <a:srgbClr val="64748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逾期</a:t>
            </a:r>
            <a:endParaRPr lang="en-US" sz="740" dirty="0"/>
          </a:p>
        </p:txBody>
      </p:sp>
      <p:sp>
        <p:nvSpPr>
          <p:cNvPr id="51" name="Text 49"/>
          <p:cNvSpPr/>
          <p:nvPr/>
        </p:nvSpPr>
        <p:spPr>
          <a:xfrm>
            <a:off x="4087368" y="2633472"/>
            <a:ext cx="502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3</a:t>
            </a:r>
            <a:endParaRPr lang="en-US" sz="1600" dirty="0"/>
          </a:p>
        </p:txBody>
      </p:sp>
      <p:sp>
        <p:nvSpPr>
          <p:cNvPr id="52" name="Text 50"/>
          <p:cNvSpPr/>
          <p:nvPr/>
        </p:nvSpPr>
        <p:spPr>
          <a:xfrm>
            <a:off x="4572000" y="2688336"/>
            <a:ext cx="4114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20" dirty="0">
                <a:solidFill>
                  <a:srgbClr val="64748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项</a:t>
            </a:r>
            <a:endParaRPr lang="en-US" sz="720" dirty="0"/>
          </a:p>
        </p:txBody>
      </p:sp>
      <p:sp>
        <p:nvSpPr>
          <p:cNvPr id="53" name="Shape 51"/>
          <p:cNvSpPr/>
          <p:nvPr/>
        </p:nvSpPr>
        <p:spPr>
          <a:xfrm>
            <a:off x="4434840" y="2286000"/>
            <a:ext cx="749808" cy="502920"/>
          </a:xfrm>
          <a:prstGeom prst="roundRect">
            <a:avLst>
              <a:gd name="adj" fmla="val 23636"/>
            </a:avLst>
          </a:prstGeom>
          <a:solidFill>
            <a:srgbClr val="FFFFFF"/>
          </a:solidFill>
          <a:ln w="7620">
            <a:solidFill>
              <a:srgbClr val="D9E2EC"/>
            </a:solidFill>
            <a:prstDash val="solid"/>
          </a:ln>
          <a:effectLst>
            <a:outerShdw sx="100000" sy="100000" kx="0" ky="0" algn="bl" rotWithShape="0" blurRad="4096766000000" dist="8193532000000" dir="9720000000000000">
              <a:srgbClr val="CBD5E1">
                <a:alpha val="120000000000000"/>
              </a:srgbClr>
            </a:outerShdw>
          </a:effectLst>
        </p:spPr>
      </p:sp>
      <p:sp>
        <p:nvSpPr>
          <p:cNvPr id="54" name="Shape 52"/>
          <p:cNvSpPr/>
          <p:nvPr/>
        </p:nvSpPr>
        <p:spPr>
          <a:xfrm>
            <a:off x="4544568" y="2395728"/>
            <a:ext cx="292608" cy="292608"/>
          </a:xfrm>
          <a:prstGeom prst="roundRect">
            <a:avLst>
              <a:gd name="adj" fmla="val 25000"/>
            </a:avLst>
          </a:prstGeom>
          <a:solidFill>
            <a:srgbClr val="F59E0B"/>
          </a:solidFill>
          <a:ln w="7620">
            <a:solidFill>
              <a:srgbClr val="F59E0B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4544568" y="2441448"/>
            <a:ext cx="29260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◆</a:t>
            </a:r>
            <a:endParaRPr lang="en-US" sz="700" dirty="0"/>
          </a:p>
        </p:txBody>
      </p:sp>
      <p:sp>
        <p:nvSpPr>
          <p:cNvPr id="56" name="Text 54"/>
          <p:cNvSpPr/>
          <p:nvPr/>
        </p:nvSpPr>
        <p:spPr>
          <a:xfrm>
            <a:off x="4910328" y="2414016"/>
            <a:ext cx="2011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40" dirty="0">
                <a:solidFill>
                  <a:srgbClr val="64748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评审</a:t>
            </a:r>
            <a:endParaRPr lang="en-US" sz="740" dirty="0"/>
          </a:p>
        </p:txBody>
      </p:sp>
      <p:sp>
        <p:nvSpPr>
          <p:cNvPr id="57" name="Text 55"/>
          <p:cNvSpPr/>
          <p:nvPr/>
        </p:nvSpPr>
        <p:spPr>
          <a:xfrm>
            <a:off x="4910328" y="2633472"/>
            <a:ext cx="502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8</a:t>
            </a:r>
            <a:endParaRPr lang="en-US" sz="1600" dirty="0"/>
          </a:p>
        </p:txBody>
      </p:sp>
      <p:sp>
        <p:nvSpPr>
          <p:cNvPr id="58" name="Text 56"/>
          <p:cNvSpPr/>
          <p:nvPr/>
        </p:nvSpPr>
        <p:spPr>
          <a:xfrm>
            <a:off x="5394960" y="2688336"/>
            <a:ext cx="4114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20" dirty="0">
                <a:solidFill>
                  <a:srgbClr val="64748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项</a:t>
            </a:r>
            <a:endParaRPr lang="en-US" sz="720" dirty="0"/>
          </a:p>
        </p:txBody>
      </p:sp>
      <p:sp>
        <p:nvSpPr>
          <p:cNvPr id="59" name="Shape 57"/>
          <p:cNvSpPr/>
          <p:nvPr/>
        </p:nvSpPr>
        <p:spPr>
          <a:xfrm>
            <a:off x="2788920" y="2971800"/>
            <a:ext cx="1371600" cy="96012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7620">
            <a:solidFill>
              <a:srgbClr val="D9E2EC"/>
            </a:solidFill>
            <a:prstDash val="solid"/>
          </a:ln>
          <a:effectLst>
            <a:outerShdw sx="100000" sy="100000" kx="0" ky="0" algn="bl" rotWithShape="0" blurRad="52028928200000000" dist="104057856400000000" dir="583200000000000000000">
              <a:srgbClr val="CBD5E1">
                <a:alpha val="12000000000000000000"/>
              </a:srgbClr>
            </a:outerShdw>
          </a:effectLst>
        </p:spPr>
      </p:sp>
      <p:sp>
        <p:nvSpPr>
          <p:cNvPr id="60" name="Text 58"/>
          <p:cNvSpPr/>
          <p:nvPr/>
        </p:nvSpPr>
        <p:spPr>
          <a:xfrm>
            <a:off x="2953512" y="3099816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40" b="1" dirty="0">
                <a:solidFill>
                  <a:srgbClr val="0F172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深海蓝</a:t>
            </a:r>
            <a:endParaRPr lang="en-US" sz="940" dirty="0"/>
          </a:p>
        </p:txBody>
      </p:sp>
      <p:sp>
        <p:nvSpPr>
          <p:cNvPr id="61" name="Shape 59"/>
          <p:cNvSpPr/>
          <p:nvPr/>
        </p:nvSpPr>
        <p:spPr>
          <a:xfrm>
            <a:off x="4663440" y="3081528"/>
            <a:ext cx="658368" cy="201168"/>
          </a:xfrm>
          <a:prstGeom prst="roundRect">
            <a:avLst>
              <a:gd name="adj" fmla="val 54545"/>
            </a:avLst>
          </a:prstGeom>
          <a:solidFill>
            <a:srgbClr val="DBEAFE"/>
          </a:solidFill>
          <a:ln w="7620">
            <a:solidFill>
              <a:srgbClr val="DBEAFE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4663440" y="3086100"/>
            <a:ext cx="6583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60" b="1" dirty="0">
                <a:solidFill>
                  <a:srgbClr val="2563E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涂料采购</a:t>
            </a:r>
            <a:endParaRPr lang="en-US" sz="660" dirty="0"/>
          </a:p>
        </p:txBody>
      </p:sp>
      <p:sp>
        <p:nvSpPr>
          <p:cNvPr id="63" name="Text 61"/>
          <p:cNvSpPr/>
          <p:nvPr/>
        </p:nvSpPr>
        <p:spPr>
          <a:xfrm>
            <a:off x="2953512" y="3355848"/>
            <a:ext cx="1371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80" dirty="0">
                <a:solidFill>
                  <a:srgbClr val="64748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当前：第6步</a:t>
            </a:r>
            <a:endParaRPr lang="en-US" sz="680" dirty="0"/>
          </a:p>
        </p:txBody>
      </p:sp>
      <p:sp>
        <p:nvSpPr>
          <p:cNvPr id="64" name="Text 62"/>
          <p:cNvSpPr/>
          <p:nvPr/>
        </p:nvSpPr>
        <p:spPr>
          <a:xfrm>
            <a:off x="4343400" y="3355848"/>
            <a:ext cx="914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80" dirty="0">
                <a:solidFill>
                  <a:srgbClr val="64748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负责人：张七巧</a:t>
            </a:r>
            <a:endParaRPr lang="en-US" sz="680" dirty="0"/>
          </a:p>
        </p:txBody>
      </p:sp>
      <p:sp>
        <p:nvSpPr>
          <p:cNvPr id="65" name="Text 63"/>
          <p:cNvSpPr/>
          <p:nvPr/>
        </p:nvSpPr>
        <p:spPr>
          <a:xfrm>
            <a:off x="5276088" y="3355848"/>
            <a:ext cx="98755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80" dirty="0">
                <a:solidFill>
                  <a:srgbClr val="64748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截止：10/27</a:t>
            </a:r>
            <a:endParaRPr lang="en-US" sz="680" dirty="0"/>
          </a:p>
        </p:txBody>
      </p:sp>
      <p:sp>
        <p:nvSpPr>
          <p:cNvPr id="66" name="Shape 64"/>
          <p:cNvSpPr/>
          <p:nvPr/>
        </p:nvSpPr>
        <p:spPr>
          <a:xfrm>
            <a:off x="3182112" y="3739896"/>
            <a:ext cx="-165608" cy="0"/>
          </a:xfrm>
          <a:prstGeom prst="line">
            <a:avLst/>
          </a:prstGeom>
          <a:noFill/>
          <a:ln w="13970">
            <a:solidFill>
              <a:srgbClr val="10B981"/>
            </a:solidFill>
            <a:prstDash val="solid"/>
            <a:headEnd type="none"/>
            <a:tailEnd type="none"/>
          </a:ln>
        </p:spPr>
      </p:sp>
      <p:sp>
        <p:nvSpPr>
          <p:cNvPr id="67" name="Shape 65"/>
          <p:cNvSpPr/>
          <p:nvPr/>
        </p:nvSpPr>
        <p:spPr>
          <a:xfrm>
            <a:off x="3217672" y="3739896"/>
            <a:ext cx="-165608" cy="0"/>
          </a:xfrm>
          <a:prstGeom prst="line">
            <a:avLst/>
          </a:prstGeom>
          <a:noFill/>
          <a:ln w="13970">
            <a:solidFill>
              <a:srgbClr val="10B981"/>
            </a:solidFill>
            <a:prstDash val="solid"/>
            <a:headEnd type="none"/>
            <a:tailEnd type="none"/>
          </a:ln>
        </p:spPr>
      </p:sp>
      <p:sp>
        <p:nvSpPr>
          <p:cNvPr id="68" name="Shape 66"/>
          <p:cNvSpPr/>
          <p:nvPr/>
        </p:nvSpPr>
        <p:spPr>
          <a:xfrm>
            <a:off x="3253232" y="3739896"/>
            <a:ext cx="-165608" cy="0"/>
          </a:xfrm>
          <a:prstGeom prst="line">
            <a:avLst/>
          </a:prstGeom>
          <a:noFill/>
          <a:ln w="13970">
            <a:solidFill>
              <a:srgbClr val="10B981"/>
            </a:solidFill>
            <a:prstDash val="solid"/>
            <a:headEnd type="none"/>
            <a:tailEnd type="none"/>
          </a:ln>
        </p:spPr>
      </p:sp>
      <p:sp>
        <p:nvSpPr>
          <p:cNvPr id="69" name="Shape 67"/>
          <p:cNvSpPr/>
          <p:nvPr/>
        </p:nvSpPr>
        <p:spPr>
          <a:xfrm>
            <a:off x="3288792" y="3739896"/>
            <a:ext cx="-165608" cy="0"/>
          </a:xfrm>
          <a:prstGeom prst="line">
            <a:avLst/>
          </a:prstGeom>
          <a:noFill/>
          <a:ln w="13970">
            <a:solidFill>
              <a:srgbClr val="10B981"/>
            </a:solidFill>
            <a:prstDash val="solid"/>
            <a:headEnd type="none"/>
            <a:tailEnd type="none"/>
          </a:ln>
        </p:spPr>
      </p:sp>
      <p:sp>
        <p:nvSpPr>
          <p:cNvPr id="70" name="Shape 68"/>
          <p:cNvSpPr/>
          <p:nvPr/>
        </p:nvSpPr>
        <p:spPr>
          <a:xfrm>
            <a:off x="3324352" y="3739896"/>
            <a:ext cx="-165608" cy="0"/>
          </a:xfrm>
          <a:prstGeom prst="line">
            <a:avLst/>
          </a:prstGeom>
          <a:noFill/>
          <a:ln w="13970">
            <a:solidFill>
              <a:srgbClr val="CBD5E1"/>
            </a:solidFill>
            <a:prstDash val="solid"/>
            <a:headEnd type="none"/>
            <a:tailEnd type="none"/>
          </a:ln>
        </p:spPr>
      </p:sp>
      <p:sp>
        <p:nvSpPr>
          <p:cNvPr id="71" name="Shape 69"/>
          <p:cNvSpPr/>
          <p:nvPr/>
        </p:nvSpPr>
        <p:spPr>
          <a:xfrm>
            <a:off x="3359912" y="3739896"/>
            <a:ext cx="-165608" cy="0"/>
          </a:xfrm>
          <a:prstGeom prst="line">
            <a:avLst/>
          </a:prstGeom>
          <a:noFill/>
          <a:ln w="13970">
            <a:solidFill>
              <a:srgbClr val="CBD5E1"/>
            </a:solidFill>
            <a:prstDash val="solid"/>
            <a:headEnd type="none"/>
            <a:tailEnd type="none"/>
          </a:ln>
        </p:spPr>
      </p:sp>
      <p:sp>
        <p:nvSpPr>
          <p:cNvPr id="72" name="Shape 70"/>
          <p:cNvSpPr/>
          <p:nvPr/>
        </p:nvSpPr>
        <p:spPr>
          <a:xfrm>
            <a:off x="3395472" y="3739896"/>
            <a:ext cx="-165608" cy="0"/>
          </a:xfrm>
          <a:prstGeom prst="line">
            <a:avLst/>
          </a:prstGeom>
          <a:noFill/>
          <a:ln w="13970">
            <a:solidFill>
              <a:srgbClr val="CBD5E1"/>
            </a:solidFill>
            <a:prstDash val="solid"/>
            <a:headEnd type="none"/>
            <a:tailEnd type="none"/>
          </a:ln>
        </p:spPr>
      </p:sp>
      <p:sp>
        <p:nvSpPr>
          <p:cNvPr id="73" name="Shape 71"/>
          <p:cNvSpPr/>
          <p:nvPr/>
        </p:nvSpPr>
        <p:spPr>
          <a:xfrm>
            <a:off x="3431032" y="3739896"/>
            <a:ext cx="-165608" cy="0"/>
          </a:xfrm>
          <a:prstGeom prst="line">
            <a:avLst/>
          </a:prstGeom>
          <a:noFill/>
          <a:ln w="13970">
            <a:solidFill>
              <a:srgbClr val="CBD5E1"/>
            </a:solidFill>
            <a:prstDash val="solid"/>
            <a:headEnd type="none"/>
            <a:tailEnd type="none"/>
          </a:ln>
        </p:spPr>
      </p:sp>
      <p:sp>
        <p:nvSpPr>
          <p:cNvPr id="74" name="Shape 72"/>
          <p:cNvSpPr/>
          <p:nvPr/>
        </p:nvSpPr>
        <p:spPr>
          <a:xfrm>
            <a:off x="3466592" y="3739896"/>
            <a:ext cx="-165608" cy="0"/>
          </a:xfrm>
          <a:prstGeom prst="line">
            <a:avLst/>
          </a:prstGeom>
          <a:noFill/>
          <a:ln w="13970">
            <a:solidFill>
              <a:srgbClr val="CBD5E1"/>
            </a:solidFill>
            <a:prstDash val="solid"/>
            <a:headEnd type="none"/>
            <a:tailEnd type="none"/>
          </a:ln>
        </p:spPr>
      </p:sp>
      <p:sp>
        <p:nvSpPr>
          <p:cNvPr id="75" name="Shape 73"/>
          <p:cNvSpPr/>
          <p:nvPr/>
        </p:nvSpPr>
        <p:spPr>
          <a:xfrm>
            <a:off x="2999232" y="3648456"/>
            <a:ext cx="164592" cy="164592"/>
          </a:xfrm>
          <a:prstGeom prst="ellipse">
            <a:avLst/>
          </a:prstGeom>
          <a:solidFill>
            <a:srgbClr val="10B981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2999232" y="3656686"/>
            <a:ext cx="164592" cy="13167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58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</a:t>
            </a:r>
            <a:endParaRPr lang="en-US" sz="580" dirty="0"/>
          </a:p>
        </p:txBody>
      </p:sp>
      <p:sp>
        <p:nvSpPr>
          <p:cNvPr id="77" name="Text 75"/>
          <p:cNvSpPr/>
          <p:nvPr/>
        </p:nvSpPr>
        <p:spPr>
          <a:xfrm>
            <a:off x="2825496" y="3886200"/>
            <a:ext cx="5120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520" dirty="0">
                <a:solidFill>
                  <a:srgbClr val="64748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需求</a:t>
            </a:r>
            <a:endParaRPr lang="en-US" sz="520" dirty="0"/>
          </a:p>
        </p:txBody>
      </p:sp>
      <p:sp>
        <p:nvSpPr>
          <p:cNvPr id="78" name="Shape 76"/>
          <p:cNvSpPr/>
          <p:nvPr/>
        </p:nvSpPr>
        <p:spPr>
          <a:xfrm>
            <a:off x="3034792" y="3648456"/>
            <a:ext cx="164592" cy="164592"/>
          </a:xfrm>
          <a:prstGeom prst="ellipse">
            <a:avLst/>
          </a:prstGeom>
          <a:solidFill>
            <a:srgbClr val="10B981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3034792" y="3656686"/>
            <a:ext cx="164592" cy="13167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58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2</a:t>
            </a:r>
            <a:endParaRPr lang="en-US" sz="580" dirty="0"/>
          </a:p>
        </p:txBody>
      </p:sp>
      <p:sp>
        <p:nvSpPr>
          <p:cNvPr id="80" name="Text 78"/>
          <p:cNvSpPr/>
          <p:nvPr/>
        </p:nvSpPr>
        <p:spPr>
          <a:xfrm>
            <a:off x="2861056" y="3886200"/>
            <a:ext cx="5120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520" dirty="0">
                <a:solidFill>
                  <a:srgbClr val="64748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报告</a:t>
            </a:r>
            <a:endParaRPr lang="en-US" sz="520" dirty="0"/>
          </a:p>
        </p:txBody>
      </p:sp>
      <p:sp>
        <p:nvSpPr>
          <p:cNvPr id="81" name="Shape 79"/>
          <p:cNvSpPr/>
          <p:nvPr/>
        </p:nvSpPr>
        <p:spPr>
          <a:xfrm>
            <a:off x="3070352" y="3648456"/>
            <a:ext cx="164592" cy="164592"/>
          </a:xfrm>
          <a:prstGeom prst="ellipse">
            <a:avLst/>
          </a:prstGeom>
          <a:solidFill>
            <a:srgbClr val="10B981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3070352" y="3656686"/>
            <a:ext cx="164592" cy="13167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58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3</a:t>
            </a:r>
            <a:endParaRPr lang="en-US" sz="580" dirty="0"/>
          </a:p>
        </p:txBody>
      </p:sp>
      <p:sp>
        <p:nvSpPr>
          <p:cNvPr id="83" name="Text 81"/>
          <p:cNvSpPr/>
          <p:nvPr/>
        </p:nvSpPr>
        <p:spPr>
          <a:xfrm>
            <a:off x="2896616" y="3886200"/>
            <a:ext cx="5120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520" dirty="0">
                <a:solidFill>
                  <a:srgbClr val="64748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涂料</a:t>
            </a:r>
            <a:endParaRPr lang="en-US" sz="520" dirty="0"/>
          </a:p>
        </p:txBody>
      </p:sp>
      <p:sp>
        <p:nvSpPr>
          <p:cNvPr id="84" name="Shape 82"/>
          <p:cNvSpPr/>
          <p:nvPr/>
        </p:nvSpPr>
        <p:spPr>
          <a:xfrm>
            <a:off x="3105912" y="3648456"/>
            <a:ext cx="164592" cy="164592"/>
          </a:xfrm>
          <a:prstGeom prst="ellipse">
            <a:avLst/>
          </a:prstGeom>
          <a:solidFill>
            <a:srgbClr val="10B981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3105912" y="3656686"/>
            <a:ext cx="164592" cy="13167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58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4</a:t>
            </a:r>
            <a:endParaRPr lang="en-US" sz="580" dirty="0"/>
          </a:p>
        </p:txBody>
      </p:sp>
      <p:sp>
        <p:nvSpPr>
          <p:cNvPr id="86" name="Text 84"/>
          <p:cNvSpPr/>
          <p:nvPr/>
        </p:nvSpPr>
        <p:spPr>
          <a:xfrm>
            <a:off x="2932176" y="3886200"/>
            <a:ext cx="5120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520" dirty="0">
                <a:solidFill>
                  <a:srgbClr val="64748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确认</a:t>
            </a:r>
            <a:endParaRPr lang="en-US" sz="520" dirty="0"/>
          </a:p>
        </p:txBody>
      </p:sp>
      <p:sp>
        <p:nvSpPr>
          <p:cNvPr id="87" name="Shape 85"/>
          <p:cNvSpPr/>
          <p:nvPr/>
        </p:nvSpPr>
        <p:spPr>
          <a:xfrm>
            <a:off x="3141472" y="3648456"/>
            <a:ext cx="164592" cy="164592"/>
          </a:xfrm>
          <a:prstGeom prst="ellipse">
            <a:avLst/>
          </a:prstGeom>
          <a:solidFill>
            <a:srgbClr val="2563EB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88" name="Text 86"/>
          <p:cNvSpPr/>
          <p:nvPr/>
        </p:nvSpPr>
        <p:spPr>
          <a:xfrm>
            <a:off x="3141472" y="3656686"/>
            <a:ext cx="164592" cy="13167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58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5</a:t>
            </a:r>
            <a:endParaRPr lang="en-US" sz="580" dirty="0"/>
          </a:p>
        </p:txBody>
      </p:sp>
      <p:sp>
        <p:nvSpPr>
          <p:cNvPr id="89" name="Text 87"/>
          <p:cNvSpPr/>
          <p:nvPr/>
        </p:nvSpPr>
        <p:spPr>
          <a:xfrm>
            <a:off x="2967736" y="3886200"/>
            <a:ext cx="5120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520" dirty="0">
                <a:solidFill>
                  <a:srgbClr val="64748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采购</a:t>
            </a:r>
            <a:endParaRPr lang="en-US" sz="520" dirty="0"/>
          </a:p>
        </p:txBody>
      </p:sp>
      <p:sp>
        <p:nvSpPr>
          <p:cNvPr id="90" name="Shape 88"/>
          <p:cNvSpPr/>
          <p:nvPr/>
        </p:nvSpPr>
        <p:spPr>
          <a:xfrm>
            <a:off x="3177032" y="3648456"/>
            <a:ext cx="164592" cy="164592"/>
          </a:xfrm>
          <a:prstGeom prst="ellipse">
            <a:avLst/>
          </a:prstGeom>
          <a:solidFill>
            <a:srgbClr val="94A3B8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91" name="Text 89"/>
          <p:cNvSpPr/>
          <p:nvPr/>
        </p:nvSpPr>
        <p:spPr>
          <a:xfrm>
            <a:off x="3177032" y="3656686"/>
            <a:ext cx="164592" cy="13167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58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6</a:t>
            </a:r>
            <a:endParaRPr lang="en-US" sz="580" dirty="0"/>
          </a:p>
        </p:txBody>
      </p:sp>
      <p:sp>
        <p:nvSpPr>
          <p:cNvPr id="92" name="Text 90"/>
          <p:cNvSpPr/>
          <p:nvPr/>
        </p:nvSpPr>
        <p:spPr>
          <a:xfrm>
            <a:off x="3003296" y="3886200"/>
            <a:ext cx="5120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520" dirty="0">
                <a:solidFill>
                  <a:srgbClr val="64748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试制</a:t>
            </a:r>
            <a:endParaRPr lang="en-US" sz="520" dirty="0"/>
          </a:p>
        </p:txBody>
      </p:sp>
      <p:sp>
        <p:nvSpPr>
          <p:cNvPr id="93" name="Shape 91"/>
          <p:cNvSpPr/>
          <p:nvPr/>
        </p:nvSpPr>
        <p:spPr>
          <a:xfrm>
            <a:off x="3212592" y="3648456"/>
            <a:ext cx="164592" cy="164592"/>
          </a:xfrm>
          <a:prstGeom prst="ellipse">
            <a:avLst/>
          </a:prstGeom>
          <a:solidFill>
            <a:srgbClr val="94A3B8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94" name="Text 92"/>
          <p:cNvSpPr/>
          <p:nvPr/>
        </p:nvSpPr>
        <p:spPr>
          <a:xfrm>
            <a:off x="3212592" y="3656686"/>
            <a:ext cx="164592" cy="13167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58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7</a:t>
            </a:r>
            <a:endParaRPr lang="en-US" sz="580" dirty="0"/>
          </a:p>
        </p:txBody>
      </p:sp>
      <p:sp>
        <p:nvSpPr>
          <p:cNvPr id="95" name="Text 93"/>
          <p:cNvSpPr/>
          <p:nvPr/>
        </p:nvSpPr>
        <p:spPr>
          <a:xfrm>
            <a:off x="3038856" y="3886200"/>
            <a:ext cx="5120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520" dirty="0">
                <a:solidFill>
                  <a:srgbClr val="64748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评审</a:t>
            </a:r>
            <a:endParaRPr lang="en-US" sz="520" dirty="0"/>
          </a:p>
        </p:txBody>
      </p:sp>
      <p:sp>
        <p:nvSpPr>
          <p:cNvPr id="96" name="Shape 94"/>
          <p:cNvSpPr/>
          <p:nvPr/>
        </p:nvSpPr>
        <p:spPr>
          <a:xfrm>
            <a:off x="3248152" y="3648456"/>
            <a:ext cx="164592" cy="164592"/>
          </a:xfrm>
          <a:prstGeom prst="ellipse">
            <a:avLst/>
          </a:prstGeom>
          <a:solidFill>
            <a:srgbClr val="94A3B8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97" name="Text 95"/>
          <p:cNvSpPr/>
          <p:nvPr/>
        </p:nvSpPr>
        <p:spPr>
          <a:xfrm>
            <a:off x="3248152" y="3656686"/>
            <a:ext cx="164592" cy="13167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58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8</a:t>
            </a:r>
            <a:endParaRPr lang="en-US" sz="580" dirty="0"/>
          </a:p>
        </p:txBody>
      </p:sp>
      <p:sp>
        <p:nvSpPr>
          <p:cNvPr id="98" name="Text 96"/>
          <p:cNvSpPr/>
          <p:nvPr/>
        </p:nvSpPr>
        <p:spPr>
          <a:xfrm>
            <a:off x="3074416" y="3886200"/>
            <a:ext cx="5120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520" dirty="0">
                <a:solidFill>
                  <a:srgbClr val="64748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生产</a:t>
            </a:r>
            <a:endParaRPr lang="en-US" sz="520" dirty="0"/>
          </a:p>
        </p:txBody>
      </p:sp>
      <p:sp>
        <p:nvSpPr>
          <p:cNvPr id="99" name="Shape 97"/>
          <p:cNvSpPr/>
          <p:nvPr/>
        </p:nvSpPr>
        <p:spPr>
          <a:xfrm>
            <a:off x="3283712" y="3648456"/>
            <a:ext cx="164592" cy="164592"/>
          </a:xfrm>
          <a:prstGeom prst="ellipse">
            <a:avLst/>
          </a:prstGeom>
          <a:solidFill>
            <a:srgbClr val="94A3B8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00" name="Text 98"/>
          <p:cNvSpPr/>
          <p:nvPr/>
        </p:nvSpPr>
        <p:spPr>
          <a:xfrm>
            <a:off x="3283712" y="3656686"/>
            <a:ext cx="164592" cy="13167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58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9</a:t>
            </a:r>
            <a:endParaRPr lang="en-US" sz="580" dirty="0"/>
          </a:p>
        </p:txBody>
      </p:sp>
      <p:sp>
        <p:nvSpPr>
          <p:cNvPr id="101" name="Text 99"/>
          <p:cNvSpPr/>
          <p:nvPr/>
        </p:nvSpPr>
        <p:spPr>
          <a:xfrm>
            <a:off x="3109976" y="3886200"/>
            <a:ext cx="5120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520" dirty="0">
                <a:solidFill>
                  <a:srgbClr val="64748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月评</a:t>
            </a:r>
            <a:endParaRPr lang="en-US" sz="520" dirty="0"/>
          </a:p>
        </p:txBody>
      </p:sp>
      <p:sp>
        <p:nvSpPr>
          <p:cNvPr id="102" name="Shape 100"/>
          <p:cNvSpPr/>
          <p:nvPr/>
        </p:nvSpPr>
        <p:spPr>
          <a:xfrm>
            <a:off x="3319272" y="3648456"/>
            <a:ext cx="164592" cy="164592"/>
          </a:xfrm>
          <a:prstGeom prst="ellipse">
            <a:avLst/>
          </a:prstGeom>
          <a:solidFill>
            <a:srgbClr val="94A3B8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03" name="Text 101"/>
          <p:cNvSpPr/>
          <p:nvPr/>
        </p:nvSpPr>
        <p:spPr>
          <a:xfrm>
            <a:off x="3319272" y="3656686"/>
            <a:ext cx="164592" cy="13167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58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10</a:t>
            </a:r>
            <a:endParaRPr lang="en-US" sz="580" dirty="0"/>
          </a:p>
        </p:txBody>
      </p:sp>
      <p:sp>
        <p:nvSpPr>
          <p:cNvPr id="104" name="Text 102"/>
          <p:cNvSpPr/>
          <p:nvPr/>
        </p:nvSpPr>
        <p:spPr>
          <a:xfrm>
            <a:off x="3145536" y="3886200"/>
            <a:ext cx="5120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520" dirty="0">
                <a:solidFill>
                  <a:srgbClr val="64748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退出</a:t>
            </a:r>
            <a:endParaRPr lang="en-US" sz="520" dirty="0"/>
          </a:p>
        </p:txBody>
      </p:sp>
      <p:sp>
        <p:nvSpPr>
          <p:cNvPr id="105" name="Shape 103"/>
          <p:cNvSpPr/>
          <p:nvPr/>
        </p:nvSpPr>
        <p:spPr>
          <a:xfrm>
            <a:off x="3447288" y="3136392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DBEAFE"/>
          </a:solidFill>
          <a:ln w="7620">
            <a:solidFill>
              <a:srgbClr val="DBEAFE"/>
            </a:solidFill>
            <a:prstDash val="solid"/>
          </a:ln>
        </p:spPr>
      </p:sp>
      <p:sp>
        <p:nvSpPr>
          <p:cNvPr id="106" name="Text 104"/>
          <p:cNvSpPr/>
          <p:nvPr/>
        </p:nvSpPr>
        <p:spPr>
          <a:xfrm>
            <a:off x="3456432" y="3255264"/>
            <a:ext cx="48463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563E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42%</a:t>
            </a:r>
            <a:endParaRPr lang="en-US" sz="850" dirty="0"/>
          </a:p>
        </p:txBody>
      </p:sp>
      <p:sp>
        <p:nvSpPr>
          <p:cNvPr id="107" name="Text 105"/>
          <p:cNvSpPr/>
          <p:nvPr/>
        </p:nvSpPr>
        <p:spPr>
          <a:xfrm>
            <a:off x="3465576" y="3410712"/>
            <a:ext cx="466344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520" dirty="0">
                <a:solidFill>
                  <a:srgbClr val="2563E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进度</a:t>
            </a:r>
            <a:endParaRPr lang="en-US" sz="520" dirty="0"/>
          </a:p>
        </p:txBody>
      </p:sp>
      <p:sp>
        <p:nvSpPr>
          <p:cNvPr id="108" name="Shape 106"/>
          <p:cNvSpPr/>
          <p:nvPr/>
        </p:nvSpPr>
        <p:spPr>
          <a:xfrm>
            <a:off x="2788920" y="4069080"/>
            <a:ext cx="1371600" cy="96012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7620">
            <a:solidFill>
              <a:srgbClr val="D9E2EC"/>
            </a:solidFill>
            <a:prstDash val="solid"/>
          </a:ln>
          <a:effectLst>
            <a:outerShdw sx="100000" sy="100000" kx="0" ky="0" algn="bl" rotWithShape="0" blurRad="660767388140000000000" dist="1.32153477628e+21" dir="3.4992e+25">
              <a:srgbClr val="CBD5E1">
                <a:alpha val="1.2e+24"/>
              </a:srgbClr>
            </a:outerShdw>
          </a:effectLst>
        </p:spPr>
      </p:sp>
      <p:sp>
        <p:nvSpPr>
          <p:cNvPr id="109" name="Text 107"/>
          <p:cNvSpPr/>
          <p:nvPr/>
        </p:nvSpPr>
        <p:spPr>
          <a:xfrm>
            <a:off x="2953512" y="4197096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40" b="1" dirty="0">
                <a:solidFill>
                  <a:srgbClr val="0F172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珍珠白</a:t>
            </a:r>
            <a:endParaRPr lang="en-US" sz="940" dirty="0"/>
          </a:p>
        </p:txBody>
      </p:sp>
      <p:sp>
        <p:nvSpPr>
          <p:cNvPr id="110" name="Shape 108"/>
          <p:cNvSpPr/>
          <p:nvPr/>
        </p:nvSpPr>
        <p:spPr>
          <a:xfrm>
            <a:off x="4663440" y="4178808"/>
            <a:ext cx="658368" cy="201168"/>
          </a:xfrm>
          <a:prstGeom prst="roundRect">
            <a:avLst>
              <a:gd name="adj" fmla="val 54545"/>
            </a:avLst>
          </a:prstGeom>
          <a:solidFill>
            <a:srgbClr val="DBEAFE"/>
          </a:solidFill>
          <a:ln w="7620">
            <a:solidFill>
              <a:srgbClr val="DBEAFE"/>
            </a:solidFill>
            <a:prstDash val="solid"/>
          </a:ln>
        </p:spPr>
      </p:sp>
      <p:sp>
        <p:nvSpPr>
          <p:cNvPr id="111" name="Text 109"/>
          <p:cNvSpPr/>
          <p:nvPr/>
        </p:nvSpPr>
        <p:spPr>
          <a:xfrm>
            <a:off x="4663440" y="4183380"/>
            <a:ext cx="6583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60" b="1" dirty="0">
                <a:solidFill>
                  <a:srgbClr val="2563E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月度跟踪</a:t>
            </a:r>
            <a:endParaRPr lang="en-US" sz="660" dirty="0"/>
          </a:p>
        </p:txBody>
      </p:sp>
      <p:sp>
        <p:nvSpPr>
          <p:cNvPr id="112" name="Text 110"/>
          <p:cNvSpPr/>
          <p:nvPr/>
        </p:nvSpPr>
        <p:spPr>
          <a:xfrm>
            <a:off x="2953512" y="4453128"/>
            <a:ext cx="1371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80" dirty="0">
                <a:solidFill>
                  <a:srgbClr val="64748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当前：第17步</a:t>
            </a:r>
            <a:endParaRPr lang="en-US" sz="680" dirty="0"/>
          </a:p>
        </p:txBody>
      </p:sp>
      <p:sp>
        <p:nvSpPr>
          <p:cNvPr id="113" name="Text 111"/>
          <p:cNvSpPr/>
          <p:nvPr/>
        </p:nvSpPr>
        <p:spPr>
          <a:xfrm>
            <a:off x="4343400" y="4453128"/>
            <a:ext cx="914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80" dirty="0">
                <a:solidFill>
                  <a:srgbClr val="64748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负责人：李晓晨</a:t>
            </a:r>
            <a:endParaRPr lang="en-US" sz="680" dirty="0"/>
          </a:p>
        </p:txBody>
      </p:sp>
      <p:sp>
        <p:nvSpPr>
          <p:cNvPr id="114" name="Text 112"/>
          <p:cNvSpPr/>
          <p:nvPr/>
        </p:nvSpPr>
        <p:spPr>
          <a:xfrm>
            <a:off x="5276088" y="4453128"/>
            <a:ext cx="98755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80" dirty="0">
                <a:solidFill>
                  <a:srgbClr val="64748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截止：本月</a:t>
            </a:r>
            <a:endParaRPr lang="en-US" sz="680" dirty="0"/>
          </a:p>
        </p:txBody>
      </p:sp>
      <p:sp>
        <p:nvSpPr>
          <p:cNvPr id="115" name="Shape 113"/>
          <p:cNvSpPr/>
          <p:nvPr/>
        </p:nvSpPr>
        <p:spPr>
          <a:xfrm>
            <a:off x="3182112" y="4837176"/>
            <a:ext cx="-165608" cy="0"/>
          </a:xfrm>
          <a:prstGeom prst="line">
            <a:avLst/>
          </a:prstGeom>
          <a:noFill/>
          <a:ln w="13970">
            <a:solidFill>
              <a:srgbClr val="10B981"/>
            </a:solidFill>
            <a:prstDash val="solid"/>
            <a:headEnd type="none"/>
            <a:tailEnd type="none"/>
          </a:ln>
        </p:spPr>
      </p:sp>
      <p:sp>
        <p:nvSpPr>
          <p:cNvPr id="116" name="Shape 114"/>
          <p:cNvSpPr/>
          <p:nvPr/>
        </p:nvSpPr>
        <p:spPr>
          <a:xfrm>
            <a:off x="3217672" y="4837176"/>
            <a:ext cx="-165608" cy="0"/>
          </a:xfrm>
          <a:prstGeom prst="line">
            <a:avLst/>
          </a:prstGeom>
          <a:noFill/>
          <a:ln w="13970">
            <a:solidFill>
              <a:srgbClr val="10B981"/>
            </a:solidFill>
            <a:prstDash val="solid"/>
            <a:headEnd type="none"/>
            <a:tailEnd type="none"/>
          </a:ln>
        </p:spPr>
      </p:sp>
      <p:sp>
        <p:nvSpPr>
          <p:cNvPr id="117" name="Shape 115"/>
          <p:cNvSpPr/>
          <p:nvPr/>
        </p:nvSpPr>
        <p:spPr>
          <a:xfrm>
            <a:off x="3253232" y="4837176"/>
            <a:ext cx="-165608" cy="0"/>
          </a:xfrm>
          <a:prstGeom prst="line">
            <a:avLst/>
          </a:prstGeom>
          <a:noFill/>
          <a:ln w="13970">
            <a:solidFill>
              <a:srgbClr val="10B981"/>
            </a:solidFill>
            <a:prstDash val="solid"/>
            <a:headEnd type="none"/>
            <a:tailEnd type="none"/>
          </a:ln>
        </p:spPr>
      </p:sp>
      <p:sp>
        <p:nvSpPr>
          <p:cNvPr id="118" name="Shape 116"/>
          <p:cNvSpPr/>
          <p:nvPr/>
        </p:nvSpPr>
        <p:spPr>
          <a:xfrm>
            <a:off x="3288792" y="4837176"/>
            <a:ext cx="-165608" cy="0"/>
          </a:xfrm>
          <a:prstGeom prst="line">
            <a:avLst/>
          </a:prstGeom>
          <a:noFill/>
          <a:ln w="13970">
            <a:solidFill>
              <a:srgbClr val="10B981"/>
            </a:solidFill>
            <a:prstDash val="solid"/>
            <a:headEnd type="none"/>
            <a:tailEnd type="none"/>
          </a:ln>
        </p:spPr>
      </p:sp>
      <p:sp>
        <p:nvSpPr>
          <p:cNvPr id="119" name="Shape 117"/>
          <p:cNvSpPr/>
          <p:nvPr/>
        </p:nvSpPr>
        <p:spPr>
          <a:xfrm>
            <a:off x="3324352" y="4837176"/>
            <a:ext cx="-165608" cy="0"/>
          </a:xfrm>
          <a:prstGeom prst="line">
            <a:avLst/>
          </a:prstGeom>
          <a:noFill/>
          <a:ln w="13970">
            <a:solidFill>
              <a:srgbClr val="10B981"/>
            </a:solidFill>
            <a:prstDash val="solid"/>
            <a:headEnd type="none"/>
            <a:tailEnd type="none"/>
          </a:ln>
        </p:spPr>
      </p:sp>
      <p:sp>
        <p:nvSpPr>
          <p:cNvPr id="120" name="Shape 118"/>
          <p:cNvSpPr/>
          <p:nvPr/>
        </p:nvSpPr>
        <p:spPr>
          <a:xfrm>
            <a:off x="3359912" y="4837176"/>
            <a:ext cx="-165608" cy="0"/>
          </a:xfrm>
          <a:prstGeom prst="line">
            <a:avLst/>
          </a:prstGeom>
          <a:noFill/>
          <a:ln w="13970">
            <a:solidFill>
              <a:srgbClr val="10B981"/>
            </a:solidFill>
            <a:prstDash val="solid"/>
            <a:headEnd type="none"/>
            <a:tailEnd type="none"/>
          </a:ln>
        </p:spPr>
      </p:sp>
      <p:sp>
        <p:nvSpPr>
          <p:cNvPr id="121" name="Shape 119"/>
          <p:cNvSpPr/>
          <p:nvPr/>
        </p:nvSpPr>
        <p:spPr>
          <a:xfrm>
            <a:off x="3395472" y="4837176"/>
            <a:ext cx="-165608" cy="0"/>
          </a:xfrm>
          <a:prstGeom prst="line">
            <a:avLst/>
          </a:prstGeom>
          <a:noFill/>
          <a:ln w="13970">
            <a:solidFill>
              <a:srgbClr val="10B981"/>
            </a:solidFill>
            <a:prstDash val="solid"/>
            <a:headEnd type="none"/>
            <a:tailEnd type="none"/>
          </a:ln>
        </p:spPr>
      </p:sp>
      <p:sp>
        <p:nvSpPr>
          <p:cNvPr id="122" name="Shape 120"/>
          <p:cNvSpPr/>
          <p:nvPr/>
        </p:nvSpPr>
        <p:spPr>
          <a:xfrm>
            <a:off x="3431032" y="4837176"/>
            <a:ext cx="-165608" cy="0"/>
          </a:xfrm>
          <a:prstGeom prst="line">
            <a:avLst/>
          </a:prstGeom>
          <a:noFill/>
          <a:ln w="13970">
            <a:solidFill>
              <a:srgbClr val="10B981"/>
            </a:solidFill>
            <a:prstDash val="solid"/>
            <a:headEnd type="none"/>
            <a:tailEnd type="none"/>
          </a:ln>
        </p:spPr>
      </p:sp>
      <p:sp>
        <p:nvSpPr>
          <p:cNvPr id="123" name="Shape 121"/>
          <p:cNvSpPr/>
          <p:nvPr/>
        </p:nvSpPr>
        <p:spPr>
          <a:xfrm>
            <a:off x="3466592" y="4837176"/>
            <a:ext cx="-165608" cy="0"/>
          </a:xfrm>
          <a:prstGeom prst="line">
            <a:avLst/>
          </a:prstGeom>
          <a:noFill/>
          <a:ln w="13970">
            <a:solidFill>
              <a:srgbClr val="CBD5E1"/>
            </a:solidFill>
            <a:prstDash val="solid"/>
            <a:headEnd type="none"/>
            <a:tailEnd type="none"/>
          </a:ln>
        </p:spPr>
      </p:sp>
      <p:sp>
        <p:nvSpPr>
          <p:cNvPr id="124" name="Shape 122"/>
          <p:cNvSpPr/>
          <p:nvPr/>
        </p:nvSpPr>
        <p:spPr>
          <a:xfrm>
            <a:off x="2999232" y="4745736"/>
            <a:ext cx="164592" cy="164592"/>
          </a:xfrm>
          <a:prstGeom prst="ellipse">
            <a:avLst/>
          </a:prstGeom>
          <a:solidFill>
            <a:srgbClr val="10B981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25" name="Text 123"/>
          <p:cNvSpPr/>
          <p:nvPr/>
        </p:nvSpPr>
        <p:spPr>
          <a:xfrm>
            <a:off x="2999232" y="4753966"/>
            <a:ext cx="164592" cy="13167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58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</a:t>
            </a:r>
            <a:endParaRPr lang="en-US" sz="580" dirty="0"/>
          </a:p>
        </p:txBody>
      </p:sp>
      <p:sp>
        <p:nvSpPr>
          <p:cNvPr id="126" name="Text 124"/>
          <p:cNvSpPr/>
          <p:nvPr/>
        </p:nvSpPr>
        <p:spPr>
          <a:xfrm>
            <a:off x="2825496" y="4983480"/>
            <a:ext cx="5120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520" dirty="0">
                <a:solidFill>
                  <a:srgbClr val="64748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需求</a:t>
            </a:r>
            <a:endParaRPr lang="en-US" sz="520" dirty="0"/>
          </a:p>
        </p:txBody>
      </p:sp>
      <p:sp>
        <p:nvSpPr>
          <p:cNvPr id="127" name="Shape 125"/>
          <p:cNvSpPr/>
          <p:nvPr/>
        </p:nvSpPr>
        <p:spPr>
          <a:xfrm>
            <a:off x="3034792" y="4745736"/>
            <a:ext cx="164592" cy="164592"/>
          </a:xfrm>
          <a:prstGeom prst="ellipse">
            <a:avLst/>
          </a:prstGeom>
          <a:solidFill>
            <a:srgbClr val="10B981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28" name="Text 126"/>
          <p:cNvSpPr/>
          <p:nvPr/>
        </p:nvSpPr>
        <p:spPr>
          <a:xfrm>
            <a:off x="3034792" y="4753966"/>
            <a:ext cx="164592" cy="13167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58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2</a:t>
            </a:r>
            <a:endParaRPr lang="en-US" sz="580" dirty="0"/>
          </a:p>
        </p:txBody>
      </p:sp>
      <p:sp>
        <p:nvSpPr>
          <p:cNvPr id="129" name="Text 127"/>
          <p:cNvSpPr/>
          <p:nvPr/>
        </p:nvSpPr>
        <p:spPr>
          <a:xfrm>
            <a:off x="2861056" y="4983480"/>
            <a:ext cx="5120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520" dirty="0">
                <a:solidFill>
                  <a:srgbClr val="64748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报告</a:t>
            </a:r>
            <a:endParaRPr lang="en-US" sz="520" dirty="0"/>
          </a:p>
        </p:txBody>
      </p:sp>
      <p:sp>
        <p:nvSpPr>
          <p:cNvPr id="130" name="Shape 128"/>
          <p:cNvSpPr/>
          <p:nvPr/>
        </p:nvSpPr>
        <p:spPr>
          <a:xfrm>
            <a:off x="3070352" y="4745736"/>
            <a:ext cx="164592" cy="164592"/>
          </a:xfrm>
          <a:prstGeom prst="ellipse">
            <a:avLst/>
          </a:prstGeom>
          <a:solidFill>
            <a:srgbClr val="10B981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31" name="Text 129"/>
          <p:cNvSpPr/>
          <p:nvPr/>
        </p:nvSpPr>
        <p:spPr>
          <a:xfrm>
            <a:off x="3070352" y="4753966"/>
            <a:ext cx="164592" cy="13167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58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3</a:t>
            </a:r>
            <a:endParaRPr lang="en-US" sz="580" dirty="0"/>
          </a:p>
        </p:txBody>
      </p:sp>
      <p:sp>
        <p:nvSpPr>
          <p:cNvPr id="132" name="Text 130"/>
          <p:cNvSpPr/>
          <p:nvPr/>
        </p:nvSpPr>
        <p:spPr>
          <a:xfrm>
            <a:off x="2896616" y="4983480"/>
            <a:ext cx="5120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520" dirty="0">
                <a:solidFill>
                  <a:srgbClr val="64748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涂料</a:t>
            </a:r>
            <a:endParaRPr lang="en-US" sz="520" dirty="0"/>
          </a:p>
        </p:txBody>
      </p:sp>
      <p:sp>
        <p:nvSpPr>
          <p:cNvPr id="133" name="Shape 131"/>
          <p:cNvSpPr/>
          <p:nvPr/>
        </p:nvSpPr>
        <p:spPr>
          <a:xfrm>
            <a:off x="3105912" y="4745736"/>
            <a:ext cx="164592" cy="164592"/>
          </a:xfrm>
          <a:prstGeom prst="ellipse">
            <a:avLst/>
          </a:prstGeom>
          <a:solidFill>
            <a:srgbClr val="10B981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34" name="Text 132"/>
          <p:cNvSpPr/>
          <p:nvPr/>
        </p:nvSpPr>
        <p:spPr>
          <a:xfrm>
            <a:off x="3105912" y="4753966"/>
            <a:ext cx="164592" cy="13167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58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4</a:t>
            </a:r>
            <a:endParaRPr lang="en-US" sz="580" dirty="0"/>
          </a:p>
        </p:txBody>
      </p:sp>
      <p:sp>
        <p:nvSpPr>
          <p:cNvPr id="135" name="Text 133"/>
          <p:cNvSpPr/>
          <p:nvPr/>
        </p:nvSpPr>
        <p:spPr>
          <a:xfrm>
            <a:off x="2932176" y="4983480"/>
            <a:ext cx="5120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520" dirty="0">
                <a:solidFill>
                  <a:srgbClr val="64748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确认</a:t>
            </a:r>
            <a:endParaRPr lang="en-US" sz="520" dirty="0"/>
          </a:p>
        </p:txBody>
      </p:sp>
      <p:sp>
        <p:nvSpPr>
          <p:cNvPr id="136" name="Shape 134"/>
          <p:cNvSpPr/>
          <p:nvPr/>
        </p:nvSpPr>
        <p:spPr>
          <a:xfrm>
            <a:off x="3141472" y="4745736"/>
            <a:ext cx="164592" cy="164592"/>
          </a:xfrm>
          <a:prstGeom prst="ellipse">
            <a:avLst/>
          </a:prstGeom>
          <a:solidFill>
            <a:srgbClr val="10B981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37" name="Text 135"/>
          <p:cNvSpPr/>
          <p:nvPr/>
        </p:nvSpPr>
        <p:spPr>
          <a:xfrm>
            <a:off x="3141472" y="4753966"/>
            <a:ext cx="164592" cy="13167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58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5</a:t>
            </a:r>
            <a:endParaRPr lang="en-US" sz="580" dirty="0"/>
          </a:p>
        </p:txBody>
      </p:sp>
      <p:sp>
        <p:nvSpPr>
          <p:cNvPr id="138" name="Text 136"/>
          <p:cNvSpPr/>
          <p:nvPr/>
        </p:nvSpPr>
        <p:spPr>
          <a:xfrm>
            <a:off x="2967736" y="4983480"/>
            <a:ext cx="5120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520" dirty="0">
                <a:solidFill>
                  <a:srgbClr val="64748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采购</a:t>
            </a:r>
            <a:endParaRPr lang="en-US" sz="520" dirty="0"/>
          </a:p>
        </p:txBody>
      </p:sp>
      <p:sp>
        <p:nvSpPr>
          <p:cNvPr id="139" name="Shape 137"/>
          <p:cNvSpPr/>
          <p:nvPr/>
        </p:nvSpPr>
        <p:spPr>
          <a:xfrm>
            <a:off x="3177032" y="4745736"/>
            <a:ext cx="164592" cy="164592"/>
          </a:xfrm>
          <a:prstGeom prst="ellipse">
            <a:avLst/>
          </a:prstGeom>
          <a:solidFill>
            <a:srgbClr val="10B981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40" name="Text 138"/>
          <p:cNvSpPr/>
          <p:nvPr/>
        </p:nvSpPr>
        <p:spPr>
          <a:xfrm>
            <a:off x="3177032" y="4753966"/>
            <a:ext cx="164592" cy="13167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58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6</a:t>
            </a:r>
            <a:endParaRPr lang="en-US" sz="580" dirty="0"/>
          </a:p>
        </p:txBody>
      </p:sp>
      <p:sp>
        <p:nvSpPr>
          <p:cNvPr id="141" name="Text 139"/>
          <p:cNvSpPr/>
          <p:nvPr/>
        </p:nvSpPr>
        <p:spPr>
          <a:xfrm>
            <a:off x="3003296" y="4983480"/>
            <a:ext cx="5120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520" dirty="0">
                <a:solidFill>
                  <a:srgbClr val="64748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试制</a:t>
            </a:r>
            <a:endParaRPr lang="en-US" sz="520" dirty="0"/>
          </a:p>
        </p:txBody>
      </p:sp>
      <p:sp>
        <p:nvSpPr>
          <p:cNvPr id="142" name="Shape 140"/>
          <p:cNvSpPr/>
          <p:nvPr/>
        </p:nvSpPr>
        <p:spPr>
          <a:xfrm>
            <a:off x="3212592" y="4745736"/>
            <a:ext cx="164592" cy="164592"/>
          </a:xfrm>
          <a:prstGeom prst="ellipse">
            <a:avLst/>
          </a:prstGeom>
          <a:solidFill>
            <a:srgbClr val="10B981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43" name="Text 141"/>
          <p:cNvSpPr/>
          <p:nvPr/>
        </p:nvSpPr>
        <p:spPr>
          <a:xfrm>
            <a:off x="3212592" y="4753966"/>
            <a:ext cx="164592" cy="13167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58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7</a:t>
            </a:r>
            <a:endParaRPr lang="en-US" sz="580" dirty="0"/>
          </a:p>
        </p:txBody>
      </p:sp>
      <p:sp>
        <p:nvSpPr>
          <p:cNvPr id="144" name="Text 142"/>
          <p:cNvSpPr/>
          <p:nvPr/>
        </p:nvSpPr>
        <p:spPr>
          <a:xfrm>
            <a:off x="3038856" y="4983480"/>
            <a:ext cx="5120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520" dirty="0">
                <a:solidFill>
                  <a:srgbClr val="64748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评审</a:t>
            </a:r>
            <a:endParaRPr lang="en-US" sz="520" dirty="0"/>
          </a:p>
        </p:txBody>
      </p:sp>
      <p:sp>
        <p:nvSpPr>
          <p:cNvPr id="145" name="Shape 143"/>
          <p:cNvSpPr/>
          <p:nvPr/>
        </p:nvSpPr>
        <p:spPr>
          <a:xfrm>
            <a:off x="3248152" y="4745736"/>
            <a:ext cx="164592" cy="164592"/>
          </a:xfrm>
          <a:prstGeom prst="ellipse">
            <a:avLst/>
          </a:prstGeom>
          <a:solidFill>
            <a:srgbClr val="10B981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46" name="Text 144"/>
          <p:cNvSpPr/>
          <p:nvPr/>
        </p:nvSpPr>
        <p:spPr>
          <a:xfrm>
            <a:off x="3248152" y="4753966"/>
            <a:ext cx="164592" cy="13167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58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8</a:t>
            </a:r>
            <a:endParaRPr lang="en-US" sz="580" dirty="0"/>
          </a:p>
        </p:txBody>
      </p:sp>
      <p:sp>
        <p:nvSpPr>
          <p:cNvPr id="147" name="Text 145"/>
          <p:cNvSpPr/>
          <p:nvPr/>
        </p:nvSpPr>
        <p:spPr>
          <a:xfrm>
            <a:off x="3074416" y="4983480"/>
            <a:ext cx="5120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520" dirty="0">
                <a:solidFill>
                  <a:srgbClr val="64748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生产</a:t>
            </a:r>
            <a:endParaRPr lang="en-US" sz="520" dirty="0"/>
          </a:p>
        </p:txBody>
      </p:sp>
      <p:sp>
        <p:nvSpPr>
          <p:cNvPr id="148" name="Shape 146"/>
          <p:cNvSpPr/>
          <p:nvPr/>
        </p:nvSpPr>
        <p:spPr>
          <a:xfrm>
            <a:off x="3283712" y="4745736"/>
            <a:ext cx="164592" cy="164592"/>
          </a:xfrm>
          <a:prstGeom prst="ellipse">
            <a:avLst/>
          </a:prstGeom>
          <a:solidFill>
            <a:srgbClr val="06B6D4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49" name="Text 147"/>
          <p:cNvSpPr/>
          <p:nvPr/>
        </p:nvSpPr>
        <p:spPr>
          <a:xfrm>
            <a:off x="3283712" y="4753966"/>
            <a:ext cx="164592" cy="13167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58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9</a:t>
            </a:r>
            <a:endParaRPr lang="en-US" sz="580" dirty="0"/>
          </a:p>
        </p:txBody>
      </p:sp>
      <p:sp>
        <p:nvSpPr>
          <p:cNvPr id="150" name="Text 148"/>
          <p:cNvSpPr/>
          <p:nvPr/>
        </p:nvSpPr>
        <p:spPr>
          <a:xfrm>
            <a:off x="3109976" y="4983480"/>
            <a:ext cx="5120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520" dirty="0">
                <a:solidFill>
                  <a:srgbClr val="64748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月评</a:t>
            </a:r>
            <a:endParaRPr lang="en-US" sz="520" dirty="0"/>
          </a:p>
        </p:txBody>
      </p:sp>
      <p:sp>
        <p:nvSpPr>
          <p:cNvPr id="151" name="Shape 149"/>
          <p:cNvSpPr/>
          <p:nvPr/>
        </p:nvSpPr>
        <p:spPr>
          <a:xfrm>
            <a:off x="3319272" y="4745736"/>
            <a:ext cx="164592" cy="164592"/>
          </a:xfrm>
          <a:prstGeom prst="ellipse">
            <a:avLst/>
          </a:prstGeom>
          <a:solidFill>
            <a:srgbClr val="94A3B8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52" name="Text 150"/>
          <p:cNvSpPr/>
          <p:nvPr/>
        </p:nvSpPr>
        <p:spPr>
          <a:xfrm>
            <a:off x="3319272" y="4753966"/>
            <a:ext cx="164592" cy="13167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58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10</a:t>
            </a:r>
            <a:endParaRPr lang="en-US" sz="580" dirty="0"/>
          </a:p>
        </p:txBody>
      </p:sp>
      <p:sp>
        <p:nvSpPr>
          <p:cNvPr id="153" name="Text 151"/>
          <p:cNvSpPr/>
          <p:nvPr/>
        </p:nvSpPr>
        <p:spPr>
          <a:xfrm>
            <a:off x="3145536" y="4983480"/>
            <a:ext cx="5120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520" dirty="0">
                <a:solidFill>
                  <a:srgbClr val="64748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退出</a:t>
            </a:r>
            <a:endParaRPr lang="en-US" sz="520" dirty="0"/>
          </a:p>
        </p:txBody>
      </p:sp>
      <p:sp>
        <p:nvSpPr>
          <p:cNvPr id="154" name="Shape 152"/>
          <p:cNvSpPr/>
          <p:nvPr/>
        </p:nvSpPr>
        <p:spPr>
          <a:xfrm>
            <a:off x="3447288" y="4233672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CFFAFE"/>
          </a:solidFill>
          <a:ln w="7620">
            <a:solidFill>
              <a:srgbClr val="CFFAFE"/>
            </a:solidFill>
            <a:prstDash val="solid"/>
          </a:ln>
        </p:spPr>
      </p:sp>
      <p:sp>
        <p:nvSpPr>
          <p:cNvPr id="155" name="Text 153"/>
          <p:cNvSpPr/>
          <p:nvPr/>
        </p:nvSpPr>
        <p:spPr>
          <a:xfrm>
            <a:off x="3456432" y="4352544"/>
            <a:ext cx="48463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6B6D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86%</a:t>
            </a:r>
            <a:endParaRPr lang="en-US" sz="850" dirty="0"/>
          </a:p>
        </p:txBody>
      </p:sp>
      <p:sp>
        <p:nvSpPr>
          <p:cNvPr id="156" name="Text 154"/>
          <p:cNvSpPr/>
          <p:nvPr/>
        </p:nvSpPr>
        <p:spPr>
          <a:xfrm>
            <a:off x="3465576" y="4507992"/>
            <a:ext cx="466344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520" dirty="0">
                <a:solidFill>
                  <a:srgbClr val="06B6D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进度</a:t>
            </a:r>
            <a:endParaRPr lang="en-US" sz="520" dirty="0"/>
          </a:p>
        </p:txBody>
      </p:sp>
      <p:sp>
        <p:nvSpPr>
          <p:cNvPr id="157" name="Shape 155"/>
          <p:cNvSpPr/>
          <p:nvPr/>
        </p:nvSpPr>
        <p:spPr>
          <a:xfrm>
            <a:off x="5257800" y="3246120"/>
            <a:ext cx="5394960" cy="1664208"/>
          </a:xfrm>
          <a:prstGeom prst="roundRect">
            <a:avLst>
              <a:gd name="adj" fmla="val 8791"/>
            </a:avLst>
          </a:prstGeom>
          <a:solidFill>
            <a:srgbClr val="F8FAFC"/>
          </a:solidFill>
          <a:ln w="7620">
            <a:solidFill>
              <a:srgbClr val="D9E2EC"/>
            </a:solidFill>
            <a:prstDash val="solid"/>
          </a:ln>
        </p:spPr>
      </p:sp>
      <p:sp>
        <p:nvSpPr>
          <p:cNvPr id="158" name="Shape 156"/>
          <p:cNvSpPr/>
          <p:nvPr/>
        </p:nvSpPr>
        <p:spPr>
          <a:xfrm>
            <a:off x="5532120" y="3557016"/>
            <a:ext cx="64008" cy="64008"/>
          </a:xfrm>
          <a:prstGeom prst="ellipse">
            <a:avLst/>
          </a:prstGeom>
          <a:solidFill>
            <a:srgbClr val="2563EB"/>
          </a:solidFill>
          <a:ln w="6350">
            <a:solidFill>
              <a:srgbClr val="2563EB"/>
            </a:solidFill>
            <a:prstDash val="solid"/>
          </a:ln>
        </p:spPr>
      </p:sp>
      <p:sp>
        <p:nvSpPr>
          <p:cNvPr id="159" name="Text 157"/>
          <p:cNvSpPr/>
          <p:nvPr/>
        </p:nvSpPr>
        <p:spPr>
          <a:xfrm>
            <a:off x="5678424" y="3502152"/>
            <a:ext cx="46085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打开工作台即可判断项目风险与下一步动作</a:t>
            </a:r>
            <a:endParaRPr lang="en-US" sz="1000" dirty="0"/>
          </a:p>
        </p:txBody>
      </p:sp>
      <p:sp>
        <p:nvSpPr>
          <p:cNvPr id="160" name="Shape 158"/>
          <p:cNvSpPr/>
          <p:nvPr/>
        </p:nvSpPr>
        <p:spPr>
          <a:xfrm>
            <a:off x="5532120" y="3867912"/>
            <a:ext cx="64008" cy="64008"/>
          </a:xfrm>
          <a:prstGeom prst="ellipse">
            <a:avLst/>
          </a:prstGeom>
          <a:solidFill>
            <a:srgbClr val="2563EB"/>
          </a:solidFill>
          <a:ln w="6350">
            <a:solidFill>
              <a:srgbClr val="2563EB"/>
            </a:solidFill>
            <a:prstDash val="solid"/>
          </a:ln>
        </p:spPr>
      </p:sp>
      <p:sp>
        <p:nvSpPr>
          <p:cNvPr id="161" name="Text 159"/>
          <p:cNvSpPr/>
          <p:nvPr/>
        </p:nvSpPr>
        <p:spPr>
          <a:xfrm>
            <a:off x="5678424" y="3813048"/>
            <a:ext cx="46085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每个工序具备责任人、SLA、材料与审计留痕</a:t>
            </a:r>
            <a:endParaRPr lang="en-US" sz="1000" dirty="0"/>
          </a:p>
        </p:txBody>
      </p:sp>
      <p:sp>
        <p:nvSpPr>
          <p:cNvPr id="162" name="Shape 160"/>
          <p:cNvSpPr/>
          <p:nvPr/>
        </p:nvSpPr>
        <p:spPr>
          <a:xfrm>
            <a:off x="5532120" y="4178808"/>
            <a:ext cx="64008" cy="64008"/>
          </a:xfrm>
          <a:prstGeom prst="ellipse">
            <a:avLst/>
          </a:prstGeom>
          <a:solidFill>
            <a:srgbClr val="2563EB"/>
          </a:solidFill>
          <a:ln w="6350">
            <a:solidFill>
              <a:srgbClr val="2563EB"/>
            </a:solidFill>
            <a:prstDash val="solid"/>
          </a:ln>
        </p:spPr>
      </p:sp>
      <p:sp>
        <p:nvSpPr>
          <p:cNvPr id="163" name="Text 161"/>
          <p:cNvSpPr/>
          <p:nvPr/>
        </p:nvSpPr>
        <p:spPr>
          <a:xfrm>
            <a:off x="5678424" y="4123944"/>
            <a:ext cx="46085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第12步退回闭环、第17步月度评审、第18步退出治理重点可视化</a:t>
            </a:r>
            <a:endParaRPr lang="en-US" sz="1000" dirty="0"/>
          </a:p>
        </p:txBody>
      </p:sp>
      <p:sp>
        <p:nvSpPr>
          <p:cNvPr id="164" name="Shape 162"/>
          <p:cNvSpPr/>
          <p:nvPr/>
        </p:nvSpPr>
        <p:spPr>
          <a:xfrm>
            <a:off x="5532120" y="4489704"/>
            <a:ext cx="64008" cy="64008"/>
          </a:xfrm>
          <a:prstGeom prst="ellipse">
            <a:avLst/>
          </a:prstGeom>
          <a:solidFill>
            <a:srgbClr val="2563EB"/>
          </a:solidFill>
          <a:ln w="6350">
            <a:solidFill>
              <a:srgbClr val="2563EB"/>
            </a:solidFill>
            <a:prstDash val="solid"/>
          </a:ln>
        </p:spPr>
      </p:sp>
      <p:sp>
        <p:nvSpPr>
          <p:cNvPr id="165" name="Text 163"/>
          <p:cNvSpPr/>
          <p:nvPr/>
        </p:nvSpPr>
        <p:spPr>
          <a:xfrm>
            <a:off x="5678424" y="4434840"/>
            <a:ext cx="46085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页面风格：简洁、稳重、高信息密度、中文统一</a:t>
            </a:r>
            <a:endParaRPr lang="en-US" sz="1000" dirty="0"/>
          </a:p>
        </p:txBody>
      </p:sp>
      <p:sp>
        <p:nvSpPr>
          <p:cNvPr id="166" name="Text 164"/>
          <p:cNvSpPr/>
          <p:nvPr/>
        </p:nvSpPr>
        <p:spPr>
          <a:xfrm>
            <a:off x="5257800" y="5276088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版本建议：R15 用户端产品化重构</a:t>
            </a:r>
            <a:endParaRPr lang="en-US" sz="1300" dirty="0"/>
          </a:p>
        </p:txBody>
      </p:sp>
      <p:sp>
        <p:nvSpPr>
          <p:cNvPr id="167" name="Text 165"/>
          <p:cNvSpPr/>
          <p:nvPr/>
        </p:nvSpPr>
        <p:spPr>
          <a:xfrm>
            <a:off x="5257800" y="560527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面向业务人员、项目负责人、质量/工艺/采购/财务等协同角色。</a:t>
            </a:r>
            <a:endParaRPr lang="en-US" sz="1000" dirty="0"/>
          </a:p>
        </p:txBody>
      </p:sp>
      <p:sp>
        <p:nvSpPr>
          <p:cNvPr id="168" name="Text 166"/>
          <p:cNvSpPr/>
          <p:nvPr/>
        </p:nvSpPr>
        <p:spPr>
          <a:xfrm>
            <a:off x="11567160" y="6492240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01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6766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01｜用户端信息架构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02920" y="786384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把“项目、工序、材料、评审、数据”拆开，避免全部堆在一个项目列表里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02920" y="1143000"/>
            <a:ext cx="11201400" cy="0"/>
          </a:xfrm>
          <a:prstGeom prst="line">
            <a:avLst/>
          </a:prstGeom>
          <a:noFill/>
          <a:ln w="8890">
            <a:solidFill>
              <a:srgbClr val="D9E2EC"/>
            </a:solidFill>
            <a:prstDash val="solid"/>
            <a:headEnd type="none"/>
            <a:tailEnd type="none"/>
          </a:ln>
        </p:spPr>
      </p:sp>
      <p:sp>
        <p:nvSpPr>
          <p:cNvPr id="5" name="Shape 3"/>
          <p:cNvSpPr/>
          <p:nvPr/>
        </p:nvSpPr>
        <p:spPr>
          <a:xfrm>
            <a:off x="594360" y="1234440"/>
            <a:ext cx="3291840" cy="1325880"/>
          </a:xfrm>
          <a:prstGeom prst="roundRect">
            <a:avLst>
              <a:gd name="adj" fmla="val 12414"/>
            </a:avLst>
          </a:prstGeom>
          <a:solidFill>
            <a:srgbClr val="FFFFFF"/>
          </a:solidFill>
          <a:ln w="7620">
            <a:solidFill>
              <a:srgbClr val="D9E2EC"/>
            </a:solidFill>
            <a:prstDash val="solid"/>
          </a:ln>
          <a:effectLst>
            <a:outerShdw sx="100000" sy="100000" kx="0" ky="0" algn="bl" rotWithShape="0" blurRad="8.391745829378e+24" dist="1.6783491658756e+25" dir="2.09952e+30">
              <a:srgbClr val="CBD5E1">
                <a:alpha val="1.2e+29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58952" y="1435608"/>
            <a:ext cx="384048" cy="384048"/>
          </a:xfrm>
          <a:prstGeom prst="roundRect">
            <a:avLst>
              <a:gd name="adj" fmla="val 23810"/>
            </a:avLst>
          </a:prstGeom>
          <a:solidFill>
            <a:srgbClr val="DBEAFE"/>
          </a:solidFill>
          <a:ln w="7620">
            <a:solidFill>
              <a:srgbClr val="DBEAF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58952" y="1517904"/>
            <a:ext cx="38404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563E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1280160" y="1435608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工作台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280160" y="1737360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20" dirty="0">
                <a:solidFill>
                  <a:srgbClr val="64748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总览 / 待办 / 逾期 / 本月评审</a:t>
            </a:r>
            <a:endParaRPr lang="en-US" sz="820" dirty="0"/>
          </a:p>
        </p:txBody>
      </p:sp>
      <p:sp>
        <p:nvSpPr>
          <p:cNvPr id="10" name="Shape 8"/>
          <p:cNvSpPr/>
          <p:nvPr/>
        </p:nvSpPr>
        <p:spPr>
          <a:xfrm>
            <a:off x="1280160" y="2167128"/>
            <a:ext cx="621792" cy="182880"/>
          </a:xfrm>
          <a:prstGeom prst="roundRect">
            <a:avLst>
              <a:gd name="adj" fmla="val 60000"/>
            </a:avLst>
          </a:prstGeom>
          <a:solidFill>
            <a:srgbClr val="F1F5F9"/>
          </a:solidFill>
          <a:ln w="7620">
            <a:solidFill>
              <a:srgbClr val="F1F5F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280160" y="2171700"/>
            <a:ext cx="6217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40" b="1" dirty="0">
                <a:solidFill>
                  <a:srgbClr val="64748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中文化</a:t>
            </a:r>
            <a:endParaRPr lang="en-US" sz="640" dirty="0"/>
          </a:p>
        </p:txBody>
      </p:sp>
      <p:sp>
        <p:nvSpPr>
          <p:cNvPr id="12" name="Shape 10"/>
          <p:cNvSpPr/>
          <p:nvPr/>
        </p:nvSpPr>
        <p:spPr>
          <a:xfrm>
            <a:off x="1984248" y="2167128"/>
            <a:ext cx="694944" cy="182880"/>
          </a:xfrm>
          <a:prstGeom prst="roundRect">
            <a:avLst>
              <a:gd name="adj" fmla="val 60000"/>
            </a:avLst>
          </a:prstGeom>
          <a:solidFill>
            <a:srgbClr val="DBEAFE"/>
          </a:solidFill>
          <a:ln w="7620">
            <a:solidFill>
              <a:srgbClr val="DBEAF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984248" y="2171700"/>
            <a:ext cx="6949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40" b="1" dirty="0">
                <a:solidFill>
                  <a:srgbClr val="2563E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业务入口</a:t>
            </a:r>
            <a:endParaRPr lang="en-US" sz="640" dirty="0"/>
          </a:p>
        </p:txBody>
      </p:sp>
      <p:sp>
        <p:nvSpPr>
          <p:cNvPr id="14" name="Shape 12"/>
          <p:cNvSpPr/>
          <p:nvPr/>
        </p:nvSpPr>
        <p:spPr>
          <a:xfrm>
            <a:off x="4297680" y="1234440"/>
            <a:ext cx="3291840" cy="1325880"/>
          </a:xfrm>
          <a:prstGeom prst="roundRect">
            <a:avLst>
              <a:gd name="adj" fmla="val 12414"/>
            </a:avLst>
          </a:prstGeom>
          <a:solidFill>
            <a:srgbClr val="FFFFFF"/>
          </a:solidFill>
          <a:ln w="7620">
            <a:solidFill>
              <a:srgbClr val="D9E2EC"/>
            </a:solidFill>
            <a:prstDash val="solid"/>
          </a:ln>
          <a:effectLst>
            <a:outerShdw sx="100000" sy="100000" kx="0" ky="0" algn="bl" rotWithShape="0" blurRad="1.0657517203310059e+29" dist="2.1315034406620118e+29" dir="1.259712e+35">
              <a:srgbClr val="CBD5E1">
                <a:alpha val="1.2e+34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462272" y="1435608"/>
            <a:ext cx="384048" cy="384048"/>
          </a:xfrm>
          <a:prstGeom prst="roundRect">
            <a:avLst>
              <a:gd name="adj" fmla="val 23810"/>
            </a:avLst>
          </a:prstGeom>
          <a:solidFill>
            <a:srgbClr val="CFFAFE"/>
          </a:solidFill>
          <a:ln w="7620">
            <a:solidFill>
              <a:srgbClr val="CFFAF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462272" y="1517904"/>
            <a:ext cx="38404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6B6D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2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4983480" y="1435608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项目管理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983480" y="1737360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20" dirty="0">
                <a:solidFill>
                  <a:srgbClr val="64748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项目看板 / 项目列表 / 新建项目 / 归档</a:t>
            </a:r>
            <a:endParaRPr lang="en-US" sz="820" dirty="0"/>
          </a:p>
        </p:txBody>
      </p:sp>
      <p:sp>
        <p:nvSpPr>
          <p:cNvPr id="19" name="Shape 17"/>
          <p:cNvSpPr/>
          <p:nvPr/>
        </p:nvSpPr>
        <p:spPr>
          <a:xfrm>
            <a:off x="4983480" y="2167128"/>
            <a:ext cx="621792" cy="182880"/>
          </a:xfrm>
          <a:prstGeom prst="roundRect">
            <a:avLst>
              <a:gd name="adj" fmla="val 60000"/>
            </a:avLst>
          </a:prstGeom>
          <a:solidFill>
            <a:srgbClr val="F1F5F9"/>
          </a:solidFill>
          <a:ln w="7620">
            <a:solidFill>
              <a:srgbClr val="F1F5F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983480" y="2171700"/>
            <a:ext cx="6217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40" b="1" dirty="0">
                <a:solidFill>
                  <a:srgbClr val="64748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中文化</a:t>
            </a:r>
            <a:endParaRPr lang="en-US" sz="640" dirty="0"/>
          </a:p>
        </p:txBody>
      </p:sp>
      <p:sp>
        <p:nvSpPr>
          <p:cNvPr id="21" name="Shape 19"/>
          <p:cNvSpPr/>
          <p:nvPr/>
        </p:nvSpPr>
        <p:spPr>
          <a:xfrm>
            <a:off x="5687568" y="2167128"/>
            <a:ext cx="694944" cy="182880"/>
          </a:xfrm>
          <a:prstGeom prst="roundRect">
            <a:avLst>
              <a:gd name="adj" fmla="val 60000"/>
            </a:avLst>
          </a:prstGeom>
          <a:solidFill>
            <a:srgbClr val="CFFAFE"/>
          </a:solidFill>
          <a:ln w="7620">
            <a:solidFill>
              <a:srgbClr val="CFFAF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687568" y="2171700"/>
            <a:ext cx="6949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40" b="1" dirty="0">
                <a:solidFill>
                  <a:srgbClr val="06B6D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业务入口</a:t>
            </a:r>
            <a:endParaRPr lang="en-US" sz="640" dirty="0"/>
          </a:p>
        </p:txBody>
      </p:sp>
      <p:sp>
        <p:nvSpPr>
          <p:cNvPr id="23" name="Shape 21"/>
          <p:cNvSpPr/>
          <p:nvPr/>
        </p:nvSpPr>
        <p:spPr>
          <a:xfrm>
            <a:off x="8001000" y="1234440"/>
            <a:ext cx="3291840" cy="1325880"/>
          </a:xfrm>
          <a:prstGeom prst="roundRect">
            <a:avLst>
              <a:gd name="adj" fmla="val 12414"/>
            </a:avLst>
          </a:prstGeom>
          <a:solidFill>
            <a:srgbClr val="FFFFFF"/>
          </a:solidFill>
          <a:ln w="7620">
            <a:solidFill>
              <a:srgbClr val="D9E2EC"/>
            </a:solidFill>
            <a:prstDash val="solid"/>
          </a:ln>
          <a:effectLst>
            <a:outerShdw sx="100000" sy="100000" kx="0" ky="0" algn="bl" rotWithShape="0" blurRad="1.3535046848203775e+33" dist="2.707009369640755e+33" dir="7.558272e+39">
              <a:srgbClr val="CBD5E1">
                <a:alpha val="1.1999999999999999e+39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8165592" y="1435608"/>
            <a:ext cx="384048" cy="384048"/>
          </a:xfrm>
          <a:prstGeom prst="roundRect">
            <a:avLst>
              <a:gd name="adj" fmla="val 23810"/>
            </a:avLst>
          </a:prstGeom>
          <a:solidFill>
            <a:srgbClr val="FEF3C7"/>
          </a:solidFill>
          <a:ln w="7620">
            <a:solidFill>
              <a:srgbClr val="FEF3C7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165592" y="1517904"/>
            <a:ext cx="38404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59E0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3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8686800" y="1435608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工序管理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8686800" y="1737360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20" dirty="0">
                <a:solidFill>
                  <a:srgbClr val="64748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我的待办 / 超期任务 / 工序清单 / 评审任务</a:t>
            </a:r>
            <a:endParaRPr lang="en-US" sz="820" dirty="0"/>
          </a:p>
        </p:txBody>
      </p:sp>
      <p:sp>
        <p:nvSpPr>
          <p:cNvPr id="28" name="Shape 26"/>
          <p:cNvSpPr/>
          <p:nvPr/>
        </p:nvSpPr>
        <p:spPr>
          <a:xfrm>
            <a:off x="8686800" y="2167128"/>
            <a:ext cx="621792" cy="182880"/>
          </a:xfrm>
          <a:prstGeom prst="roundRect">
            <a:avLst>
              <a:gd name="adj" fmla="val 60000"/>
            </a:avLst>
          </a:prstGeom>
          <a:solidFill>
            <a:srgbClr val="F1F5F9"/>
          </a:solidFill>
          <a:ln w="7620">
            <a:solidFill>
              <a:srgbClr val="F1F5F9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686800" y="2171700"/>
            <a:ext cx="6217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40" b="1" dirty="0">
                <a:solidFill>
                  <a:srgbClr val="64748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中文化</a:t>
            </a:r>
            <a:endParaRPr lang="en-US" sz="640" dirty="0"/>
          </a:p>
        </p:txBody>
      </p:sp>
      <p:sp>
        <p:nvSpPr>
          <p:cNvPr id="30" name="Shape 28"/>
          <p:cNvSpPr/>
          <p:nvPr/>
        </p:nvSpPr>
        <p:spPr>
          <a:xfrm>
            <a:off x="9390888" y="2167128"/>
            <a:ext cx="694944" cy="182880"/>
          </a:xfrm>
          <a:prstGeom prst="roundRect">
            <a:avLst>
              <a:gd name="adj" fmla="val 60000"/>
            </a:avLst>
          </a:prstGeom>
          <a:solidFill>
            <a:srgbClr val="FEF3C7"/>
          </a:solidFill>
          <a:ln w="7620">
            <a:solidFill>
              <a:srgbClr val="FEF3C7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9390888" y="2171700"/>
            <a:ext cx="6949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40" b="1" dirty="0">
                <a:solidFill>
                  <a:srgbClr val="F59E0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业务入口</a:t>
            </a:r>
            <a:endParaRPr lang="en-US" sz="640" dirty="0"/>
          </a:p>
        </p:txBody>
      </p:sp>
      <p:sp>
        <p:nvSpPr>
          <p:cNvPr id="32" name="Shape 30"/>
          <p:cNvSpPr/>
          <p:nvPr/>
        </p:nvSpPr>
        <p:spPr>
          <a:xfrm>
            <a:off x="594360" y="3108960"/>
            <a:ext cx="3291840" cy="1325880"/>
          </a:xfrm>
          <a:prstGeom prst="roundRect">
            <a:avLst>
              <a:gd name="adj" fmla="val 12414"/>
            </a:avLst>
          </a:prstGeom>
          <a:solidFill>
            <a:srgbClr val="FFFFFF"/>
          </a:solidFill>
          <a:ln w="7620">
            <a:solidFill>
              <a:srgbClr val="D9E2EC"/>
            </a:solidFill>
            <a:prstDash val="solid"/>
          </a:ln>
          <a:effectLst>
            <a:outerShdw sx="100000" sy="100000" kx="0" ky="0" algn="bl" rotWithShape="0" blurRad="1.7189509497218795e+37" dist="3.437901899443759e+37" dir="4.5349632000000006e+44">
              <a:srgbClr val="CBD5E1">
                <a:alpha val="1.1999999999999999e+44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758952" y="3310128"/>
            <a:ext cx="384048" cy="384048"/>
          </a:xfrm>
          <a:prstGeom prst="roundRect">
            <a:avLst>
              <a:gd name="adj" fmla="val 23810"/>
            </a:avLst>
          </a:prstGeom>
          <a:solidFill>
            <a:srgbClr val="EDE9FE"/>
          </a:solidFill>
          <a:ln w="7620">
            <a:solidFill>
              <a:srgbClr val="EDE9FE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58952" y="3392424"/>
            <a:ext cx="38404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B5CF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4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1280160" y="3310128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材料中心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1280160" y="3611880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20" dirty="0">
                <a:solidFill>
                  <a:srgbClr val="64748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待提交材料 / 项目材料库 / 审核 / 费用凭证</a:t>
            </a:r>
            <a:endParaRPr lang="en-US" sz="820" dirty="0"/>
          </a:p>
        </p:txBody>
      </p:sp>
      <p:sp>
        <p:nvSpPr>
          <p:cNvPr id="37" name="Shape 35"/>
          <p:cNvSpPr/>
          <p:nvPr/>
        </p:nvSpPr>
        <p:spPr>
          <a:xfrm>
            <a:off x="1280160" y="4041648"/>
            <a:ext cx="621792" cy="182880"/>
          </a:xfrm>
          <a:prstGeom prst="roundRect">
            <a:avLst>
              <a:gd name="adj" fmla="val 60000"/>
            </a:avLst>
          </a:prstGeom>
          <a:solidFill>
            <a:srgbClr val="F1F5F9"/>
          </a:solidFill>
          <a:ln w="7620">
            <a:solidFill>
              <a:srgbClr val="F1F5F9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1280160" y="4046220"/>
            <a:ext cx="6217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40" b="1" dirty="0">
                <a:solidFill>
                  <a:srgbClr val="64748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中文化</a:t>
            </a:r>
            <a:endParaRPr lang="en-US" sz="640" dirty="0"/>
          </a:p>
        </p:txBody>
      </p:sp>
      <p:sp>
        <p:nvSpPr>
          <p:cNvPr id="39" name="Shape 37"/>
          <p:cNvSpPr/>
          <p:nvPr/>
        </p:nvSpPr>
        <p:spPr>
          <a:xfrm>
            <a:off x="1984248" y="4041648"/>
            <a:ext cx="694944" cy="182880"/>
          </a:xfrm>
          <a:prstGeom prst="roundRect">
            <a:avLst>
              <a:gd name="adj" fmla="val 60000"/>
            </a:avLst>
          </a:prstGeom>
          <a:solidFill>
            <a:srgbClr val="EDE9FE"/>
          </a:solidFill>
          <a:ln w="7620">
            <a:solidFill>
              <a:srgbClr val="EDE9FE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1984248" y="4046220"/>
            <a:ext cx="6949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40" b="1" dirty="0">
                <a:solidFill>
                  <a:srgbClr val="8B5CF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业务入口</a:t>
            </a:r>
            <a:endParaRPr lang="en-US" sz="640" dirty="0"/>
          </a:p>
        </p:txBody>
      </p:sp>
      <p:sp>
        <p:nvSpPr>
          <p:cNvPr id="41" name="Shape 39"/>
          <p:cNvSpPr/>
          <p:nvPr/>
        </p:nvSpPr>
        <p:spPr>
          <a:xfrm>
            <a:off x="4297680" y="3108960"/>
            <a:ext cx="3291840" cy="1325880"/>
          </a:xfrm>
          <a:prstGeom prst="roundRect">
            <a:avLst>
              <a:gd name="adj" fmla="val 12414"/>
            </a:avLst>
          </a:prstGeom>
          <a:solidFill>
            <a:srgbClr val="FFFFFF"/>
          </a:solidFill>
          <a:ln w="7620">
            <a:solidFill>
              <a:srgbClr val="D9E2EC"/>
            </a:solidFill>
            <a:prstDash val="solid"/>
          </a:ln>
          <a:effectLst>
            <a:outerShdw sx="100000" sy="100000" kx="0" ky="0" algn="bl" rotWithShape="0" blurRad="2.183067706146787e+41" dist="4.366135412293574e+41" dir="2.72097792e+49">
              <a:srgbClr val="CBD5E1">
                <a:alpha val="1.2e+49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4462272" y="3310128"/>
            <a:ext cx="384048" cy="384048"/>
          </a:xfrm>
          <a:prstGeom prst="roundRect">
            <a:avLst>
              <a:gd name="adj" fmla="val 23810"/>
            </a:avLst>
          </a:prstGeom>
          <a:solidFill>
            <a:srgbClr val="D1FAE5"/>
          </a:solidFill>
          <a:ln w="7620">
            <a:solidFill>
              <a:srgbClr val="D1FAE5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462272" y="3392424"/>
            <a:ext cx="38404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0B98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5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4983480" y="3310128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月度评审</a:t>
            </a:r>
            <a:endParaRPr lang="en-US" sz="1300" dirty="0"/>
          </a:p>
        </p:txBody>
      </p:sp>
      <p:sp>
        <p:nvSpPr>
          <p:cNvPr id="45" name="Text 43"/>
          <p:cNvSpPr/>
          <p:nvPr/>
        </p:nvSpPr>
        <p:spPr>
          <a:xfrm>
            <a:off x="4983480" y="3611880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20" dirty="0">
                <a:solidFill>
                  <a:srgbClr val="64748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整车色差一致性评审 / 月度台账</a:t>
            </a:r>
            <a:endParaRPr lang="en-US" sz="820" dirty="0"/>
          </a:p>
        </p:txBody>
      </p:sp>
      <p:sp>
        <p:nvSpPr>
          <p:cNvPr id="46" name="Shape 44"/>
          <p:cNvSpPr/>
          <p:nvPr/>
        </p:nvSpPr>
        <p:spPr>
          <a:xfrm>
            <a:off x="4983480" y="4041648"/>
            <a:ext cx="621792" cy="182880"/>
          </a:xfrm>
          <a:prstGeom prst="roundRect">
            <a:avLst>
              <a:gd name="adj" fmla="val 60000"/>
            </a:avLst>
          </a:prstGeom>
          <a:solidFill>
            <a:srgbClr val="F1F5F9"/>
          </a:solidFill>
          <a:ln w="7620">
            <a:solidFill>
              <a:srgbClr val="F1F5F9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983480" y="4046220"/>
            <a:ext cx="6217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40" b="1" dirty="0">
                <a:solidFill>
                  <a:srgbClr val="64748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中文化</a:t>
            </a:r>
            <a:endParaRPr lang="en-US" sz="640" dirty="0"/>
          </a:p>
        </p:txBody>
      </p:sp>
      <p:sp>
        <p:nvSpPr>
          <p:cNvPr id="48" name="Shape 46"/>
          <p:cNvSpPr/>
          <p:nvPr/>
        </p:nvSpPr>
        <p:spPr>
          <a:xfrm>
            <a:off x="5687568" y="4041648"/>
            <a:ext cx="694944" cy="182880"/>
          </a:xfrm>
          <a:prstGeom prst="roundRect">
            <a:avLst>
              <a:gd name="adj" fmla="val 60000"/>
            </a:avLst>
          </a:prstGeom>
          <a:solidFill>
            <a:srgbClr val="D1FAE5"/>
          </a:solidFill>
          <a:ln w="7620">
            <a:solidFill>
              <a:srgbClr val="D1FAE5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5687568" y="4046220"/>
            <a:ext cx="6949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40" b="1" dirty="0">
                <a:solidFill>
                  <a:srgbClr val="10B98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管理分析</a:t>
            </a:r>
            <a:endParaRPr lang="en-US" sz="640" dirty="0"/>
          </a:p>
        </p:txBody>
      </p:sp>
      <p:sp>
        <p:nvSpPr>
          <p:cNvPr id="50" name="Shape 48"/>
          <p:cNvSpPr/>
          <p:nvPr/>
        </p:nvSpPr>
        <p:spPr>
          <a:xfrm>
            <a:off x="8001000" y="3108960"/>
            <a:ext cx="3291840" cy="1325880"/>
          </a:xfrm>
          <a:prstGeom prst="roundRect">
            <a:avLst>
              <a:gd name="adj" fmla="val 12414"/>
            </a:avLst>
          </a:prstGeom>
          <a:solidFill>
            <a:srgbClr val="FFFFFF"/>
          </a:solidFill>
          <a:ln w="7620">
            <a:solidFill>
              <a:srgbClr val="D9E2EC"/>
            </a:solidFill>
            <a:prstDash val="solid"/>
          </a:ln>
          <a:effectLst>
            <a:outerShdw sx="100000" sy="100000" kx="0" ky="0" algn="bl" rotWithShape="0" blurRad="2.7724959868064195e+45" dist="5.544991973612839e+45" dir="1.6325867520000003e+54">
              <a:srgbClr val="CBD5E1">
                <a:alpha val="1.2e+54"/>
              </a:srgbClr>
            </a:outerShdw>
          </a:effectLst>
        </p:spPr>
      </p:sp>
      <p:sp>
        <p:nvSpPr>
          <p:cNvPr id="51" name="Shape 49"/>
          <p:cNvSpPr/>
          <p:nvPr/>
        </p:nvSpPr>
        <p:spPr>
          <a:xfrm>
            <a:off x="8165592" y="3310128"/>
            <a:ext cx="384048" cy="384048"/>
          </a:xfrm>
          <a:prstGeom prst="roundRect">
            <a:avLst>
              <a:gd name="adj" fmla="val 23810"/>
            </a:avLst>
          </a:prstGeom>
          <a:solidFill>
            <a:srgbClr val="FEE2E2"/>
          </a:solidFill>
          <a:ln w="7620">
            <a:solidFill>
              <a:srgbClr val="FEE2E2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8165592" y="3392424"/>
            <a:ext cx="38404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EF444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6</a:t>
            </a:r>
            <a:endParaRPr lang="en-US" sz="800" dirty="0"/>
          </a:p>
        </p:txBody>
      </p:sp>
      <p:sp>
        <p:nvSpPr>
          <p:cNvPr id="53" name="Text 51"/>
          <p:cNvSpPr/>
          <p:nvPr/>
        </p:nvSpPr>
        <p:spPr>
          <a:xfrm>
            <a:off x="8686800" y="3310128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数据中心</a:t>
            </a:r>
            <a:endParaRPr lang="en-US" sz="1300" dirty="0"/>
          </a:p>
        </p:txBody>
      </p:sp>
      <p:sp>
        <p:nvSpPr>
          <p:cNvPr id="54" name="Text 52"/>
          <p:cNvSpPr/>
          <p:nvPr/>
        </p:nvSpPr>
        <p:spPr>
          <a:xfrm>
            <a:off x="8686800" y="3611880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20" dirty="0">
                <a:solidFill>
                  <a:srgbClr val="64748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进度 / 逾期 / 返工 / 费用 / 退出统计</a:t>
            </a:r>
            <a:endParaRPr lang="en-US" sz="820" dirty="0"/>
          </a:p>
        </p:txBody>
      </p:sp>
      <p:sp>
        <p:nvSpPr>
          <p:cNvPr id="55" name="Shape 53"/>
          <p:cNvSpPr/>
          <p:nvPr/>
        </p:nvSpPr>
        <p:spPr>
          <a:xfrm>
            <a:off x="8686800" y="4041648"/>
            <a:ext cx="621792" cy="182880"/>
          </a:xfrm>
          <a:prstGeom prst="roundRect">
            <a:avLst>
              <a:gd name="adj" fmla="val 60000"/>
            </a:avLst>
          </a:prstGeom>
          <a:solidFill>
            <a:srgbClr val="F1F5F9"/>
          </a:solidFill>
          <a:ln w="7620">
            <a:solidFill>
              <a:srgbClr val="F1F5F9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8686800" y="4046220"/>
            <a:ext cx="6217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40" b="1" dirty="0">
                <a:solidFill>
                  <a:srgbClr val="64748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中文化</a:t>
            </a:r>
            <a:endParaRPr lang="en-US" sz="640" dirty="0"/>
          </a:p>
        </p:txBody>
      </p:sp>
      <p:sp>
        <p:nvSpPr>
          <p:cNvPr id="57" name="Shape 55"/>
          <p:cNvSpPr/>
          <p:nvPr/>
        </p:nvSpPr>
        <p:spPr>
          <a:xfrm>
            <a:off x="9390888" y="4041648"/>
            <a:ext cx="694944" cy="182880"/>
          </a:xfrm>
          <a:prstGeom prst="roundRect">
            <a:avLst>
              <a:gd name="adj" fmla="val 60000"/>
            </a:avLst>
          </a:prstGeom>
          <a:solidFill>
            <a:srgbClr val="FEE2E2"/>
          </a:solidFill>
          <a:ln w="7620">
            <a:solidFill>
              <a:srgbClr val="FEE2E2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9390888" y="4046220"/>
            <a:ext cx="6949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40" b="1" dirty="0">
                <a:solidFill>
                  <a:srgbClr val="EF444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管理分析</a:t>
            </a:r>
            <a:endParaRPr lang="en-US" sz="640" dirty="0"/>
          </a:p>
        </p:txBody>
      </p:sp>
      <p:sp>
        <p:nvSpPr>
          <p:cNvPr id="59" name="Shape 57"/>
          <p:cNvSpPr/>
          <p:nvPr/>
        </p:nvSpPr>
        <p:spPr>
          <a:xfrm>
            <a:off x="914400" y="5440680"/>
            <a:ext cx="10378440" cy="694944"/>
          </a:xfrm>
          <a:prstGeom prst="roundRect">
            <a:avLst>
              <a:gd name="adj" fmla="val 23684"/>
            </a:avLst>
          </a:prstGeom>
          <a:solidFill>
            <a:srgbClr val="0B1220"/>
          </a:solidFill>
          <a:ln w="7620">
            <a:solidFill>
              <a:srgbClr val="0B1220"/>
            </a:solidFill>
            <a:prstDash val="solid"/>
          </a:ln>
          <a:effectLst>
            <a:outerShdw sx="100000" sy="100000" kx="0" ky="0" algn="bl" rotWithShape="0" blurRad="6145149000000" dist="8193532000000" dir="9720000000000000">
              <a:srgbClr val="CBD5E1">
                <a:alpha val="220000000000000"/>
              </a:srgbClr>
            </a:outerShdw>
          </a:effectLst>
        </p:spPr>
      </p:sp>
      <p:sp>
        <p:nvSpPr>
          <p:cNvPr id="60" name="Text 58"/>
          <p:cNvSpPr/>
          <p:nvPr/>
        </p:nvSpPr>
        <p:spPr>
          <a:xfrm>
            <a:off x="1143000" y="5696712"/>
            <a:ext cx="1325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工作台看风险</a:t>
            </a:r>
            <a:endParaRPr lang="en-US" sz="800" dirty="0"/>
          </a:p>
        </p:txBody>
      </p:sp>
      <p:sp>
        <p:nvSpPr>
          <p:cNvPr id="61" name="Text 59"/>
          <p:cNvSpPr/>
          <p:nvPr/>
        </p:nvSpPr>
        <p:spPr>
          <a:xfrm>
            <a:off x="2496312" y="5669280"/>
            <a:ext cx="182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→</a:t>
            </a:r>
            <a:endParaRPr lang="en-US" sz="1000" dirty="0"/>
          </a:p>
        </p:txBody>
      </p:sp>
      <p:sp>
        <p:nvSpPr>
          <p:cNvPr id="62" name="Text 60"/>
          <p:cNvSpPr/>
          <p:nvPr/>
        </p:nvSpPr>
        <p:spPr>
          <a:xfrm>
            <a:off x="2807208" y="5696712"/>
            <a:ext cx="1325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进入项目看板</a:t>
            </a:r>
            <a:endParaRPr lang="en-US" sz="800" dirty="0"/>
          </a:p>
        </p:txBody>
      </p:sp>
      <p:sp>
        <p:nvSpPr>
          <p:cNvPr id="63" name="Text 61"/>
          <p:cNvSpPr/>
          <p:nvPr/>
        </p:nvSpPr>
        <p:spPr>
          <a:xfrm>
            <a:off x="4160520" y="5669280"/>
            <a:ext cx="182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→</a:t>
            </a:r>
            <a:endParaRPr lang="en-US" sz="1000" dirty="0"/>
          </a:p>
        </p:txBody>
      </p:sp>
      <p:sp>
        <p:nvSpPr>
          <p:cNvPr id="64" name="Text 62"/>
          <p:cNvSpPr/>
          <p:nvPr/>
        </p:nvSpPr>
        <p:spPr>
          <a:xfrm>
            <a:off x="4471416" y="5696712"/>
            <a:ext cx="1325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查看工序详情</a:t>
            </a:r>
            <a:endParaRPr lang="en-US" sz="800" dirty="0"/>
          </a:p>
        </p:txBody>
      </p:sp>
      <p:sp>
        <p:nvSpPr>
          <p:cNvPr id="65" name="Text 63"/>
          <p:cNvSpPr/>
          <p:nvPr/>
        </p:nvSpPr>
        <p:spPr>
          <a:xfrm>
            <a:off x="5824728" y="5669280"/>
            <a:ext cx="182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→</a:t>
            </a:r>
            <a:endParaRPr lang="en-US" sz="1000" dirty="0"/>
          </a:p>
        </p:txBody>
      </p:sp>
      <p:sp>
        <p:nvSpPr>
          <p:cNvPr id="66" name="Text 64"/>
          <p:cNvSpPr/>
          <p:nvPr/>
        </p:nvSpPr>
        <p:spPr>
          <a:xfrm>
            <a:off x="6135624" y="5696712"/>
            <a:ext cx="1325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提交/审核材料</a:t>
            </a:r>
            <a:endParaRPr lang="en-US" sz="800" dirty="0"/>
          </a:p>
        </p:txBody>
      </p:sp>
      <p:sp>
        <p:nvSpPr>
          <p:cNvPr id="67" name="Text 65"/>
          <p:cNvSpPr/>
          <p:nvPr/>
        </p:nvSpPr>
        <p:spPr>
          <a:xfrm>
            <a:off x="7488936" y="5669280"/>
            <a:ext cx="182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→</a:t>
            </a:r>
            <a:endParaRPr lang="en-US" sz="1000" dirty="0"/>
          </a:p>
        </p:txBody>
      </p:sp>
      <p:sp>
        <p:nvSpPr>
          <p:cNvPr id="68" name="Text 66"/>
          <p:cNvSpPr/>
          <p:nvPr/>
        </p:nvSpPr>
        <p:spPr>
          <a:xfrm>
            <a:off x="7799832" y="5696712"/>
            <a:ext cx="1325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月度评审跟踪</a:t>
            </a:r>
            <a:endParaRPr lang="en-US" sz="800" dirty="0"/>
          </a:p>
        </p:txBody>
      </p:sp>
      <p:sp>
        <p:nvSpPr>
          <p:cNvPr id="69" name="Text 67"/>
          <p:cNvSpPr/>
          <p:nvPr/>
        </p:nvSpPr>
        <p:spPr>
          <a:xfrm>
            <a:off x="9153144" y="5669280"/>
            <a:ext cx="182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→</a:t>
            </a:r>
            <a:endParaRPr lang="en-US" sz="1000" dirty="0"/>
          </a:p>
        </p:txBody>
      </p:sp>
      <p:sp>
        <p:nvSpPr>
          <p:cNvPr id="70" name="Text 68"/>
          <p:cNvSpPr/>
          <p:nvPr/>
        </p:nvSpPr>
        <p:spPr>
          <a:xfrm>
            <a:off x="9464040" y="5696712"/>
            <a:ext cx="1325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数据中心复盘</a:t>
            </a:r>
            <a:endParaRPr lang="en-US" sz="800" dirty="0"/>
          </a:p>
        </p:txBody>
      </p:sp>
      <p:sp>
        <p:nvSpPr>
          <p:cNvPr id="71" name="Text 69"/>
          <p:cNvSpPr/>
          <p:nvPr/>
        </p:nvSpPr>
        <p:spPr>
          <a:xfrm>
            <a:off x="11567160" y="6492240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02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6766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02｜视觉语言与状态体系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02920" y="786384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制造业项目管理界面：简洁、稳重、信息密度高，所有状态一眼可识别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02920" y="1143000"/>
            <a:ext cx="11201400" cy="0"/>
          </a:xfrm>
          <a:prstGeom prst="line">
            <a:avLst/>
          </a:prstGeom>
          <a:noFill/>
          <a:ln w="8890">
            <a:solidFill>
              <a:srgbClr val="D9E2EC"/>
            </a:solidFill>
            <a:prstDash val="solid"/>
            <a:headEnd type="none"/>
            <a:tailEnd type="none"/>
          </a:ln>
        </p:spPr>
      </p:sp>
      <p:sp>
        <p:nvSpPr>
          <p:cNvPr id="5" name="Shape 3"/>
          <p:cNvSpPr/>
          <p:nvPr/>
        </p:nvSpPr>
        <p:spPr>
          <a:xfrm>
            <a:off x="594360" y="1234440"/>
            <a:ext cx="5212080" cy="4983480"/>
          </a:xfrm>
          <a:prstGeom prst="roundRect">
            <a:avLst>
              <a:gd name="adj" fmla="val 3670"/>
            </a:avLst>
          </a:prstGeom>
          <a:solidFill>
            <a:srgbClr val="FFFFFF"/>
          </a:solidFill>
          <a:ln w="7620">
            <a:solidFill>
              <a:srgbClr val="D9E2EC"/>
            </a:solidFill>
            <a:prstDash val="solid"/>
          </a:ln>
          <a:effectLst>
            <a:outerShdw sx="100000" sy="100000" kx="0" ky="0" algn="bl" rotWithShape="0" blurRad="3.5210699032441527e+49" dist="7.042139806488305e+49" dir="9.795520512000002e+58">
              <a:srgbClr val="CBD5E1">
                <a:alpha val="1.2e+59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914400" y="155448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状态颜色规则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914400" y="1938528"/>
            <a:ext cx="786384" cy="201168"/>
          </a:xfrm>
          <a:prstGeom prst="roundRect">
            <a:avLst>
              <a:gd name="adj" fmla="val 54545"/>
            </a:avLst>
          </a:prstGeom>
          <a:solidFill>
            <a:srgbClr val="F1F5F9"/>
          </a:solidFill>
          <a:ln w="7620">
            <a:solidFill>
              <a:srgbClr val="F1F5F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1943100"/>
            <a:ext cx="7863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94A3B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未开始</a:t>
            </a:r>
            <a:endParaRPr lang="en-US" sz="680" dirty="0"/>
          </a:p>
        </p:txBody>
      </p:sp>
      <p:sp>
        <p:nvSpPr>
          <p:cNvPr id="9" name="Text 7"/>
          <p:cNvSpPr/>
          <p:nvPr/>
        </p:nvSpPr>
        <p:spPr>
          <a:xfrm>
            <a:off x="1874520" y="1965960"/>
            <a:ext cx="5486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20" dirty="0">
                <a:solidFill>
                  <a:srgbClr val="0F172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灰色</a:t>
            </a:r>
            <a:endParaRPr lang="en-US" sz="720" dirty="0"/>
          </a:p>
        </p:txBody>
      </p:sp>
      <p:sp>
        <p:nvSpPr>
          <p:cNvPr id="10" name="Text 8"/>
          <p:cNvSpPr/>
          <p:nvPr/>
        </p:nvSpPr>
        <p:spPr>
          <a:xfrm>
            <a:off x="2542032" y="1965960"/>
            <a:ext cx="26517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20" dirty="0">
                <a:solidFill>
                  <a:srgbClr val="64748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等待前置工序完成</a:t>
            </a:r>
            <a:endParaRPr lang="en-US" sz="720" dirty="0"/>
          </a:p>
        </p:txBody>
      </p:sp>
      <p:sp>
        <p:nvSpPr>
          <p:cNvPr id="11" name="Shape 9"/>
          <p:cNvSpPr/>
          <p:nvPr/>
        </p:nvSpPr>
        <p:spPr>
          <a:xfrm>
            <a:off x="914400" y="2350008"/>
            <a:ext cx="786384" cy="201168"/>
          </a:xfrm>
          <a:prstGeom prst="roundRect">
            <a:avLst>
              <a:gd name="adj" fmla="val 54545"/>
            </a:avLst>
          </a:prstGeom>
          <a:solidFill>
            <a:srgbClr val="DBEAFE"/>
          </a:solidFill>
          <a:ln w="7620">
            <a:solidFill>
              <a:srgbClr val="DBEAF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14400" y="2354580"/>
            <a:ext cx="7863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2563E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进行中</a:t>
            </a:r>
            <a:endParaRPr lang="en-US" sz="680" dirty="0"/>
          </a:p>
        </p:txBody>
      </p:sp>
      <p:sp>
        <p:nvSpPr>
          <p:cNvPr id="13" name="Text 11"/>
          <p:cNvSpPr/>
          <p:nvPr/>
        </p:nvSpPr>
        <p:spPr>
          <a:xfrm>
            <a:off x="1874520" y="2377440"/>
            <a:ext cx="5486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20" dirty="0">
                <a:solidFill>
                  <a:srgbClr val="0F172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蓝色</a:t>
            </a:r>
            <a:endParaRPr lang="en-US" sz="720" dirty="0"/>
          </a:p>
        </p:txBody>
      </p:sp>
      <p:sp>
        <p:nvSpPr>
          <p:cNvPr id="14" name="Text 12"/>
          <p:cNvSpPr/>
          <p:nvPr/>
        </p:nvSpPr>
        <p:spPr>
          <a:xfrm>
            <a:off x="2542032" y="2377440"/>
            <a:ext cx="26517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20" dirty="0">
                <a:solidFill>
                  <a:srgbClr val="64748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当前责任人正在处理</a:t>
            </a:r>
            <a:endParaRPr lang="en-US" sz="720" dirty="0"/>
          </a:p>
        </p:txBody>
      </p:sp>
      <p:sp>
        <p:nvSpPr>
          <p:cNvPr id="15" name="Shape 13"/>
          <p:cNvSpPr/>
          <p:nvPr/>
        </p:nvSpPr>
        <p:spPr>
          <a:xfrm>
            <a:off x="914400" y="2761488"/>
            <a:ext cx="786384" cy="201168"/>
          </a:xfrm>
          <a:prstGeom prst="roundRect">
            <a:avLst>
              <a:gd name="adj" fmla="val 54545"/>
            </a:avLst>
          </a:prstGeom>
          <a:solidFill>
            <a:srgbClr val="FEF3C7"/>
          </a:solidFill>
          <a:ln w="7620">
            <a:solidFill>
              <a:srgbClr val="FEF3C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14400" y="2766060"/>
            <a:ext cx="7863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F59E0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待评审</a:t>
            </a:r>
            <a:endParaRPr lang="en-US" sz="680" dirty="0"/>
          </a:p>
        </p:txBody>
      </p:sp>
      <p:sp>
        <p:nvSpPr>
          <p:cNvPr id="17" name="Text 15"/>
          <p:cNvSpPr/>
          <p:nvPr/>
        </p:nvSpPr>
        <p:spPr>
          <a:xfrm>
            <a:off x="1874520" y="2788920"/>
            <a:ext cx="5486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20" dirty="0">
                <a:solidFill>
                  <a:srgbClr val="0F172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橙色</a:t>
            </a:r>
            <a:endParaRPr lang="en-US" sz="720" dirty="0"/>
          </a:p>
        </p:txBody>
      </p:sp>
      <p:sp>
        <p:nvSpPr>
          <p:cNvPr id="18" name="Text 16"/>
          <p:cNvSpPr/>
          <p:nvPr/>
        </p:nvSpPr>
        <p:spPr>
          <a:xfrm>
            <a:off x="2542032" y="2788920"/>
            <a:ext cx="26517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20" dirty="0">
                <a:solidFill>
                  <a:srgbClr val="64748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需要评审动作</a:t>
            </a:r>
            <a:endParaRPr lang="en-US" sz="720" dirty="0"/>
          </a:p>
        </p:txBody>
      </p:sp>
      <p:sp>
        <p:nvSpPr>
          <p:cNvPr id="19" name="Shape 17"/>
          <p:cNvSpPr/>
          <p:nvPr/>
        </p:nvSpPr>
        <p:spPr>
          <a:xfrm>
            <a:off x="914400" y="3172968"/>
            <a:ext cx="786384" cy="201168"/>
          </a:xfrm>
          <a:prstGeom prst="roundRect">
            <a:avLst>
              <a:gd name="adj" fmla="val 54545"/>
            </a:avLst>
          </a:prstGeom>
          <a:solidFill>
            <a:srgbClr val="D1FAE5"/>
          </a:solidFill>
          <a:ln w="7620">
            <a:solidFill>
              <a:srgbClr val="D1FAE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14400" y="3177540"/>
            <a:ext cx="7863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10B98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已完成</a:t>
            </a:r>
            <a:endParaRPr lang="en-US" sz="680" dirty="0"/>
          </a:p>
        </p:txBody>
      </p:sp>
      <p:sp>
        <p:nvSpPr>
          <p:cNvPr id="21" name="Text 19"/>
          <p:cNvSpPr/>
          <p:nvPr/>
        </p:nvSpPr>
        <p:spPr>
          <a:xfrm>
            <a:off x="1874520" y="3200400"/>
            <a:ext cx="5486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20" dirty="0">
                <a:solidFill>
                  <a:srgbClr val="0F172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绿色</a:t>
            </a:r>
            <a:endParaRPr lang="en-US" sz="720" dirty="0"/>
          </a:p>
        </p:txBody>
      </p:sp>
      <p:sp>
        <p:nvSpPr>
          <p:cNvPr id="22" name="Text 20"/>
          <p:cNvSpPr/>
          <p:nvPr/>
        </p:nvSpPr>
        <p:spPr>
          <a:xfrm>
            <a:off x="2542032" y="3200400"/>
            <a:ext cx="26517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20" dirty="0">
                <a:solidFill>
                  <a:srgbClr val="64748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按时完成</a:t>
            </a:r>
            <a:endParaRPr lang="en-US" sz="720" dirty="0"/>
          </a:p>
        </p:txBody>
      </p:sp>
      <p:sp>
        <p:nvSpPr>
          <p:cNvPr id="23" name="Shape 21"/>
          <p:cNvSpPr/>
          <p:nvPr/>
        </p:nvSpPr>
        <p:spPr>
          <a:xfrm>
            <a:off x="914400" y="3584448"/>
            <a:ext cx="786384" cy="201168"/>
          </a:xfrm>
          <a:prstGeom prst="roundRect">
            <a:avLst>
              <a:gd name="adj" fmla="val 54545"/>
            </a:avLst>
          </a:prstGeom>
          <a:solidFill>
            <a:srgbClr val="FEE2E2"/>
          </a:solidFill>
          <a:ln w="7620">
            <a:solidFill>
              <a:srgbClr val="FEE2E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14400" y="3589020"/>
            <a:ext cx="7863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EF444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已逾期</a:t>
            </a:r>
            <a:endParaRPr lang="en-US" sz="680" dirty="0"/>
          </a:p>
        </p:txBody>
      </p:sp>
      <p:sp>
        <p:nvSpPr>
          <p:cNvPr id="25" name="Text 23"/>
          <p:cNvSpPr/>
          <p:nvPr/>
        </p:nvSpPr>
        <p:spPr>
          <a:xfrm>
            <a:off x="1874520" y="3611880"/>
            <a:ext cx="5486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20" dirty="0">
                <a:solidFill>
                  <a:srgbClr val="0F172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红色</a:t>
            </a:r>
            <a:endParaRPr lang="en-US" sz="720" dirty="0"/>
          </a:p>
        </p:txBody>
      </p:sp>
      <p:sp>
        <p:nvSpPr>
          <p:cNvPr id="26" name="Text 24"/>
          <p:cNvSpPr/>
          <p:nvPr/>
        </p:nvSpPr>
        <p:spPr>
          <a:xfrm>
            <a:off x="2542032" y="3611880"/>
            <a:ext cx="26517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20" dirty="0">
                <a:solidFill>
                  <a:srgbClr val="64748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超过截止时间未完成</a:t>
            </a:r>
            <a:endParaRPr lang="en-US" sz="720" dirty="0"/>
          </a:p>
        </p:txBody>
      </p:sp>
      <p:sp>
        <p:nvSpPr>
          <p:cNvPr id="27" name="Shape 25"/>
          <p:cNvSpPr/>
          <p:nvPr/>
        </p:nvSpPr>
        <p:spPr>
          <a:xfrm>
            <a:off x="914400" y="3995928"/>
            <a:ext cx="786384" cy="201168"/>
          </a:xfrm>
          <a:prstGeom prst="roundRect">
            <a:avLst>
              <a:gd name="adj" fmla="val 54545"/>
            </a:avLst>
          </a:prstGeom>
          <a:solidFill>
            <a:srgbClr val="EDE9FE"/>
          </a:solidFill>
          <a:ln w="7620">
            <a:solidFill>
              <a:srgbClr val="EDE9F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14400" y="4000500"/>
            <a:ext cx="7863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8B5CF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已退回</a:t>
            </a:r>
            <a:endParaRPr lang="en-US" sz="680" dirty="0"/>
          </a:p>
        </p:txBody>
      </p:sp>
      <p:sp>
        <p:nvSpPr>
          <p:cNvPr id="29" name="Text 27"/>
          <p:cNvSpPr/>
          <p:nvPr/>
        </p:nvSpPr>
        <p:spPr>
          <a:xfrm>
            <a:off x="1874520" y="4023360"/>
            <a:ext cx="5486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20" dirty="0">
                <a:solidFill>
                  <a:srgbClr val="0F172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紫色</a:t>
            </a:r>
            <a:endParaRPr lang="en-US" sz="720" dirty="0"/>
          </a:p>
        </p:txBody>
      </p:sp>
      <p:sp>
        <p:nvSpPr>
          <p:cNvPr id="30" name="Text 28"/>
          <p:cNvSpPr/>
          <p:nvPr/>
        </p:nvSpPr>
        <p:spPr>
          <a:xfrm>
            <a:off x="2542032" y="4023360"/>
            <a:ext cx="26517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20" dirty="0">
                <a:solidFill>
                  <a:srgbClr val="64748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评审不通过产生新轮次</a:t>
            </a:r>
            <a:endParaRPr lang="en-US" sz="720" dirty="0"/>
          </a:p>
        </p:txBody>
      </p:sp>
      <p:sp>
        <p:nvSpPr>
          <p:cNvPr id="31" name="Shape 29"/>
          <p:cNvSpPr/>
          <p:nvPr/>
        </p:nvSpPr>
        <p:spPr>
          <a:xfrm>
            <a:off x="914400" y="4407408"/>
            <a:ext cx="786384" cy="201168"/>
          </a:xfrm>
          <a:prstGeom prst="roundRect">
            <a:avLst>
              <a:gd name="adj" fmla="val 54545"/>
            </a:avLst>
          </a:prstGeom>
          <a:solidFill>
            <a:srgbClr val="CFFAFE"/>
          </a:solidFill>
          <a:ln w="7620">
            <a:solidFill>
              <a:srgbClr val="CFFAF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914400" y="4411980"/>
            <a:ext cx="7863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06B6D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月度跟踪</a:t>
            </a:r>
            <a:endParaRPr lang="en-US" sz="680" dirty="0"/>
          </a:p>
        </p:txBody>
      </p:sp>
      <p:sp>
        <p:nvSpPr>
          <p:cNvPr id="33" name="Text 31"/>
          <p:cNvSpPr/>
          <p:nvPr/>
        </p:nvSpPr>
        <p:spPr>
          <a:xfrm>
            <a:off x="1874520" y="4434840"/>
            <a:ext cx="5486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20" dirty="0">
                <a:solidFill>
                  <a:srgbClr val="0F172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青色</a:t>
            </a:r>
            <a:endParaRPr lang="en-US" sz="720" dirty="0"/>
          </a:p>
        </p:txBody>
      </p:sp>
      <p:sp>
        <p:nvSpPr>
          <p:cNvPr id="34" name="Text 32"/>
          <p:cNvSpPr/>
          <p:nvPr/>
        </p:nvSpPr>
        <p:spPr>
          <a:xfrm>
            <a:off x="2542032" y="4434840"/>
            <a:ext cx="26517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20" dirty="0">
                <a:solidFill>
                  <a:srgbClr val="64748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第17步持续12个月跟踪</a:t>
            </a:r>
            <a:endParaRPr lang="en-US" sz="720" dirty="0"/>
          </a:p>
        </p:txBody>
      </p:sp>
      <p:sp>
        <p:nvSpPr>
          <p:cNvPr id="35" name="Shape 33"/>
          <p:cNvSpPr/>
          <p:nvPr/>
        </p:nvSpPr>
        <p:spPr>
          <a:xfrm>
            <a:off x="914400" y="4818888"/>
            <a:ext cx="786384" cy="201168"/>
          </a:xfrm>
          <a:prstGeom prst="roundRect">
            <a:avLst>
              <a:gd name="adj" fmla="val 54545"/>
            </a:avLst>
          </a:prstGeom>
          <a:solidFill>
            <a:srgbClr val="FFEDD5"/>
          </a:solidFill>
          <a:ln w="7620">
            <a:solidFill>
              <a:srgbClr val="FFEDD5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914400" y="4823460"/>
            <a:ext cx="7863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C2410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待退出</a:t>
            </a:r>
            <a:endParaRPr lang="en-US" sz="680" dirty="0"/>
          </a:p>
        </p:txBody>
      </p:sp>
      <p:sp>
        <p:nvSpPr>
          <p:cNvPr id="37" name="Text 35"/>
          <p:cNvSpPr/>
          <p:nvPr/>
        </p:nvSpPr>
        <p:spPr>
          <a:xfrm>
            <a:off x="1874520" y="4846320"/>
            <a:ext cx="5486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20" dirty="0">
                <a:solidFill>
                  <a:srgbClr val="0F172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深橙</a:t>
            </a:r>
            <a:endParaRPr lang="en-US" sz="720" dirty="0"/>
          </a:p>
        </p:txBody>
      </p:sp>
      <p:sp>
        <p:nvSpPr>
          <p:cNvPr id="38" name="Text 36"/>
          <p:cNvSpPr/>
          <p:nvPr/>
        </p:nvSpPr>
        <p:spPr>
          <a:xfrm>
            <a:off x="2542032" y="4846320"/>
            <a:ext cx="26517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20" dirty="0">
                <a:solidFill>
                  <a:srgbClr val="64748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第18步待治理</a:t>
            </a:r>
            <a:endParaRPr lang="en-US" sz="720" dirty="0"/>
          </a:p>
        </p:txBody>
      </p:sp>
      <p:sp>
        <p:nvSpPr>
          <p:cNvPr id="39" name="Shape 37"/>
          <p:cNvSpPr/>
          <p:nvPr/>
        </p:nvSpPr>
        <p:spPr>
          <a:xfrm>
            <a:off x="6080760" y="1234440"/>
            <a:ext cx="5349240" cy="2148840"/>
          </a:xfrm>
          <a:prstGeom prst="roundRect">
            <a:avLst>
              <a:gd name="adj" fmla="val 8511"/>
            </a:avLst>
          </a:prstGeom>
          <a:solidFill>
            <a:srgbClr val="FFFFFF"/>
          </a:solidFill>
          <a:ln w="7620">
            <a:solidFill>
              <a:srgbClr val="D9E2EC"/>
            </a:solidFill>
            <a:prstDash val="solid"/>
          </a:ln>
          <a:effectLst>
            <a:outerShdw sx="100000" sy="100000" kx="0" ky="0" algn="bl" rotWithShape="0" blurRad="4.471758777120074e+53" dist="8.943517554240149e+53" dir="5.877312307200001e+63">
              <a:srgbClr val="CBD5E1">
                <a:alpha val="1.2000000000000001e+64"/>
              </a:srgbClr>
            </a:outerShdw>
          </a:effectLst>
        </p:spPr>
      </p:sp>
      <p:sp>
        <p:nvSpPr>
          <p:cNvPr id="40" name="Text 38"/>
          <p:cNvSpPr/>
          <p:nvPr/>
        </p:nvSpPr>
        <p:spPr>
          <a:xfrm>
            <a:off x="6400800" y="1536192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组件规范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6400800" y="1993392"/>
            <a:ext cx="64008" cy="64008"/>
          </a:xfrm>
          <a:prstGeom prst="ellipse">
            <a:avLst/>
          </a:prstGeom>
          <a:solidFill>
            <a:srgbClr val="2563EB"/>
          </a:solidFill>
          <a:ln w="6350">
            <a:solidFill>
              <a:srgbClr val="2563EB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547104" y="1938528"/>
            <a:ext cx="45171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40" dirty="0">
                <a:solidFill>
                  <a:srgbClr val="0F172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卡片白底 + 细边框 + 轻阴影，避免厚重面板</a:t>
            </a:r>
            <a:endParaRPr lang="en-US" sz="840" dirty="0"/>
          </a:p>
        </p:txBody>
      </p:sp>
      <p:sp>
        <p:nvSpPr>
          <p:cNvPr id="43" name="Shape 41"/>
          <p:cNvSpPr/>
          <p:nvPr/>
        </p:nvSpPr>
        <p:spPr>
          <a:xfrm>
            <a:off x="6400800" y="2286000"/>
            <a:ext cx="64008" cy="64008"/>
          </a:xfrm>
          <a:prstGeom prst="ellipse">
            <a:avLst/>
          </a:prstGeom>
          <a:solidFill>
            <a:srgbClr val="2563EB"/>
          </a:solidFill>
          <a:ln w="6350">
            <a:solidFill>
              <a:srgbClr val="2563EB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547104" y="2231136"/>
            <a:ext cx="45171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40" dirty="0">
                <a:solidFill>
                  <a:srgbClr val="0F172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按钮按“主 / 次 / 危险”区分，危险动作必须二次确认</a:t>
            </a:r>
            <a:endParaRPr lang="en-US" sz="840" dirty="0"/>
          </a:p>
        </p:txBody>
      </p:sp>
      <p:sp>
        <p:nvSpPr>
          <p:cNvPr id="45" name="Shape 43"/>
          <p:cNvSpPr/>
          <p:nvPr/>
        </p:nvSpPr>
        <p:spPr>
          <a:xfrm>
            <a:off x="6400800" y="2578608"/>
            <a:ext cx="64008" cy="64008"/>
          </a:xfrm>
          <a:prstGeom prst="ellipse">
            <a:avLst/>
          </a:prstGeom>
          <a:solidFill>
            <a:srgbClr val="2563EB"/>
          </a:solidFill>
          <a:ln w="6350">
            <a:solidFill>
              <a:srgbClr val="2563EB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547104" y="2523744"/>
            <a:ext cx="45171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40" dirty="0">
                <a:solidFill>
                  <a:srgbClr val="0F172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表格固定表头，长文本进入详情抽屉，不塞满列表</a:t>
            </a:r>
            <a:endParaRPr lang="en-US" sz="840" dirty="0"/>
          </a:p>
        </p:txBody>
      </p:sp>
      <p:sp>
        <p:nvSpPr>
          <p:cNvPr id="47" name="Shape 45"/>
          <p:cNvSpPr/>
          <p:nvPr/>
        </p:nvSpPr>
        <p:spPr>
          <a:xfrm>
            <a:off x="6400800" y="2871216"/>
            <a:ext cx="64008" cy="64008"/>
          </a:xfrm>
          <a:prstGeom prst="ellipse">
            <a:avLst/>
          </a:prstGeom>
          <a:solidFill>
            <a:srgbClr val="2563EB"/>
          </a:solidFill>
          <a:ln w="6350">
            <a:solidFill>
              <a:srgbClr val="2563EB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547104" y="2816352"/>
            <a:ext cx="45171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40" dirty="0">
                <a:solidFill>
                  <a:srgbClr val="0F172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所有页面标题、表头、空态、错误提示统一中文</a:t>
            </a:r>
            <a:endParaRPr lang="en-US" sz="840" dirty="0"/>
          </a:p>
        </p:txBody>
      </p:sp>
      <p:sp>
        <p:nvSpPr>
          <p:cNvPr id="49" name="Shape 47"/>
          <p:cNvSpPr/>
          <p:nvPr/>
        </p:nvSpPr>
        <p:spPr>
          <a:xfrm>
            <a:off x="6080760" y="3703320"/>
            <a:ext cx="5349240" cy="251460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7620">
            <a:solidFill>
              <a:srgbClr val="D9E2EC"/>
            </a:solidFill>
            <a:prstDash val="solid"/>
          </a:ln>
          <a:effectLst>
            <a:outerShdw sx="100000" sy="100000" kx="0" ky="0" algn="bl" rotWithShape="0" blurRad="5.679133646942494e+57" dist="1.1358267293884988e+58" dir="3.526387384320001e+68">
              <a:srgbClr val="CBD5E1">
                <a:alpha val="1.2e+69"/>
              </a:srgbClr>
            </a:outerShdw>
          </a:effectLst>
        </p:spPr>
      </p:sp>
      <p:sp>
        <p:nvSpPr>
          <p:cNvPr id="50" name="Text 48"/>
          <p:cNvSpPr/>
          <p:nvPr/>
        </p:nvSpPr>
        <p:spPr>
          <a:xfrm>
            <a:off x="6400800" y="397764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实时刷新策略</a:t>
            </a:r>
            <a:endParaRPr lang="en-US" sz="1100" dirty="0"/>
          </a:p>
        </p:txBody>
      </p:sp>
      <p:sp>
        <p:nvSpPr>
          <p:cNvPr id="51" name="Shape 49"/>
          <p:cNvSpPr/>
          <p:nvPr/>
        </p:nvSpPr>
        <p:spPr>
          <a:xfrm>
            <a:off x="6446520" y="4370832"/>
            <a:ext cx="4480560" cy="530352"/>
          </a:xfrm>
          <a:prstGeom prst="roundRect">
            <a:avLst>
              <a:gd name="adj" fmla="val 20690"/>
            </a:avLst>
          </a:prstGeom>
          <a:solidFill>
            <a:srgbClr val="F8FAFC"/>
          </a:solidFill>
          <a:ln w="7620">
            <a:solidFill>
              <a:srgbClr val="D9E2EC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629400" y="4526280"/>
            <a:ext cx="23774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最近更新：2026-04-20 14:32:18</a:t>
            </a:r>
            <a:endParaRPr lang="en-US" sz="750" dirty="0"/>
          </a:p>
        </p:txBody>
      </p:sp>
      <p:sp>
        <p:nvSpPr>
          <p:cNvPr id="53" name="Shape 51"/>
          <p:cNvSpPr/>
          <p:nvPr/>
        </p:nvSpPr>
        <p:spPr>
          <a:xfrm>
            <a:off x="9555480" y="4480560"/>
            <a:ext cx="658368" cy="182880"/>
          </a:xfrm>
          <a:prstGeom prst="roundRect">
            <a:avLst>
              <a:gd name="adj" fmla="val 60000"/>
            </a:avLst>
          </a:prstGeom>
          <a:solidFill>
            <a:srgbClr val="DBEAFE"/>
          </a:solidFill>
          <a:ln w="7620">
            <a:solidFill>
              <a:srgbClr val="DBEAFE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9555480" y="4485132"/>
            <a:ext cx="6583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30" b="1" dirty="0">
                <a:solidFill>
                  <a:srgbClr val="2563E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立即刷新</a:t>
            </a:r>
            <a:endParaRPr lang="en-US" sz="630" dirty="0"/>
          </a:p>
        </p:txBody>
      </p:sp>
      <p:sp>
        <p:nvSpPr>
          <p:cNvPr id="55" name="Shape 53"/>
          <p:cNvSpPr/>
          <p:nvPr/>
        </p:nvSpPr>
        <p:spPr>
          <a:xfrm>
            <a:off x="6400800" y="5221224"/>
            <a:ext cx="64008" cy="64008"/>
          </a:xfrm>
          <a:prstGeom prst="ellipse">
            <a:avLst/>
          </a:prstGeom>
          <a:solidFill>
            <a:srgbClr val="06B6D4"/>
          </a:solidFill>
          <a:ln w="6350">
            <a:solidFill>
              <a:srgbClr val="06B6D4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6547104" y="5166360"/>
            <a:ext cx="45171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40" dirty="0">
                <a:solidFill>
                  <a:srgbClr val="0F172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工作台与时间线看板：每30秒刷新一次</a:t>
            </a:r>
            <a:endParaRPr lang="en-US" sz="840" dirty="0"/>
          </a:p>
        </p:txBody>
      </p:sp>
      <p:sp>
        <p:nvSpPr>
          <p:cNvPr id="57" name="Shape 55"/>
          <p:cNvSpPr/>
          <p:nvPr/>
        </p:nvSpPr>
        <p:spPr>
          <a:xfrm>
            <a:off x="6400800" y="5513832"/>
            <a:ext cx="64008" cy="64008"/>
          </a:xfrm>
          <a:prstGeom prst="ellipse">
            <a:avLst/>
          </a:prstGeom>
          <a:solidFill>
            <a:srgbClr val="06B6D4"/>
          </a:solidFill>
          <a:ln w="6350">
            <a:solidFill>
              <a:srgbClr val="06B6D4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6547104" y="5458968"/>
            <a:ext cx="45171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40" dirty="0">
                <a:solidFill>
                  <a:srgbClr val="0F172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项目详情：每15秒刷新一次</a:t>
            </a:r>
            <a:endParaRPr lang="en-US" sz="840" dirty="0"/>
          </a:p>
        </p:txBody>
      </p:sp>
      <p:sp>
        <p:nvSpPr>
          <p:cNvPr id="59" name="Shape 57"/>
          <p:cNvSpPr/>
          <p:nvPr/>
        </p:nvSpPr>
        <p:spPr>
          <a:xfrm>
            <a:off x="6400800" y="5806440"/>
            <a:ext cx="64008" cy="64008"/>
          </a:xfrm>
          <a:prstGeom prst="ellipse">
            <a:avLst/>
          </a:prstGeom>
          <a:solidFill>
            <a:srgbClr val="06B6D4"/>
          </a:solidFill>
          <a:ln w="6350">
            <a:solidFill>
              <a:srgbClr val="06B6D4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6547104" y="5751576"/>
            <a:ext cx="45171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40" dirty="0">
                <a:solidFill>
                  <a:srgbClr val="0F172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用户正在编辑表单时暂停自动刷新，避免覆盖输入</a:t>
            </a:r>
            <a:endParaRPr lang="en-US" sz="840" dirty="0"/>
          </a:p>
        </p:txBody>
      </p:sp>
      <p:sp>
        <p:nvSpPr>
          <p:cNvPr id="61" name="Text 59"/>
          <p:cNvSpPr/>
          <p:nvPr/>
        </p:nvSpPr>
        <p:spPr>
          <a:xfrm>
            <a:off x="11567160" y="6492240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03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6766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03｜工作台：项目进度驾驶舱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02920" y="786384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打开系统即可看到项目风险、待办、超期、月度评审与颜色退出治理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02920" y="1143000"/>
            <a:ext cx="11201400" cy="0"/>
          </a:xfrm>
          <a:prstGeom prst="line">
            <a:avLst/>
          </a:prstGeom>
          <a:noFill/>
          <a:ln w="8890">
            <a:solidFill>
              <a:srgbClr val="D9E2EC"/>
            </a:solidFill>
            <a:prstDash val="solid"/>
            <a:headEnd type="none"/>
            <a:tailEnd type="none"/>
          </a:ln>
        </p:spPr>
      </p:sp>
      <p:sp>
        <p:nvSpPr>
          <p:cNvPr id="5" name="Shape 3"/>
          <p:cNvSpPr/>
          <p:nvPr/>
        </p:nvSpPr>
        <p:spPr>
          <a:xfrm>
            <a:off x="502920" y="1051560"/>
            <a:ext cx="11201400" cy="5623560"/>
          </a:xfrm>
          <a:prstGeom prst="roundRect">
            <a:avLst>
              <a:gd name="adj" fmla="val 2602"/>
            </a:avLst>
          </a:prstGeom>
          <a:solidFill>
            <a:srgbClr val="FFFFFF"/>
          </a:solidFill>
          <a:ln w="7620">
            <a:solidFill>
              <a:srgbClr val="D9E2EC"/>
            </a:solidFill>
            <a:prstDash val="solid"/>
          </a:ln>
          <a:effectLst>
            <a:outerShdw sx="100000" sy="100000" kx="0" ky="0" algn="bl" rotWithShape="0" blurRad="78043392300000000" dist="104057856400000000" dir="583200000000000000000">
              <a:srgbClr val="CBD5E1">
                <a:alpha val="2200000000000000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02920" y="1051560"/>
            <a:ext cx="11201400" cy="438912"/>
          </a:xfrm>
          <a:prstGeom prst="roundRect">
            <a:avLst>
              <a:gd name="adj" fmla="val 33333"/>
            </a:avLst>
          </a:prstGeom>
          <a:solidFill>
            <a:srgbClr val="EFF6FF"/>
          </a:solidFill>
          <a:ln w="7620">
            <a:solidFill>
              <a:srgbClr val="D9E2E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04088" y="1216152"/>
            <a:ext cx="109728" cy="109728"/>
          </a:xfrm>
          <a:prstGeom prst="ellipse">
            <a:avLst/>
          </a:prstGeom>
          <a:solidFill>
            <a:srgbClr val="F87171"/>
          </a:solidFill>
          <a:ln w="6350">
            <a:solidFill>
              <a:srgbClr val="F8717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86968" y="1216152"/>
            <a:ext cx="109728" cy="109728"/>
          </a:xfrm>
          <a:prstGeom prst="ellipse">
            <a:avLst/>
          </a:prstGeom>
          <a:solidFill>
            <a:srgbClr val="FBBF24"/>
          </a:solidFill>
          <a:ln w="6350">
            <a:solidFill>
              <a:srgbClr val="FBBF2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69848" y="1216152"/>
            <a:ext cx="109728" cy="109728"/>
          </a:xfrm>
          <a:prstGeom prst="ellipse">
            <a:avLst/>
          </a:prstGeom>
          <a:solidFill>
            <a:srgbClr val="34D399"/>
          </a:solidFill>
          <a:ln w="6350">
            <a:solidFill>
              <a:srgbClr val="34D39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344168" y="1170432"/>
            <a:ext cx="10104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工作台 / 项目进度驾驶舱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502920" y="1490472"/>
            <a:ext cx="1417320" cy="5184648"/>
          </a:xfrm>
          <a:prstGeom prst="rect">
            <a:avLst>
              <a:gd name="adj" fmla="val 5161"/>
            </a:avLst>
          </a:prstGeom>
          <a:solidFill>
            <a:srgbClr val="0F172A"/>
          </a:solidFill>
          <a:ln w="7620">
            <a:solidFill>
              <a:srgbClr val="0F172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67512" y="1673352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颜色开发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67512" y="1929384"/>
            <a:ext cx="1143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60" dirty="0">
                <a:solidFill>
                  <a:srgbClr val="CBD5E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项目管理系统</a:t>
            </a:r>
            <a:endParaRPr lang="en-US" sz="760" dirty="0"/>
          </a:p>
        </p:txBody>
      </p:sp>
      <p:sp>
        <p:nvSpPr>
          <p:cNvPr id="14" name="Shape 12"/>
          <p:cNvSpPr/>
          <p:nvPr/>
        </p:nvSpPr>
        <p:spPr>
          <a:xfrm>
            <a:off x="621792" y="2386584"/>
            <a:ext cx="1179576" cy="301752"/>
          </a:xfrm>
          <a:prstGeom prst="roundRect">
            <a:avLst>
              <a:gd name="adj" fmla="val 24242"/>
            </a:avLst>
          </a:prstGeom>
          <a:solidFill>
            <a:srgbClr val="2563EB"/>
          </a:solidFill>
          <a:ln w="7620">
            <a:solidFill>
              <a:srgbClr val="2563E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58952" y="2450592"/>
            <a:ext cx="10058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工作台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621792" y="2807208"/>
            <a:ext cx="1179576" cy="301752"/>
          </a:xfrm>
          <a:prstGeom prst="roundRect">
            <a:avLst>
              <a:gd name="adj" fmla="val 24242"/>
            </a:avLst>
          </a:prstGeom>
          <a:solidFill>
            <a:srgbClr val="0F172A"/>
          </a:solidFill>
          <a:ln w="7620">
            <a:solidFill>
              <a:srgbClr val="0F172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58952" y="2871216"/>
            <a:ext cx="10058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CBD5E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项目管理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621792" y="3227832"/>
            <a:ext cx="1179576" cy="301752"/>
          </a:xfrm>
          <a:prstGeom prst="roundRect">
            <a:avLst>
              <a:gd name="adj" fmla="val 24242"/>
            </a:avLst>
          </a:prstGeom>
          <a:solidFill>
            <a:srgbClr val="0F172A"/>
          </a:solidFill>
          <a:ln w="7620">
            <a:solidFill>
              <a:srgbClr val="0F172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58952" y="3291840"/>
            <a:ext cx="10058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CBD5E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工序管理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621792" y="3648456"/>
            <a:ext cx="1179576" cy="301752"/>
          </a:xfrm>
          <a:prstGeom prst="roundRect">
            <a:avLst>
              <a:gd name="adj" fmla="val 24242"/>
            </a:avLst>
          </a:prstGeom>
          <a:solidFill>
            <a:srgbClr val="0F172A"/>
          </a:solidFill>
          <a:ln w="7620">
            <a:solidFill>
              <a:srgbClr val="0F172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58952" y="3712464"/>
            <a:ext cx="10058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CBD5E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材料中心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621792" y="4069080"/>
            <a:ext cx="1179576" cy="301752"/>
          </a:xfrm>
          <a:prstGeom prst="roundRect">
            <a:avLst>
              <a:gd name="adj" fmla="val 24242"/>
            </a:avLst>
          </a:prstGeom>
          <a:solidFill>
            <a:srgbClr val="0F172A"/>
          </a:solidFill>
          <a:ln w="7620">
            <a:solidFill>
              <a:srgbClr val="0F172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58952" y="4133088"/>
            <a:ext cx="10058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CBD5E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月度评审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621792" y="4489704"/>
            <a:ext cx="1179576" cy="301752"/>
          </a:xfrm>
          <a:prstGeom prst="roundRect">
            <a:avLst>
              <a:gd name="adj" fmla="val 24242"/>
            </a:avLst>
          </a:prstGeom>
          <a:solidFill>
            <a:srgbClr val="0F172A"/>
          </a:solidFill>
          <a:ln w="7620">
            <a:solidFill>
              <a:srgbClr val="0F172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58952" y="4553712"/>
            <a:ext cx="10058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CBD5E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数据中心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621792" y="4910328"/>
            <a:ext cx="1179576" cy="301752"/>
          </a:xfrm>
          <a:prstGeom prst="roundRect">
            <a:avLst>
              <a:gd name="adj" fmla="val 24242"/>
            </a:avLst>
          </a:prstGeom>
          <a:solidFill>
            <a:srgbClr val="0F172A"/>
          </a:solidFill>
          <a:ln w="7620">
            <a:solidFill>
              <a:srgbClr val="0F172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58952" y="4974336"/>
            <a:ext cx="10058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CBD5E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系统设置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1920240" y="1490472"/>
            <a:ext cx="9784080" cy="512064"/>
          </a:xfrm>
          <a:prstGeom prst="rect">
            <a:avLst>
              <a:gd name="adj" fmla="val 14286"/>
            </a:avLst>
          </a:prstGeom>
          <a:solidFill>
            <a:srgbClr val="FFFFFF"/>
          </a:solidFill>
          <a:ln w="7620">
            <a:solidFill>
              <a:srgbClr val="D9E2E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212848" y="1645920"/>
            <a:ext cx="1920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20" dirty="0">
                <a:solidFill>
                  <a:srgbClr val="94A3B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搜索项目 / 颜色 / 负责人</a:t>
            </a:r>
            <a:endParaRPr lang="en-US" sz="720" dirty="0"/>
          </a:p>
        </p:txBody>
      </p:sp>
      <p:sp>
        <p:nvSpPr>
          <p:cNvPr id="30" name="Shape 28"/>
          <p:cNvSpPr/>
          <p:nvPr/>
        </p:nvSpPr>
        <p:spPr>
          <a:xfrm>
            <a:off x="9784080" y="1600200"/>
            <a:ext cx="685800" cy="274320"/>
          </a:xfrm>
          <a:prstGeom prst="roundRect">
            <a:avLst>
              <a:gd name="adj" fmla="val 26667"/>
            </a:avLst>
          </a:prstGeom>
          <a:solidFill>
            <a:srgbClr val="DBEAFE"/>
          </a:solidFill>
          <a:ln w="7620">
            <a:solidFill>
              <a:srgbClr val="DBEAFE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9838944" y="1655064"/>
            <a:ext cx="57607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60" b="1" dirty="0">
                <a:solidFill>
                  <a:srgbClr val="2563E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立即刷新</a:t>
            </a:r>
            <a:endParaRPr lang="en-US" sz="660" dirty="0"/>
          </a:p>
        </p:txBody>
      </p:sp>
      <p:sp>
        <p:nvSpPr>
          <p:cNvPr id="32" name="Text 30"/>
          <p:cNvSpPr/>
          <p:nvPr/>
        </p:nvSpPr>
        <p:spPr>
          <a:xfrm>
            <a:off x="10561320" y="1645920"/>
            <a:ext cx="9601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80" dirty="0">
                <a:solidFill>
                  <a:srgbClr val="64748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最近更新 14:32</a:t>
            </a:r>
            <a:endParaRPr lang="en-US" sz="680" dirty="0"/>
          </a:p>
        </p:txBody>
      </p:sp>
      <p:sp>
        <p:nvSpPr>
          <p:cNvPr id="33" name="Text 31"/>
          <p:cNvSpPr/>
          <p:nvPr/>
        </p:nvSpPr>
        <p:spPr>
          <a:xfrm>
            <a:off x="2148840" y="214884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项目进度驾驶舱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2148840" y="2423160"/>
            <a:ext cx="3108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实时查看轻卡定制颜色开发项目进度与风险</a:t>
            </a:r>
            <a:endParaRPr lang="en-US" sz="750" dirty="0"/>
          </a:p>
        </p:txBody>
      </p:sp>
      <p:sp>
        <p:nvSpPr>
          <p:cNvPr id="35" name="Shape 33"/>
          <p:cNvSpPr/>
          <p:nvPr/>
        </p:nvSpPr>
        <p:spPr>
          <a:xfrm>
            <a:off x="2148840" y="2743200"/>
            <a:ext cx="1170432" cy="667512"/>
          </a:xfrm>
          <a:prstGeom prst="roundRect">
            <a:avLst>
              <a:gd name="adj" fmla="val 17808"/>
            </a:avLst>
          </a:prstGeom>
          <a:solidFill>
            <a:srgbClr val="FFFFFF"/>
          </a:solidFill>
          <a:ln w="7620">
            <a:solidFill>
              <a:srgbClr val="D9E2EC"/>
            </a:solidFill>
            <a:prstDash val="solid"/>
          </a:ln>
          <a:effectLst>
            <a:outerShdw sx="100000" sy="100000" kx="0" ky="0" algn="bl" rotWithShape="0" blurRad="7.212499731616968e+61" dist="1.4424999463233936e+62" dir="2.1158324305920003e+73">
              <a:srgbClr val="CBD5E1">
                <a:alpha val="1.2e+74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2258568" y="2852928"/>
            <a:ext cx="292608" cy="292608"/>
          </a:xfrm>
          <a:prstGeom prst="roundRect">
            <a:avLst>
              <a:gd name="adj" fmla="val 25000"/>
            </a:avLst>
          </a:prstGeom>
          <a:solidFill>
            <a:srgbClr val="2563EB"/>
          </a:solidFill>
          <a:ln w="7620">
            <a:solidFill>
              <a:srgbClr val="2563EB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258568" y="2898648"/>
            <a:ext cx="29260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项</a:t>
            </a:r>
            <a:endParaRPr lang="en-US" sz="700" dirty="0"/>
          </a:p>
        </p:txBody>
      </p:sp>
      <p:sp>
        <p:nvSpPr>
          <p:cNvPr id="38" name="Text 36"/>
          <p:cNvSpPr/>
          <p:nvPr/>
        </p:nvSpPr>
        <p:spPr>
          <a:xfrm>
            <a:off x="2624328" y="2871216"/>
            <a:ext cx="6217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40" dirty="0">
                <a:solidFill>
                  <a:srgbClr val="64748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项目总数</a:t>
            </a:r>
            <a:endParaRPr lang="en-US" sz="740" dirty="0"/>
          </a:p>
        </p:txBody>
      </p:sp>
      <p:sp>
        <p:nvSpPr>
          <p:cNvPr id="39" name="Text 37"/>
          <p:cNvSpPr/>
          <p:nvPr/>
        </p:nvSpPr>
        <p:spPr>
          <a:xfrm>
            <a:off x="2624328" y="3090672"/>
            <a:ext cx="502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28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3108960" y="3145536"/>
            <a:ext cx="4114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20" dirty="0">
                <a:solidFill>
                  <a:srgbClr val="64748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个</a:t>
            </a:r>
            <a:endParaRPr lang="en-US" sz="720" dirty="0"/>
          </a:p>
        </p:txBody>
      </p:sp>
      <p:sp>
        <p:nvSpPr>
          <p:cNvPr id="41" name="Shape 39"/>
          <p:cNvSpPr/>
          <p:nvPr/>
        </p:nvSpPr>
        <p:spPr>
          <a:xfrm>
            <a:off x="3447288" y="2743200"/>
            <a:ext cx="1170432" cy="667512"/>
          </a:xfrm>
          <a:prstGeom prst="roundRect">
            <a:avLst>
              <a:gd name="adj" fmla="val 17808"/>
            </a:avLst>
          </a:prstGeom>
          <a:solidFill>
            <a:srgbClr val="FFFFFF"/>
          </a:solidFill>
          <a:ln w="7620">
            <a:solidFill>
              <a:srgbClr val="D9E2EC"/>
            </a:solidFill>
            <a:prstDash val="solid"/>
          </a:ln>
          <a:effectLst>
            <a:outerShdw sx="100000" sy="100000" kx="0" ky="0" algn="bl" rotWithShape="0" blurRad="9.15987465915355e+65" dist="1.83197493183071e+66" dir="1.2694994583552002e+78">
              <a:srgbClr val="CBD5E1">
                <a:alpha val="1.2000000000000001e+79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3557016" y="2852928"/>
            <a:ext cx="292608" cy="292608"/>
          </a:xfrm>
          <a:prstGeom prst="roundRect">
            <a:avLst>
              <a:gd name="adj" fmla="val 25000"/>
            </a:avLst>
          </a:prstGeom>
          <a:solidFill>
            <a:srgbClr val="06B6D4"/>
          </a:solidFill>
          <a:ln w="7620">
            <a:solidFill>
              <a:srgbClr val="06B6D4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557016" y="2898648"/>
            <a:ext cx="29260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中</a:t>
            </a:r>
            <a:endParaRPr lang="en-US" sz="700" dirty="0"/>
          </a:p>
        </p:txBody>
      </p:sp>
      <p:sp>
        <p:nvSpPr>
          <p:cNvPr id="44" name="Text 42"/>
          <p:cNvSpPr/>
          <p:nvPr/>
        </p:nvSpPr>
        <p:spPr>
          <a:xfrm>
            <a:off x="3922776" y="2871216"/>
            <a:ext cx="6217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40" dirty="0">
                <a:solidFill>
                  <a:srgbClr val="64748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进行中</a:t>
            </a:r>
            <a:endParaRPr lang="en-US" sz="740" dirty="0"/>
          </a:p>
        </p:txBody>
      </p:sp>
      <p:sp>
        <p:nvSpPr>
          <p:cNvPr id="45" name="Text 43"/>
          <p:cNvSpPr/>
          <p:nvPr/>
        </p:nvSpPr>
        <p:spPr>
          <a:xfrm>
            <a:off x="3922776" y="3090672"/>
            <a:ext cx="502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12</a:t>
            </a:r>
            <a:endParaRPr lang="en-US" sz="1600" dirty="0"/>
          </a:p>
        </p:txBody>
      </p:sp>
      <p:sp>
        <p:nvSpPr>
          <p:cNvPr id="46" name="Text 44"/>
          <p:cNvSpPr/>
          <p:nvPr/>
        </p:nvSpPr>
        <p:spPr>
          <a:xfrm>
            <a:off x="4407408" y="3145536"/>
            <a:ext cx="4114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20" dirty="0">
                <a:solidFill>
                  <a:srgbClr val="64748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个</a:t>
            </a:r>
            <a:endParaRPr lang="en-US" sz="720" dirty="0"/>
          </a:p>
        </p:txBody>
      </p:sp>
      <p:sp>
        <p:nvSpPr>
          <p:cNvPr id="47" name="Shape 45"/>
          <p:cNvSpPr/>
          <p:nvPr/>
        </p:nvSpPr>
        <p:spPr>
          <a:xfrm>
            <a:off x="4745736" y="2743200"/>
            <a:ext cx="1170432" cy="667512"/>
          </a:xfrm>
          <a:prstGeom prst="roundRect">
            <a:avLst>
              <a:gd name="adj" fmla="val 17808"/>
            </a:avLst>
          </a:prstGeom>
          <a:solidFill>
            <a:srgbClr val="FFFFFF"/>
          </a:solidFill>
          <a:ln w="7620">
            <a:solidFill>
              <a:srgbClr val="D9E2EC"/>
            </a:solidFill>
            <a:prstDash val="solid"/>
          </a:ln>
          <a:effectLst>
            <a:outerShdw sx="100000" sy="100000" kx="0" ky="0" algn="bl" rotWithShape="0" blurRad="1.1633040817125008e+70" dist="2.3266081634250016e+70" dir="7.616996750131201e+82">
              <a:srgbClr val="CBD5E1">
                <a:alpha val="1.2000000000000002e+84"/>
              </a:srgbClr>
            </a:outerShdw>
          </a:effectLst>
        </p:spPr>
      </p:sp>
      <p:sp>
        <p:nvSpPr>
          <p:cNvPr id="48" name="Shape 46"/>
          <p:cNvSpPr/>
          <p:nvPr/>
        </p:nvSpPr>
        <p:spPr>
          <a:xfrm>
            <a:off x="4855464" y="2852928"/>
            <a:ext cx="292608" cy="292608"/>
          </a:xfrm>
          <a:prstGeom prst="roundRect">
            <a:avLst>
              <a:gd name="adj" fmla="val 25000"/>
            </a:avLst>
          </a:prstGeom>
          <a:solidFill>
            <a:srgbClr val="EF4444"/>
          </a:solidFill>
          <a:ln w="7620">
            <a:solidFill>
              <a:srgbClr val="EF4444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855464" y="2898648"/>
            <a:ext cx="29260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!</a:t>
            </a:r>
            <a:endParaRPr lang="en-US" sz="700" dirty="0"/>
          </a:p>
        </p:txBody>
      </p:sp>
      <p:sp>
        <p:nvSpPr>
          <p:cNvPr id="50" name="Text 48"/>
          <p:cNvSpPr/>
          <p:nvPr/>
        </p:nvSpPr>
        <p:spPr>
          <a:xfrm>
            <a:off x="5221224" y="2871216"/>
            <a:ext cx="6217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40" dirty="0">
                <a:solidFill>
                  <a:srgbClr val="64748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超期工序</a:t>
            </a:r>
            <a:endParaRPr lang="en-US" sz="740" dirty="0"/>
          </a:p>
        </p:txBody>
      </p:sp>
      <p:sp>
        <p:nvSpPr>
          <p:cNvPr id="51" name="Text 49"/>
          <p:cNvSpPr/>
          <p:nvPr/>
        </p:nvSpPr>
        <p:spPr>
          <a:xfrm>
            <a:off x="5221224" y="3090672"/>
            <a:ext cx="502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4</a:t>
            </a:r>
            <a:endParaRPr lang="en-US" sz="1600" dirty="0"/>
          </a:p>
        </p:txBody>
      </p:sp>
      <p:sp>
        <p:nvSpPr>
          <p:cNvPr id="52" name="Text 50"/>
          <p:cNvSpPr/>
          <p:nvPr/>
        </p:nvSpPr>
        <p:spPr>
          <a:xfrm>
            <a:off x="5705856" y="3145536"/>
            <a:ext cx="4114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20" dirty="0">
                <a:solidFill>
                  <a:srgbClr val="64748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项</a:t>
            </a:r>
            <a:endParaRPr lang="en-US" sz="720" dirty="0"/>
          </a:p>
        </p:txBody>
      </p:sp>
      <p:sp>
        <p:nvSpPr>
          <p:cNvPr id="53" name="Shape 51"/>
          <p:cNvSpPr/>
          <p:nvPr/>
        </p:nvSpPr>
        <p:spPr>
          <a:xfrm>
            <a:off x="6044184" y="2743200"/>
            <a:ext cx="1170432" cy="667512"/>
          </a:xfrm>
          <a:prstGeom prst="roundRect">
            <a:avLst>
              <a:gd name="adj" fmla="val 17808"/>
            </a:avLst>
          </a:prstGeom>
          <a:solidFill>
            <a:srgbClr val="FFFFFF"/>
          </a:solidFill>
          <a:ln w="7620">
            <a:solidFill>
              <a:srgbClr val="D9E2EC"/>
            </a:solidFill>
            <a:prstDash val="solid"/>
          </a:ln>
          <a:effectLst>
            <a:outerShdw sx="100000" sy="100000" kx="0" ky="0" algn="bl" rotWithShape="0" blurRad="1.477396183774876e+74" dist="2.954792367549752e+74" dir="4.57019805007872e+87">
              <a:srgbClr val="CBD5E1">
                <a:alpha val="1.2000000000000002e+89"/>
              </a:srgbClr>
            </a:outerShdw>
          </a:effectLst>
        </p:spPr>
      </p:sp>
      <p:sp>
        <p:nvSpPr>
          <p:cNvPr id="54" name="Shape 52"/>
          <p:cNvSpPr/>
          <p:nvPr/>
        </p:nvSpPr>
        <p:spPr>
          <a:xfrm>
            <a:off x="6153912" y="2852928"/>
            <a:ext cx="292608" cy="292608"/>
          </a:xfrm>
          <a:prstGeom prst="roundRect">
            <a:avLst>
              <a:gd name="adj" fmla="val 25000"/>
            </a:avLst>
          </a:prstGeom>
          <a:solidFill>
            <a:srgbClr val="F59E0B"/>
          </a:solidFill>
          <a:ln w="7620">
            <a:solidFill>
              <a:srgbClr val="F59E0B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6153912" y="2898648"/>
            <a:ext cx="29260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审</a:t>
            </a:r>
            <a:endParaRPr lang="en-US" sz="700" dirty="0"/>
          </a:p>
        </p:txBody>
      </p:sp>
      <p:sp>
        <p:nvSpPr>
          <p:cNvPr id="56" name="Text 54"/>
          <p:cNvSpPr/>
          <p:nvPr/>
        </p:nvSpPr>
        <p:spPr>
          <a:xfrm>
            <a:off x="6519672" y="2871216"/>
            <a:ext cx="6217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40" dirty="0">
                <a:solidFill>
                  <a:srgbClr val="64748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本月评审</a:t>
            </a:r>
            <a:endParaRPr lang="en-US" sz="740" dirty="0"/>
          </a:p>
        </p:txBody>
      </p:sp>
      <p:sp>
        <p:nvSpPr>
          <p:cNvPr id="57" name="Text 55"/>
          <p:cNvSpPr/>
          <p:nvPr/>
        </p:nvSpPr>
        <p:spPr>
          <a:xfrm>
            <a:off x="6519672" y="3090672"/>
            <a:ext cx="502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9</a:t>
            </a:r>
            <a:endParaRPr lang="en-US" sz="1600" dirty="0"/>
          </a:p>
        </p:txBody>
      </p:sp>
      <p:sp>
        <p:nvSpPr>
          <p:cNvPr id="58" name="Text 56"/>
          <p:cNvSpPr/>
          <p:nvPr/>
        </p:nvSpPr>
        <p:spPr>
          <a:xfrm>
            <a:off x="7004304" y="3145536"/>
            <a:ext cx="4114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20" dirty="0">
                <a:solidFill>
                  <a:srgbClr val="64748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项</a:t>
            </a:r>
            <a:endParaRPr lang="en-US" sz="720" dirty="0"/>
          </a:p>
        </p:txBody>
      </p:sp>
      <p:sp>
        <p:nvSpPr>
          <p:cNvPr id="59" name="Shape 57"/>
          <p:cNvSpPr/>
          <p:nvPr/>
        </p:nvSpPr>
        <p:spPr>
          <a:xfrm>
            <a:off x="7342632" y="2743200"/>
            <a:ext cx="1170432" cy="667512"/>
          </a:xfrm>
          <a:prstGeom prst="roundRect">
            <a:avLst>
              <a:gd name="adj" fmla="val 17808"/>
            </a:avLst>
          </a:prstGeom>
          <a:solidFill>
            <a:srgbClr val="FFFFFF"/>
          </a:solidFill>
          <a:ln w="7620">
            <a:solidFill>
              <a:srgbClr val="D9E2EC"/>
            </a:solidFill>
            <a:prstDash val="solid"/>
          </a:ln>
          <a:effectLst>
            <a:outerShdw sx="100000" sy="100000" kx="0" ky="0" algn="bl" rotWithShape="0" blurRad="1.8762931533940924e+78" dist="3.752586306788185e+78" dir="2.742118830047232e+92">
              <a:srgbClr val="CBD5E1">
                <a:alpha val="1.2000000000000001e+94"/>
              </a:srgbClr>
            </a:outerShdw>
          </a:effectLst>
        </p:spPr>
      </p:sp>
      <p:sp>
        <p:nvSpPr>
          <p:cNvPr id="60" name="Shape 58"/>
          <p:cNvSpPr/>
          <p:nvPr/>
        </p:nvSpPr>
        <p:spPr>
          <a:xfrm>
            <a:off x="7452360" y="2852928"/>
            <a:ext cx="292608" cy="292608"/>
          </a:xfrm>
          <a:prstGeom prst="roundRect">
            <a:avLst>
              <a:gd name="adj" fmla="val 25000"/>
            </a:avLst>
          </a:prstGeom>
          <a:solidFill>
            <a:srgbClr val="8B5CF6"/>
          </a:solidFill>
          <a:ln w="7620">
            <a:solidFill>
              <a:srgbClr val="8B5CF6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7452360" y="2898648"/>
            <a:ext cx="29260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月</a:t>
            </a:r>
            <a:endParaRPr lang="en-US" sz="700" dirty="0"/>
          </a:p>
        </p:txBody>
      </p:sp>
      <p:sp>
        <p:nvSpPr>
          <p:cNvPr id="62" name="Text 60"/>
          <p:cNvSpPr/>
          <p:nvPr/>
        </p:nvSpPr>
        <p:spPr>
          <a:xfrm>
            <a:off x="7818120" y="2871216"/>
            <a:ext cx="6217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40" dirty="0">
                <a:solidFill>
                  <a:srgbClr val="64748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月度评审</a:t>
            </a:r>
            <a:endParaRPr lang="en-US" sz="740" dirty="0"/>
          </a:p>
        </p:txBody>
      </p:sp>
      <p:sp>
        <p:nvSpPr>
          <p:cNvPr id="63" name="Text 61"/>
          <p:cNvSpPr/>
          <p:nvPr/>
        </p:nvSpPr>
        <p:spPr>
          <a:xfrm>
            <a:off x="7818120" y="3090672"/>
            <a:ext cx="502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16</a:t>
            </a:r>
            <a:endParaRPr lang="en-US" sz="1600" dirty="0"/>
          </a:p>
        </p:txBody>
      </p:sp>
      <p:sp>
        <p:nvSpPr>
          <p:cNvPr id="64" name="Text 62"/>
          <p:cNvSpPr/>
          <p:nvPr/>
        </p:nvSpPr>
        <p:spPr>
          <a:xfrm>
            <a:off x="8302752" y="3145536"/>
            <a:ext cx="4114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20" dirty="0">
                <a:solidFill>
                  <a:srgbClr val="64748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项</a:t>
            </a:r>
            <a:endParaRPr lang="en-US" sz="720" dirty="0"/>
          </a:p>
        </p:txBody>
      </p:sp>
      <p:sp>
        <p:nvSpPr>
          <p:cNvPr id="65" name="Shape 63"/>
          <p:cNvSpPr/>
          <p:nvPr/>
        </p:nvSpPr>
        <p:spPr>
          <a:xfrm>
            <a:off x="8641080" y="2743200"/>
            <a:ext cx="1170432" cy="667512"/>
          </a:xfrm>
          <a:prstGeom prst="roundRect">
            <a:avLst>
              <a:gd name="adj" fmla="val 17808"/>
            </a:avLst>
          </a:prstGeom>
          <a:solidFill>
            <a:srgbClr val="FFFFFF"/>
          </a:solidFill>
          <a:ln w="7620">
            <a:solidFill>
              <a:srgbClr val="D9E2EC"/>
            </a:solidFill>
            <a:prstDash val="solid"/>
          </a:ln>
          <a:effectLst>
            <a:outerShdw sx="100000" sy="100000" kx="0" ky="0" algn="bl" rotWithShape="0" blurRad="2.3828923048104974e+82" dist="4.765784609620995e+82" dir="1.6452712980283393e+97">
              <a:srgbClr val="CBD5E1">
                <a:alpha val="1.2e+99"/>
              </a:srgbClr>
            </a:outerShdw>
          </a:effectLst>
        </p:spPr>
      </p:sp>
      <p:sp>
        <p:nvSpPr>
          <p:cNvPr id="66" name="Shape 64"/>
          <p:cNvSpPr/>
          <p:nvPr/>
        </p:nvSpPr>
        <p:spPr>
          <a:xfrm>
            <a:off x="8750808" y="2852928"/>
            <a:ext cx="292608" cy="292608"/>
          </a:xfrm>
          <a:prstGeom prst="roundRect">
            <a:avLst>
              <a:gd name="adj" fmla="val 25000"/>
            </a:avLst>
          </a:prstGeom>
          <a:solidFill>
            <a:srgbClr val="C2410C"/>
          </a:solidFill>
          <a:ln w="7620">
            <a:solidFill>
              <a:srgbClr val="C2410C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8750808" y="2898648"/>
            <a:ext cx="29260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退</a:t>
            </a:r>
            <a:endParaRPr lang="en-US" sz="700" dirty="0"/>
          </a:p>
        </p:txBody>
      </p:sp>
      <p:sp>
        <p:nvSpPr>
          <p:cNvPr id="68" name="Text 66"/>
          <p:cNvSpPr/>
          <p:nvPr/>
        </p:nvSpPr>
        <p:spPr>
          <a:xfrm>
            <a:off x="9116568" y="2871216"/>
            <a:ext cx="6217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40" dirty="0">
                <a:solidFill>
                  <a:srgbClr val="64748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待退出</a:t>
            </a:r>
            <a:endParaRPr lang="en-US" sz="740" dirty="0"/>
          </a:p>
        </p:txBody>
      </p:sp>
      <p:sp>
        <p:nvSpPr>
          <p:cNvPr id="69" name="Text 67"/>
          <p:cNvSpPr/>
          <p:nvPr/>
        </p:nvSpPr>
        <p:spPr>
          <a:xfrm>
            <a:off x="9116568" y="3090672"/>
            <a:ext cx="502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3</a:t>
            </a:r>
            <a:endParaRPr lang="en-US" sz="1600" dirty="0"/>
          </a:p>
        </p:txBody>
      </p:sp>
      <p:sp>
        <p:nvSpPr>
          <p:cNvPr id="70" name="Text 68"/>
          <p:cNvSpPr/>
          <p:nvPr/>
        </p:nvSpPr>
        <p:spPr>
          <a:xfrm>
            <a:off x="9601200" y="3145536"/>
            <a:ext cx="4114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20" dirty="0">
                <a:solidFill>
                  <a:srgbClr val="64748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色</a:t>
            </a:r>
            <a:endParaRPr lang="en-US" sz="720" dirty="0"/>
          </a:p>
        </p:txBody>
      </p:sp>
      <p:sp>
        <p:nvSpPr>
          <p:cNvPr id="71" name="Text 69"/>
          <p:cNvSpPr/>
          <p:nvPr/>
        </p:nvSpPr>
        <p:spPr>
          <a:xfrm>
            <a:off x="2148840" y="3749040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重点项目时间线</a:t>
            </a:r>
            <a:endParaRPr lang="en-US" sz="1100" dirty="0"/>
          </a:p>
        </p:txBody>
      </p:sp>
      <p:sp>
        <p:nvSpPr>
          <p:cNvPr id="72" name="Shape 70"/>
          <p:cNvSpPr/>
          <p:nvPr/>
        </p:nvSpPr>
        <p:spPr>
          <a:xfrm>
            <a:off x="2148840" y="4041648"/>
            <a:ext cx="5943600" cy="941832"/>
          </a:xfrm>
          <a:prstGeom prst="roundRect">
            <a:avLst>
              <a:gd name="adj" fmla="val 13592"/>
            </a:avLst>
          </a:prstGeom>
          <a:solidFill>
            <a:srgbClr val="FFFFFF"/>
          </a:solidFill>
          <a:ln w="7620">
            <a:solidFill>
              <a:srgbClr val="D9E2EC"/>
            </a:solidFill>
            <a:prstDash val="solid"/>
          </a:ln>
          <a:effectLst>
            <a:outerShdw sx="100000" sy="100000" kx="0" ky="0" algn="bl" rotWithShape="0" blurRad="3.0262732271093317e+86" dist="6.052546454218663e+86" dir="9.871627788170037e+101">
              <a:srgbClr val="CBD5E1">
                <a:alpha val="1.2e+104"/>
              </a:srgbClr>
            </a:outerShdw>
          </a:effectLst>
        </p:spPr>
      </p:sp>
      <p:sp>
        <p:nvSpPr>
          <p:cNvPr id="73" name="Text 71"/>
          <p:cNvSpPr/>
          <p:nvPr/>
        </p:nvSpPr>
        <p:spPr>
          <a:xfrm>
            <a:off x="2313432" y="4169664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40" b="1" dirty="0">
                <a:solidFill>
                  <a:srgbClr val="0F172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GF20250216 深海蓝</a:t>
            </a:r>
            <a:endParaRPr lang="en-US" sz="940" dirty="0"/>
          </a:p>
        </p:txBody>
      </p:sp>
      <p:sp>
        <p:nvSpPr>
          <p:cNvPr id="74" name="Shape 72"/>
          <p:cNvSpPr/>
          <p:nvPr/>
        </p:nvSpPr>
        <p:spPr>
          <a:xfrm>
            <a:off x="4023360" y="4151376"/>
            <a:ext cx="658368" cy="201168"/>
          </a:xfrm>
          <a:prstGeom prst="roundRect">
            <a:avLst>
              <a:gd name="adj" fmla="val 54545"/>
            </a:avLst>
          </a:prstGeom>
          <a:solidFill>
            <a:srgbClr val="DBEAFE"/>
          </a:solidFill>
          <a:ln w="7620">
            <a:solidFill>
              <a:srgbClr val="DBEAFE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4023360" y="4155948"/>
            <a:ext cx="6583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60" b="1" dirty="0">
                <a:solidFill>
                  <a:srgbClr val="2563E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涂料采购</a:t>
            </a:r>
            <a:endParaRPr lang="en-US" sz="660" dirty="0"/>
          </a:p>
        </p:txBody>
      </p:sp>
      <p:sp>
        <p:nvSpPr>
          <p:cNvPr id="76" name="Text 74"/>
          <p:cNvSpPr/>
          <p:nvPr/>
        </p:nvSpPr>
        <p:spPr>
          <a:xfrm>
            <a:off x="2313432" y="4425696"/>
            <a:ext cx="1371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80" dirty="0">
                <a:solidFill>
                  <a:srgbClr val="64748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当前：第6步 涂料采购</a:t>
            </a:r>
            <a:endParaRPr lang="en-US" sz="680" dirty="0"/>
          </a:p>
        </p:txBody>
      </p:sp>
      <p:sp>
        <p:nvSpPr>
          <p:cNvPr id="77" name="Text 75"/>
          <p:cNvSpPr/>
          <p:nvPr/>
        </p:nvSpPr>
        <p:spPr>
          <a:xfrm>
            <a:off x="3703320" y="4425696"/>
            <a:ext cx="914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80" dirty="0">
                <a:solidFill>
                  <a:srgbClr val="64748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负责人：张七巧</a:t>
            </a:r>
            <a:endParaRPr lang="en-US" sz="680" dirty="0"/>
          </a:p>
        </p:txBody>
      </p:sp>
      <p:sp>
        <p:nvSpPr>
          <p:cNvPr id="78" name="Text 76"/>
          <p:cNvSpPr/>
          <p:nvPr/>
        </p:nvSpPr>
        <p:spPr>
          <a:xfrm>
            <a:off x="4636008" y="4425696"/>
            <a:ext cx="98755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80" dirty="0">
                <a:solidFill>
                  <a:srgbClr val="64748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截止：2025/10/27</a:t>
            </a:r>
            <a:endParaRPr lang="en-US" sz="680" dirty="0"/>
          </a:p>
        </p:txBody>
      </p:sp>
      <p:sp>
        <p:nvSpPr>
          <p:cNvPr id="79" name="Shape 77"/>
          <p:cNvSpPr/>
          <p:nvPr/>
        </p:nvSpPr>
        <p:spPr>
          <a:xfrm>
            <a:off x="2542032" y="4809744"/>
            <a:ext cx="342392" cy="0"/>
          </a:xfrm>
          <a:prstGeom prst="line">
            <a:avLst/>
          </a:prstGeom>
          <a:noFill/>
          <a:ln w="13970">
            <a:solidFill>
              <a:srgbClr val="10B981"/>
            </a:solidFill>
            <a:prstDash val="solid"/>
            <a:headEnd type="none"/>
            <a:tailEnd type="none"/>
          </a:ln>
        </p:spPr>
      </p:sp>
      <p:sp>
        <p:nvSpPr>
          <p:cNvPr id="80" name="Shape 78"/>
          <p:cNvSpPr/>
          <p:nvPr/>
        </p:nvSpPr>
        <p:spPr>
          <a:xfrm>
            <a:off x="3085592" y="4809744"/>
            <a:ext cx="342392" cy="0"/>
          </a:xfrm>
          <a:prstGeom prst="line">
            <a:avLst/>
          </a:prstGeom>
          <a:noFill/>
          <a:ln w="13970">
            <a:solidFill>
              <a:srgbClr val="10B981"/>
            </a:solidFill>
            <a:prstDash val="solid"/>
            <a:headEnd type="none"/>
            <a:tailEnd type="none"/>
          </a:ln>
        </p:spPr>
      </p:sp>
      <p:sp>
        <p:nvSpPr>
          <p:cNvPr id="81" name="Shape 79"/>
          <p:cNvSpPr/>
          <p:nvPr/>
        </p:nvSpPr>
        <p:spPr>
          <a:xfrm>
            <a:off x="3629152" y="4809744"/>
            <a:ext cx="342392" cy="0"/>
          </a:xfrm>
          <a:prstGeom prst="line">
            <a:avLst/>
          </a:prstGeom>
          <a:noFill/>
          <a:ln w="13970">
            <a:solidFill>
              <a:srgbClr val="10B981"/>
            </a:solidFill>
            <a:prstDash val="solid"/>
            <a:headEnd type="none"/>
            <a:tailEnd type="none"/>
          </a:ln>
        </p:spPr>
      </p:sp>
      <p:sp>
        <p:nvSpPr>
          <p:cNvPr id="82" name="Shape 80"/>
          <p:cNvSpPr/>
          <p:nvPr/>
        </p:nvSpPr>
        <p:spPr>
          <a:xfrm>
            <a:off x="4172712" y="4809744"/>
            <a:ext cx="342392" cy="0"/>
          </a:xfrm>
          <a:prstGeom prst="line">
            <a:avLst/>
          </a:prstGeom>
          <a:noFill/>
          <a:ln w="13970">
            <a:solidFill>
              <a:srgbClr val="10B981"/>
            </a:solidFill>
            <a:prstDash val="solid"/>
            <a:headEnd type="none"/>
            <a:tailEnd type="none"/>
          </a:ln>
        </p:spPr>
      </p:sp>
      <p:sp>
        <p:nvSpPr>
          <p:cNvPr id="83" name="Shape 81"/>
          <p:cNvSpPr/>
          <p:nvPr/>
        </p:nvSpPr>
        <p:spPr>
          <a:xfrm>
            <a:off x="4716272" y="4809744"/>
            <a:ext cx="342392" cy="0"/>
          </a:xfrm>
          <a:prstGeom prst="line">
            <a:avLst/>
          </a:prstGeom>
          <a:noFill/>
          <a:ln w="13970">
            <a:solidFill>
              <a:srgbClr val="CBD5E1"/>
            </a:solidFill>
            <a:prstDash val="solid"/>
            <a:headEnd type="none"/>
            <a:tailEnd type="none"/>
          </a:ln>
        </p:spPr>
      </p:sp>
      <p:sp>
        <p:nvSpPr>
          <p:cNvPr id="84" name="Shape 82"/>
          <p:cNvSpPr/>
          <p:nvPr/>
        </p:nvSpPr>
        <p:spPr>
          <a:xfrm>
            <a:off x="5259832" y="4809744"/>
            <a:ext cx="342392" cy="0"/>
          </a:xfrm>
          <a:prstGeom prst="line">
            <a:avLst/>
          </a:prstGeom>
          <a:noFill/>
          <a:ln w="13970">
            <a:solidFill>
              <a:srgbClr val="CBD5E1"/>
            </a:solidFill>
            <a:prstDash val="solid"/>
            <a:headEnd type="none"/>
            <a:tailEnd type="none"/>
          </a:ln>
        </p:spPr>
      </p:sp>
      <p:sp>
        <p:nvSpPr>
          <p:cNvPr id="85" name="Shape 83"/>
          <p:cNvSpPr/>
          <p:nvPr/>
        </p:nvSpPr>
        <p:spPr>
          <a:xfrm>
            <a:off x="5803392" y="4809744"/>
            <a:ext cx="342392" cy="0"/>
          </a:xfrm>
          <a:prstGeom prst="line">
            <a:avLst/>
          </a:prstGeom>
          <a:noFill/>
          <a:ln w="13970">
            <a:solidFill>
              <a:srgbClr val="CBD5E1"/>
            </a:solidFill>
            <a:prstDash val="solid"/>
            <a:headEnd type="none"/>
            <a:tailEnd type="none"/>
          </a:ln>
        </p:spPr>
      </p:sp>
      <p:sp>
        <p:nvSpPr>
          <p:cNvPr id="86" name="Shape 84"/>
          <p:cNvSpPr/>
          <p:nvPr/>
        </p:nvSpPr>
        <p:spPr>
          <a:xfrm>
            <a:off x="6346952" y="4809744"/>
            <a:ext cx="342392" cy="0"/>
          </a:xfrm>
          <a:prstGeom prst="line">
            <a:avLst/>
          </a:prstGeom>
          <a:noFill/>
          <a:ln w="13970">
            <a:solidFill>
              <a:srgbClr val="CBD5E1"/>
            </a:solidFill>
            <a:prstDash val="solid"/>
            <a:headEnd type="none"/>
            <a:tailEnd type="none"/>
          </a:ln>
        </p:spPr>
      </p:sp>
      <p:sp>
        <p:nvSpPr>
          <p:cNvPr id="87" name="Shape 85"/>
          <p:cNvSpPr/>
          <p:nvPr/>
        </p:nvSpPr>
        <p:spPr>
          <a:xfrm>
            <a:off x="6890512" y="4809744"/>
            <a:ext cx="342392" cy="0"/>
          </a:xfrm>
          <a:prstGeom prst="line">
            <a:avLst/>
          </a:prstGeom>
          <a:noFill/>
          <a:ln w="13970">
            <a:solidFill>
              <a:srgbClr val="CBD5E1"/>
            </a:solidFill>
            <a:prstDash val="solid"/>
            <a:headEnd type="none"/>
            <a:tailEnd type="none"/>
          </a:ln>
        </p:spPr>
      </p:sp>
      <p:sp>
        <p:nvSpPr>
          <p:cNvPr id="88" name="Shape 86"/>
          <p:cNvSpPr/>
          <p:nvPr/>
        </p:nvSpPr>
        <p:spPr>
          <a:xfrm>
            <a:off x="2359152" y="4718304"/>
            <a:ext cx="164592" cy="164592"/>
          </a:xfrm>
          <a:prstGeom prst="ellipse">
            <a:avLst/>
          </a:prstGeom>
          <a:solidFill>
            <a:srgbClr val="10B981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89" name="Text 87"/>
          <p:cNvSpPr/>
          <p:nvPr/>
        </p:nvSpPr>
        <p:spPr>
          <a:xfrm>
            <a:off x="2359152" y="4726534"/>
            <a:ext cx="164592" cy="13167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58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</a:t>
            </a:r>
            <a:endParaRPr lang="en-US" sz="580" dirty="0"/>
          </a:p>
        </p:txBody>
      </p:sp>
      <p:sp>
        <p:nvSpPr>
          <p:cNvPr id="90" name="Text 88"/>
          <p:cNvSpPr/>
          <p:nvPr/>
        </p:nvSpPr>
        <p:spPr>
          <a:xfrm>
            <a:off x="2185416" y="4956048"/>
            <a:ext cx="5120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520" dirty="0">
                <a:solidFill>
                  <a:srgbClr val="64748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需求</a:t>
            </a:r>
            <a:endParaRPr lang="en-US" sz="520" dirty="0"/>
          </a:p>
        </p:txBody>
      </p:sp>
      <p:sp>
        <p:nvSpPr>
          <p:cNvPr id="91" name="Shape 89"/>
          <p:cNvSpPr/>
          <p:nvPr/>
        </p:nvSpPr>
        <p:spPr>
          <a:xfrm>
            <a:off x="2902712" y="4718304"/>
            <a:ext cx="164592" cy="164592"/>
          </a:xfrm>
          <a:prstGeom prst="ellipse">
            <a:avLst/>
          </a:prstGeom>
          <a:solidFill>
            <a:srgbClr val="10B981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92" name="Text 90"/>
          <p:cNvSpPr/>
          <p:nvPr/>
        </p:nvSpPr>
        <p:spPr>
          <a:xfrm>
            <a:off x="2902712" y="4726534"/>
            <a:ext cx="164592" cy="13167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58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2</a:t>
            </a:r>
            <a:endParaRPr lang="en-US" sz="580" dirty="0"/>
          </a:p>
        </p:txBody>
      </p:sp>
      <p:sp>
        <p:nvSpPr>
          <p:cNvPr id="93" name="Text 91"/>
          <p:cNvSpPr/>
          <p:nvPr/>
        </p:nvSpPr>
        <p:spPr>
          <a:xfrm>
            <a:off x="2728976" y="4956048"/>
            <a:ext cx="5120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520" dirty="0">
                <a:solidFill>
                  <a:srgbClr val="64748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报告</a:t>
            </a:r>
            <a:endParaRPr lang="en-US" sz="520" dirty="0"/>
          </a:p>
        </p:txBody>
      </p:sp>
      <p:sp>
        <p:nvSpPr>
          <p:cNvPr id="94" name="Shape 92"/>
          <p:cNvSpPr/>
          <p:nvPr/>
        </p:nvSpPr>
        <p:spPr>
          <a:xfrm>
            <a:off x="3446272" y="4718304"/>
            <a:ext cx="164592" cy="164592"/>
          </a:xfrm>
          <a:prstGeom prst="ellipse">
            <a:avLst/>
          </a:prstGeom>
          <a:solidFill>
            <a:srgbClr val="10B981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95" name="Text 93"/>
          <p:cNvSpPr/>
          <p:nvPr/>
        </p:nvSpPr>
        <p:spPr>
          <a:xfrm>
            <a:off x="3446272" y="4726534"/>
            <a:ext cx="164592" cy="13167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58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3</a:t>
            </a:r>
            <a:endParaRPr lang="en-US" sz="580" dirty="0"/>
          </a:p>
        </p:txBody>
      </p:sp>
      <p:sp>
        <p:nvSpPr>
          <p:cNvPr id="96" name="Text 94"/>
          <p:cNvSpPr/>
          <p:nvPr/>
        </p:nvSpPr>
        <p:spPr>
          <a:xfrm>
            <a:off x="3272536" y="4956048"/>
            <a:ext cx="5120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520" dirty="0">
                <a:solidFill>
                  <a:srgbClr val="64748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涂料</a:t>
            </a:r>
            <a:endParaRPr lang="en-US" sz="520" dirty="0"/>
          </a:p>
        </p:txBody>
      </p:sp>
      <p:sp>
        <p:nvSpPr>
          <p:cNvPr id="97" name="Shape 95"/>
          <p:cNvSpPr/>
          <p:nvPr/>
        </p:nvSpPr>
        <p:spPr>
          <a:xfrm>
            <a:off x="3989832" y="4718304"/>
            <a:ext cx="164592" cy="164592"/>
          </a:xfrm>
          <a:prstGeom prst="ellipse">
            <a:avLst/>
          </a:prstGeom>
          <a:solidFill>
            <a:srgbClr val="10B981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98" name="Text 96"/>
          <p:cNvSpPr/>
          <p:nvPr/>
        </p:nvSpPr>
        <p:spPr>
          <a:xfrm>
            <a:off x="3989832" y="4726534"/>
            <a:ext cx="164592" cy="13167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58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4</a:t>
            </a:r>
            <a:endParaRPr lang="en-US" sz="580" dirty="0"/>
          </a:p>
        </p:txBody>
      </p:sp>
      <p:sp>
        <p:nvSpPr>
          <p:cNvPr id="99" name="Text 97"/>
          <p:cNvSpPr/>
          <p:nvPr/>
        </p:nvSpPr>
        <p:spPr>
          <a:xfrm>
            <a:off x="3816096" y="4956048"/>
            <a:ext cx="5120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520" dirty="0">
                <a:solidFill>
                  <a:srgbClr val="64748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确认</a:t>
            </a:r>
            <a:endParaRPr lang="en-US" sz="520" dirty="0"/>
          </a:p>
        </p:txBody>
      </p:sp>
      <p:sp>
        <p:nvSpPr>
          <p:cNvPr id="100" name="Shape 98"/>
          <p:cNvSpPr/>
          <p:nvPr/>
        </p:nvSpPr>
        <p:spPr>
          <a:xfrm>
            <a:off x="4533392" y="4718304"/>
            <a:ext cx="164592" cy="164592"/>
          </a:xfrm>
          <a:prstGeom prst="ellipse">
            <a:avLst/>
          </a:prstGeom>
          <a:solidFill>
            <a:srgbClr val="2563EB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01" name="Text 99"/>
          <p:cNvSpPr/>
          <p:nvPr/>
        </p:nvSpPr>
        <p:spPr>
          <a:xfrm>
            <a:off x="4533392" y="4726534"/>
            <a:ext cx="164592" cy="13167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58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5</a:t>
            </a:r>
            <a:endParaRPr lang="en-US" sz="580" dirty="0"/>
          </a:p>
        </p:txBody>
      </p:sp>
      <p:sp>
        <p:nvSpPr>
          <p:cNvPr id="102" name="Text 100"/>
          <p:cNvSpPr/>
          <p:nvPr/>
        </p:nvSpPr>
        <p:spPr>
          <a:xfrm>
            <a:off x="4359656" y="4956048"/>
            <a:ext cx="5120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520" dirty="0">
                <a:solidFill>
                  <a:srgbClr val="64748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采购</a:t>
            </a:r>
            <a:endParaRPr lang="en-US" sz="520" dirty="0"/>
          </a:p>
        </p:txBody>
      </p:sp>
      <p:sp>
        <p:nvSpPr>
          <p:cNvPr id="103" name="Shape 101"/>
          <p:cNvSpPr/>
          <p:nvPr/>
        </p:nvSpPr>
        <p:spPr>
          <a:xfrm>
            <a:off x="5076952" y="4718304"/>
            <a:ext cx="164592" cy="164592"/>
          </a:xfrm>
          <a:prstGeom prst="ellipse">
            <a:avLst/>
          </a:prstGeom>
          <a:solidFill>
            <a:srgbClr val="94A3B8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04" name="Text 102"/>
          <p:cNvSpPr/>
          <p:nvPr/>
        </p:nvSpPr>
        <p:spPr>
          <a:xfrm>
            <a:off x="5076952" y="4726534"/>
            <a:ext cx="164592" cy="13167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58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6</a:t>
            </a:r>
            <a:endParaRPr lang="en-US" sz="580" dirty="0"/>
          </a:p>
        </p:txBody>
      </p:sp>
      <p:sp>
        <p:nvSpPr>
          <p:cNvPr id="105" name="Text 103"/>
          <p:cNvSpPr/>
          <p:nvPr/>
        </p:nvSpPr>
        <p:spPr>
          <a:xfrm>
            <a:off x="4903216" y="4956048"/>
            <a:ext cx="5120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520" dirty="0">
                <a:solidFill>
                  <a:srgbClr val="64748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试制</a:t>
            </a:r>
            <a:endParaRPr lang="en-US" sz="520" dirty="0"/>
          </a:p>
        </p:txBody>
      </p:sp>
      <p:sp>
        <p:nvSpPr>
          <p:cNvPr id="106" name="Shape 104"/>
          <p:cNvSpPr/>
          <p:nvPr/>
        </p:nvSpPr>
        <p:spPr>
          <a:xfrm>
            <a:off x="5620512" y="4718304"/>
            <a:ext cx="164592" cy="164592"/>
          </a:xfrm>
          <a:prstGeom prst="ellipse">
            <a:avLst/>
          </a:prstGeom>
          <a:solidFill>
            <a:srgbClr val="94A3B8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07" name="Text 105"/>
          <p:cNvSpPr/>
          <p:nvPr/>
        </p:nvSpPr>
        <p:spPr>
          <a:xfrm>
            <a:off x="5620512" y="4726534"/>
            <a:ext cx="164592" cy="13167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58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7</a:t>
            </a:r>
            <a:endParaRPr lang="en-US" sz="580" dirty="0"/>
          </a:p>
        </p:txBody>
      </p:sp>
      <p:sp>
        <p:nvSpPr>
          <p:cNvPr id="108" name="Text 106"/>
          <p:cNvSpPr/>
          <p:nvPr/>
        </p:nvSpPr>
        <p:spPr>
          <a:xfrm>
            <a:off x="5446776" y="4956048"/>
            <a:ext cx="5120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520" dirty="0">
                <a:solidFill>
                  <a:srgbClr val="64748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评审</a:t>
            </a:r>
            <a:endParaRPr lang="en-US" sz="520" dirty="0"/>
          </a:p>
        </p:txBody>
      </p:sp>
      <p:sp>
        <p:nvSpPr>
          <p:cNvPr id="109" name="Shape 107"/>
          <p:cNvSpPr/>
          <p:nvPr/>
        </p:nvSpPr>
        <p:spPr>
          <a:xfrm>
            <a:off x="6164072" y="4718304"/>
            <a:ext cx="164592" cy="164592"/>
          </a:xfrm>
          <a:prstGeom prst="ellipse">
            <a:avLst/>
          </a:prstGeom>
          <a:solidFill>
            <a:srgbClr val="94A3B8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10" name="Text 108"/>
          <p:cNvSpPr/>
          <p:nvPr/>
        </p:nvSpPr>
        <p:spPr>
          <a:xfrm>
            <a:off x="6164072" y="4726534"/>
            <a:ext cx="164592" cy="13167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58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8</a:t>
            </a:r>
            <a:endParaRPr lang="en-US" sz="580" dirty="0"/>
          </a:p>
        </p:txBody>
      </p:sp>
      <p:sp>
        <p:nvSpPr>
          <p:cNvPr id="111" name="Text 109"/>
          <p:cNvSpPr/>
          <p:nvPr/>
        </p:nvSpPr>
        <p:spPr>
          <a:xfrm>
            <a:off x="5990336" y="4956048"/>
            <a:ext cx="5120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520" dirty="0">
                <a:solidFill>
                  <a:srgbClr val="64748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生产</a:t>
            </a:r>
            <a:endParaRPr lang="en-US" sz="520" dirty="0"/>
          </a:p>
        </p:txBody>
      </p:sp>
      <p:sp>
        <p:nvSpPr>
          <p:cNvPr id="112" name="Shape 110"/>
          <p:cNvSpPr/>
          <p:nvPr/>
        </p:nvSpPr>
        <p:spPr>
          <a:xfrm>
            <a:off x="6707632" y="4718304"/>
            <a:ext cx="164592" cy="164592"/>
          </a:xfrm>
          <a:prstGeom prst="ellipse">
            <a:avLst/>
          </a:prstGeom>
          <a:solidFill>
            <a:srgbClr val="94A3B8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13" name="Text 111"/>
          <p:cNvSpPr/>
          <p:nvPr/>
        </p:nvSpPr>
        <p:spPr>
          <a:xfrm>
            <a:off x="6707632" y="4726534"/>
            <a:ext cx="164592" cy="13167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58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9</a:t>
            </a:r>
            <a:endParaRPr lang="en-US" sz="580" dirty="0"/>
          </a:p>
        </p:txBody>
      </p:sp>
      <p:sp>
        <p:nvSpPr>
          <p:cNvPr id="114" name="Text 112"/>
          <p:cNvSpPr/>
          <p:nvPr/>
        </p:nvSpPr>
        <p:spPr>
          <a:xfrm>
            <a:off x="6533896" y="4956048"/>
            <a:ext cx="5120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520" dirty="0">
                <a:solidFill>
                  <a:srgbClr val="64748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月评</a:t>
            </a:r>
            <a:endParaRPr lang="en-US" sz="520" dirty="0"/>
          </a:p>
        </p:txBody>
      </p:sp>
      <p:sp>
        <p:nvSpPr>
          <p:cNvPr id="115" name="Shape 113"/>
          <p:cNvSpPr/>
          <p:nvPr/>
        </p:nvSpPr>
        <p:spPr>
          <a:xfrm>
            <a:off x="7251192" y="4718304"/>
            <a:ext cx="164592" cy="164592"/>
          </a:xfrm>
          <a:prstGeom prst="ellipse">
            <a:avLst/>
          </a:prstGeom>
          <a:solidFill>
            <a:srgbClr val="94A3B8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16" name="Text 114"/>
          <p:cNvSpPr/>
          <p:nvPr/>
        </p:nvSpPr>
        <p:spPr>
          <a:xfrm>
            <a:off x="7251192" y="4726534"/>
            <a:ext cx="164592" cy="13167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58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10</a:t>
            </a:r>
            <a:endParaRPr lang="en-US" sz="580" dirty="0"/>
          </a:p>
        </p:txBody>
      </p:sp>
      <p:sp>
        <p:nvSpPr>
          <p:cNvPr id="117" name="Text 115"/>
          <p:cNvSpPr/>
          <p:nvPr/>
        </p:nvSpPr>
        <p:spPr>
          <a:xfrm>
            <a:off x="7077456" y="4956048"/>
            <a:ext cx="5120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520" dirty="0">
                <a:solidFill>
                  <a:srgbClr val="64748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退出</a:t>
            </a:r>
            <a:endParaRPr lang="en-US" sz="520" dirty="0"/>
          </a:p>
        </p:txBody>
      </p:sp>
      <p:sp>
        <p:nvSpPr>
          <p:cNvPr id="118" name="Shape 116"/>
          <p:cNvSpPr/>
          <p:nvPr/>
        </p:nvSpPr>
        <p:spPr>
          <a:xfrm>
            <a:off x="7379208" y="4206240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DBEAFE"/>
          </a:solidFill>
          <a:ln w="7620">
            <a:solidFill>
              <a:srgbClr val="DBEAFE"/>
            </a:solidFill>
            <a:prstDash val="solid"/>
          </a:ln>
        </p:spPr>
      </p:sp>
      <p:sp>
        <p:nvSpPr>
          <p:cNvPr id="119" name="Text 117"/>
          <p:cNvSpPr/>
          <p:nvPr/>
        </p:nvSpPr>
        <p:spPr>
          <a:xfrm>
            <a:off x="7388352" y="4325112"/>
            <a:ext cx="48463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563E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42%</a:t>
            </a:r>
            <a:endParaRPr lang="en-US" sz="850" dirty="0"/>
          </a:p>
        </p:txBody>
      </p:sp>
      <p:sp>
        <p:nvSpPr>
          <p:cNvPr id="120" name="Text 118"/>
          <p:cNvSpPr/>
          <p:nvPr/>
        </p:nvSpPr>
        <p:spPr>
          <a:xfrm>
            <a:off x="7397496" y="4480560"/>
            <a:ext cx="466344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520" dirty="0">
                <a:solidFill>
                  <a:srgbClr val="2563E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进度</a:t>
            </a:r>
            <a:endParaRPr lang="en-US" sz="520" dirty="0"/>
          </a:p>
        </p:txBody>
      </p:sp>
      <p:sp>
        <p:nvSpPr>
          <p:cNvPr id="121" name="Shape 119"/>
          <p:cNvSpPr/>
          <p:nvPr/>
        </p:nvSpPr>
        <p:spPr>
          <a:xfrm>
            <a:off x="2148840" y="5138928"/>
            <a:ext cx="5943600" cy="941832"/>
          </a:xfrm>
          <a:prstGeom prst="roundRect">
            <a:avLst>
              <a:gd name="adj" fmla="val 13592"/>
            </a:avLst>
          </a:prstGeom>
          <a:solidFill>
            <a:srgbClr val="FFFFFF"/>
          </a:solidFill>
          <a:ln w="7620">
            <a:solidFill>
              <a:srgbClr val="D9E2EC"/>
            </a:solidFill>
            <a:prstDash val="solid"/>
          </a:ln>
          <a:effectLst>
            <a:outerShdw sx="100000" sy="100000" kx="0" ky="0" algn="bl" rotWithShape="0" blurRad="3.8433669984288512e+90" dist="7.6867339968577025e+90" dir="5.9229766729020215e+106">
              <a:srgbClr val="CBD5E1">
                <a:alpha val="1.2e+109"/>
              </a:srgbClr>
            </a:outerShdw>
          </a:effectLst>
        </p:spPr>
      </p:sp>
      <p:sp>
        <p:nvSpPr>
          <p:cNvPr id="122" name="Text 120"/>
          <p:cNvSpPr/>
          <p:nvPr/>
        </p:nvSpPr>
        <p:spPr>
          <a:xfrm>
            <a:off x="2313432" y="5266944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40" b="1" dirty="0">
                <a:solidFill>
                  <a:srgbClr val="0F172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GF20250217 熔岩红</a:t>
            </a:r>
            <a:endParaRPr lang="en-US" sz="940" dirty="0"/>
          </a:p>
        </p:txBody>
      </p:sp>
      <p:sp>
        <p:nvSpPr>
          <p:cNvPr id="123" name="Shape 121"/>
          <p:cNvSpPr/>
          <p:nvPr/>
        </p:nvSpPr>
        <p:spPr>
          <a:xfrm>
            <a:off x="4023360" y="5248656"/>
            <a:ext cx="658368" cy="201168"/>
          </a:xfrm>
          <a:prstGeom prst="roundRect">
            <a:avLst>
              <a:gd name="adj" fmla="val 54545"/>
            </a:avLst>
          </a:prstGeom>
          <a:solidFill>
            <a:srgbClr val="EDE9FE"/>
          </a:solidFill>
          <a:ln w="7620">
            <a:solidFill>
              <a:srgbClr val="EDE9FE"/>
            </a:solidFill>
            <a:prstDash val="solid"/>
          </a:ln>
        </p:spPr>
      </p:sp>
      <p:sp>
        <p:nvSpPr>
          <p:cNvPr id="124" name="Text 122"/>
          <p:cNvSpPr/>
          <p:nvPr/>
        </p:nvSpPr>
        <p:spPr>
          <a:xfrm>
            <a:off x="4023360" y="5253228"/>
            <a:ext cx="6583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60" b="1" dirty="0">
                <a:solidFill>
                  <a:srgbClr val="8B5CF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第12步退回</a:t>
            </a:r>
            <a:endParaRPr lang="en-US" sz="660" dirty="0"/>
          </a:p>
        </p:txBody>
      </p:sp>
      <p:sp>
        <p:nvSpPr>
          <p:cNvPr id="125" name="Text 123"/>
          <p:cNvSpPr/>
          <p:nvPr/>
        </p:nvSpPr>
        <p:spPr>
          <a:xfrm>
            <a:off x="2313432" y="5522976"/>
            <a:ext cx="1371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80" dirty="0">
                <a:solidFill>
                  <a:srgbClr val="64748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当前：样车评审第2轮</a:t>
            </a:r>
            <a:endParaRPr lang="en-US" sz="680" dirty="0"/>
          </a:p>
        </p:txBody>
      </p:sp>
      <p:sp>
        <p:nvSpPr>
          <p:cNvPr id="126" name="Text 124"/>
          <p:cNvSpPr/>
          <p:nvPr/>
        </p:nvSpPr>
        <p:spPr>
          <a:xfrm>
            <a:off x="3703320" y="5522976"/>
            <a:ext cx="914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80" dirty="0">
                <a:solidFill>
                  <a:srgbClr val="64748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负责人：田强</a:t>
            </a:r>
            <a:endParaRPr lang="en-US" sz="680" dirty="0"/>
          </a:p>
        </p:txBody>
      </p:sp>
      <p:sp>
        <p:nvSpPr>
          <p:cNvPr id="127" name="Text 125"/>
          <p:cNvSpPr/>
          <p:nvPr/>
        </p:nvSpPr>
        <p:spPr>
          <a:xfrm>
            <a:off x="4636008" y="5522976"/>
            <a:ext cx="98755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80" dirty="0">
                <a:solidFill>
                  <a:srgbClr val="64748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截止：2025/10/16</a:t>
            </a:r>
            <a:endParaRPr lang="en-US" sz="680" dirty="0"/>
          </a:p>
        </p:txBody>
      </p:sp>
      <p:sp>
        <p:nvSpPr>
          <p:cNvPr id="128" name="Shape 126"/>
          <p:cNvSpPr/>
          <p:nvPr/>
        </p:nvSpPr>
        <p:spPr>
          <a:xfrm>
            <a:off x="2542032" y="5907024"/>
            <a:ext cx="342392" cy="0"/>
          </a:xfrm>
          <a:prstGeom prst="line">
            <a:avLst/>
          </a:prstGeom>
          <a:noFill/>
          <a:ln w="13970">
            <a:solidFill>
              <a:srgbClr val="10B981"/>
            </a:solidFill>
            <a:prstDash val="solid"/>
            <a:headEnd type="none"/>
            <a:tailEnd type="none"/>
          </a:ln>
        </p:spPr>
      </p:sp>
      <p:sp>
        <p:nvSpPr>
          <p:cNvPr id="129" name="Shape 127"/>
          <p:cNvSpPr/>
          <p:nvPr/>
        </p:nvSpPr>
        <p:spPr>
          <a:xfrm>
            <a:off x="3085592" y="5907024"/>
            <a:ext cx="342392" cy="0"/>
          </a:xfrm>
          <a:prstGeom prst="line">
            <a:avLst/>
          </a:prstGeom>
          <a:noFill/>
          <a:ln w="13970">
            <a:solidFill>
              <a:srgbClr val="10B981"/>
            </a:solidFill>
            <a:prstDash val="solid"/>
            <a:headEnd type="none"/>
            <a:tailEnd type="none"/>
          </a:ln>
        </p:spPr>
      </p:sp>
      <p:sp>
        <p:nvSpPr>
          <p:cNvPr id="130" name="Shape 128"/>
          <p:cNvSpPr/>
          <p:nvPr/>
        </p:nvSpPr>
        <p:spPr>
          <a:xfrm>
            <a:off x="3629152" y="5907024"/>
            <a:ext cx="342392" cy="0"/>
          </a:xfrm>
          <a:prstGeom prst="line">
            <a:avLst/>
          </a:prstGeom>
          <a:noFill/>
          <a:ln w="13970">
            <a:solidFill>
              <a:srgbClr val="10B981"/>
            </a:solidFill>
            <a:prstDash val="solid"/>
            <a:headEnd type="none"/>
            <a:tailEnd type="none"/>
          </a:ln>
        </p:spPr>
      </p:sp>
      <p:sp>
        <p:nvSpPr>
          <p:cNvPr id="131" name="Shape 129"/>
          <p:cNvSpPr/>
          <p:nvPr/>
        </p:nvSpPr>
        <p:spPr>
          <a:xfrm>
            <a:off x="4172712" y="5907024"/>
            <a:ext cx="342392" cy="0"/>
          </a:xfrm>
          <a:prstGeom prst="line">
            <a:avLst/>
          </a:prstGeom>
          <a:noFill/>
          <a:ln w="13970">
            <a:solidFill>
              <a:srgbClr val="10B981"/>
            </a:solidFill>
            <a:prstDash val="solid"/>
            <a:headEnd type="none"/>
            <a:tailEnd type="none"/>
          </a:ln>
        </p:spPr>
      </p:sp>
      <p:sp>
        <p:nvSpPr>
          <p:cNvPr id="132" name="Shape 130"/>
          <p:cNvSpPr/>
          <p:nvPr/>
        </p:nvSpPr>
        <p:spPr>
          <a:xfrm>
            <a:off x="4716272" y="5907024"/>
            <a:ext cx="342392" cy="0"/>
          </a:xfrm>
          <a:prstGeom prst="line">
            <a:avLst/>
          </a:prstGeom>
          <a:noFill/>
          <a:ln w="13970">
            <a:solidFill>
              <a:srgbClr val="10B981"/>
            </a:solidFill>
            <a:prstDash val="solid"/>
            <a:headEnd type="none"/>
            <a:tailEnd type="none"/>
          </a:ln>
        </p:spPr>
      </p:sp>
      <p:sp>
        <p:nvSpPr>
          <p:cNvPr id="133" name="Shape 131"/>
          <p:cNvSpPr/>
          <p:nvPr/>
        </p:nvSpPr>
        <p:spPr>
          <a:xfrm>
            <a:off x="5259832" y="5907024"/>
            <a:ext cx="342392" cy="0"/>
          </a:xfrm>
          <a:prstGeom prst="line">
            <a:avLst/>
          </a:prstGeom>
          <a:noFill/>
          <a:ln w="13970">
            <a:solidFill>
              <a:srgbClr val="10B981"/>
            </a:solidFill>
            <a:prstDash val="solid"/>
            <a:headEnd type="none"/>
            <a:tailEnd type="none"/>
          </a:ln>
        </p:spPr>
      </p:sp>
      <p:sp>
        <p:nvSpPr>
          <p:cNvPr id="134" name="Shape 132"/>
          <p:cNvSpPr/>
          <p:nvPr/>
        </p:nvSpPr>
        <p:spPr>
          <a:xfrm>
            <a:off x="5803392" y="5907024"/>
            <a:ext cx="342392" cy="0"/>
          </a:xfrm>
          <a:prstGeom prst="line">
            <a:avLst/>
          </a:prstGeom>
          <a:noFill/>
          <a:ln w="13970">
            <a:solidFill>
              <a:srgbClr val="CBD5E1"/>
            </a:solidFill>
            <a:prstDash val="solid"/>
            <a:headEnd type="none"/>
            <a:tailEnd type="none"/>
          </a:ln>
        </p:spPr>
      </p:sp>
      <p:sp>
        <p:nvSpPr>
          <p:cNvPr id="135" name="Shape 133"/>
          <p:cNvSpPr/>
          <p:nvPr/>
        </p:nvSpPr>
        <p:spPr>
          <a:xfrm>
            <a:off x="6346952" y="5907024"/>
            <a:ext cx="342392" cy="0"/>
          </a:xfrm>
          <a:prstGeom prst="line">
            <a:avLst/>
          </a:prstGeom>
          <a:noFill/>
          <a:ln w="13970">
            <a:solidFill>
              <a:srgbClr val="CBD5E1"/>
            </a:solidFill>
            <a:prstDash val="solid"/>
            <a:headEnd type="none"/>
            <a:tailEnd type="none"/>
          </a:ln>
        </p:spPr>
      </p:sp>
      <p:sp>
        <p:nvSpPr>
          <p:cNvPr id="136" name="Shape 134"/>
          <p:cNvSpPr/>
          <p:nvPr/>
        </p:nvSpPr>
        <p:spPr>
          <a:xfrm>
            <a:off x="6890512" y="5907024"/>
            <a:ext cx="342392" cy="0"/>
          </a:xfrm>
          <a:prstGeom prst="line">
            <a:avLst/>
          </a:prstGeom>
          <a:noFill/>
          <a:ln w="13970">
            <a:solidFill>
              <a:srgbClr val="CBD5E1"/>
            </a:solidFill>
            <a:prstDash val="solid"/>
            <a:headEnd type="none"/>
            <a:tailEnd type="none"/>
          </a:ln>
        </p:spPr>
      </p:sp>
      <p:sp>
        <p:nvSpPr>
          <p:cNvPr id="137" name="Shape 135"/>
          <p:cNvSpPr/>
          <p:nvPr/>
        </p:nvSpPr>
        <p:spPr>
          <a:xfrm>
            <a:off x="2359152" y="5815584"/>
            <a:ext cx="164592" cy="164592"/>
          </a:xfrm>
          <a:prstGeom prst="ellipse">
            <a:avLst/>
          </a:prstGeom>
          <a:solidFill>
            <a:srgbClr val="10B981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38" name="Text 136"/>
          <p:cNvSpPr/>
          <p:nvPr/>
        </p:nvSpPr>
        <p:spPr>
          <a:xfrm>
            <a:off x="2359152" y="5823814"/>
            <a:ext cx="164592" cy="13167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58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</a:t>
            </a:r>
            <a:endParaRPr lang="en-US" sz="580" dirty="0"/>
          </a:p>
        </p:txBody>
      </p:sp>
      <p:sp>
        <p:nvSpPr>
          <p:cNvPr id="139" name="Text 137"/>
          <p:cNvSpPr/>
          <p:nvPr/>
        </p:nvSpPr>
        <p:spPr>
          <a:xfrm>
            <a:off x="2185416" y="6053328"/>
            <a:ext cx="5120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520" dirty="0">
                <a:solidFill>
                  <a:srgbClr val="64748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需求</a:t>
            </a:r>
            <a:endParaRPr lang="en-US" sz="520" dirty="0"/>
          </a:p>
        </p:txBody>
      </p:sp>
      <p:sp>
        <p:nvSpPr>
          <p:cNvPr id="140" name="Shape 138"/>
          <p:cNvSpPr/>
          <p:nvPr/>
        </p:nvSpPr>
        <p:spPr>
          <a:xfrm>
            <a:off x="2902712" y="5815584"/>
            <a:ext cx="164592" cy="164592"/>
          </a:xfrm>
          <a:prstGeom prst="ellipse">
            <a:avLst/>
          </a:prstGeom>
          <a:solidFill>
            <a:srgbClr val="10B981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41" name="Text 139"/>
          <p:cNvSpPr/>
          <p:nvPr/>
        </p:nvSpPr>
        <p:spPr>
          <a:xfrm>
            <a:off x="2902712" y="5823814"/>
            <a:ext cx="164592" cy="13167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58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2</a:t>
            </a:r>
            <a:endParaRPr lang="en-US" sz="580" dirty="0"/>
          </a:p>
        </p:txBody>
      </p:sp>
      <p:sp>
        <p:nvSpPr>
          <p:cNvPr id="142" name="Text 140"/>
          <p:cNvSpPr/>
          <p:nvPr/>
        </p:nvSpPr>
        <p:spPr>
          <a:xfrm>
            <a:off x="2728976" y="6053328"/>
            <a:ext cx="5120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520" dirty="0">
                <a:solidFill>
                  <a:srgbClr val="64748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报告</a:t>
            </a:r>
            <a:endParaRPr lang="en-US" sz="520" dirty="0"/>
          </a:p>
        </p:txBody>
      </p:sp>
      <p:sp>
        <p:nvSpPr>
          <p:cNvPr id="143" name="Shape 141"/>
          <p:cNvSpPr/>
          <p:nvPr/>
        </p:nvSpPr>
        <p:spPr>
          <a:xfrm>
            <a:off x="3446272" y="5815584"/>
            <a:ext cx="164592" cy="164592"/>
          </a:xfrm>
          <a:prstGeom prst="ellipse">
            <a:avLst/>
          </a:prstGeom>
          <a:solidFill>
            <a:srgbClr val="10B981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44" name="Text 142"/>
          <p:cNvSpPr/>
          <p:nvPr/>
        </p:nvSpPr>
        <p:spPr>
          <a:xfrm>
            <a:off x="3446272" y="5823814"/>
            <a:ext cx="164592" cy="13167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58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3</a:t>
            </a:r>
            <a:endParaRPr lang="en-US" sz="580" dirty="0"/>
          </a:p>
        </p:txBody>
      </p:sp>
      <p:sp>
        <p:nvSpPr>
          <p:cNvPr id="145" name="Text 143"/>
          <p:cNvSpPr/>
          <p:nvPr/>
        </p:nvSpPr>
        <p:spPr>
          <a:xfrm>
            <a:off x="3272536" y="6053328"/>
            <a:ext cx="5120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520" dirty="0">
                <a:solidFill>
                  <a:srgbClr val="64748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涂料</a:t>
            </a:r>
            <a:endParaRPr lang="en-US" sz="520" dirty="0"/>
          </a:p>
        </p:txBody>
      </p:sp>
      <p:sp>
        <p:nvSpPr>
          <p:cNvPr id="146" name="Shape 144"/>
          <p:cNvSpPr/>
          <p:nvPr/>
        </p:nvSpPr>
        <p:spPr>
          <a:xfrm>
            <a:off x="3989832" y="5815584"/>
            <a:ext cx="164592" cy="164592"/>
          </a:xfrm>
          <a:prstGeom prst="ellipse">
            <a:avLst/>
          </a:prstGeom>
          <a:solidFill>
            <a:srgbClr val="10B981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47" name="Text 145"/>
          <p:cNvSpPr/>
          <p:nvPr/>
        </p:nvSpPr>
        <p:spPr>
          <a:xfrm>
            <a:off x="3989832" y="5823814"/>
            <a:ext cx="164592" cy="13167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58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4</a:t>
            </a:r>
            <a:endParaRPr lang="en-US" sz="580" dirty="0"/>
          </a:p>
        </p:txBody>
      </p:sp>
      <p:sp>
        <p:nvSpPr>
          <p:cNvPr id="148" name="Text 146"/>
          <p:cNvSpPr/>
          <p:nvPr/>
        </p:nvSpPr>
        <p:spPr>
          <a:xfrm>
            <a:off x="3816096" y="6053328"/>
            <a:ext cx="5120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520" dirty="0">
                <a:solidFill>
                  <a:srgbClr val="64748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确认</a:t>
            </a:r>
            <a:endParaRPr lang="en-US" sz="520" dirty="0"/>
          </a:p>
        </p:txBody>
      </p:sp>
      <p:sp>
        <p:nvSpPr>
          <p:cNvPr id="149" name="Shape 147"/>
          <p:cNvSpPr/>
          <p:nvPr/>
        </p:nvSpPr>
        <p:spPr>
          <a:xfrm>
            <a:off x="4533392" y="5815584"/>
            <a:ext cx="164592" cy="164592"/>
          </a:xfrm>
          <a:prstGeom prst="ellipse">
            <a:avLst/>
          </a:prstGeom>
          <a:solidFill>
            <a:srgbClr val="10B981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50" name="Text 148"/>
          <p:cNvSpPr/>
          <p:nvPr/>
        </p:nvSpPr>
        <p:spPr>
          <a:xfrm>
            <a:off x="4533392" y="5823814"/>
            <a:ext cx="164592" cy="13167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58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5</a:t>
            </a:r>
            <a:endParaRPr lang="en-US" sz="580" dirty="0"/>
          </a:p>
        </p:txBody>
      </p:sp>
      <p:sp>
        <p:nvSpPr>
          <p:cNvPr id="151" name="Text 149"/>
          <p:cNvSpPr/>
          <p:nvPr/>
        </p:nvSpPr>
        <p:spPr>
          <a:xfrm>
            <a:off x="4359656" y="6053328"/>
            <a:ext cx="5120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520" dirty="0">
                <a:solidFill>
                  <a:srgbClr val="64748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采购</a:t>
            </a:r>
            <a:endParaRPr lang="en-US" sz="520" dirty="0"/>
          </a:p>
        </p:txBody>
      </p:sp>
      <p:sp>
        <p:nvSpPr>
          <p:cNvPr id="152" name="Shape 150"/>
          <p:cNvSpPr/>
          <p:nvPr/>
        </p:nvSpPr>
        <p:spPr>
          <a:xfrm>
            <a:off x="5076952" y="5815584"/>
            <a:ext cx="164592" cy="164592"/>
          </a:xfrm>
          <a:prstGeom prst="ellipse">
            <a:avLst/>
          </a:prstGeom>
          <a:solidFill>
            <a:srgbClr val="10B981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53" name="Text 151"/>
          <p:cNvSpPr/>
          <p:nvPr/>
        </p:nvSpPr>
        <p:spPr>
          <a:xfrm>
            <a:off x="5076952" y="5823814"/>
            <a:ext cx="164592" cy="13167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58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6</a:t>
            </a:r>
            <a:endParaRPr lang="en-US" sz="580" dirty="0"/>
          </a:p>
        </p:txBody>
      </p:sp>
      <p:sp>
        <p:nvSpPr>
          <p:cNvPr id="154" name="Text 152"/>
          <p:cNvSpPr/>
          <p:nvPr/>
        </p:nvSpPr>
        <p:spPr>
          <a:xfrm>
            <a:off x="4903216" y="6053328"/>
            <a:ext cx="5120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520" dirty="0">
                <a:solidFill>
                  <a:srgbClr val="64748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试制</a:t>
            </a:r>
            <a:endParaRPr lang="en-US" sz="520" dirty="0"/>
          </a:p>
        </p:txBody>
      </p:sp>
      <p:sp>
        <p:nvSpPr>
          <p:cNvPr id="155" name="Shape 153"/>
          <p:cNvSpPr/>
          <p:nvPr/>
        </p:nvSpPr>
        <p:spPr>
          <a:xfrm>
            <a:off x="5620512" y="5815584"/>
            <a:ext cx="164592" cy="164592"/>
          </a:xfrm>
          <a:prstGeom prst="ellipse">
            <a:avLst/>
          </a:prstGeom>
          <a:solidFill>
            <a:srgbClr val="8B5CF6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56" name="Text 154"/>
          <p:cNvSpPr/>
          <p:nvPr/>
        </p:nvSpPr>
        <p:spPr>
          <a:xfrm>
            <a:off x="5620512" y="5823814"/>
            <a:ext cx="164592" cy="13167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58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7</a:t>
            </a:r>
            <a:endParaRPr lang="en-US" sz="580" dirty="0"/>
          </a:p>
        </p:txBody>
      </p:sp>
      <p:sp>
        <p:nvSpPr>
          <p:cNvPr id="157" name="Text 155"/>
          <p:cNvSpPr/>
          <p:nvPr/>
        </p:nvSpPr>
        <p:spPr>
          <a:xfrm>
            <a:off x="5446776" y="6053328"/>
            <a:ext cx="5120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520" dirty="0">
                <a:solidFill>
                  <a:srgbClr val="64748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评审</a:t>
            </a:r>
            <a:endParaRPr lang="en-US" sz="520" dirty="0"/>
          </a:p>
        </p:txBody>
      </p:sp>
      <p:sp>
        <p:nvSpPr>
          <p:cNvPr id="158" name="Shape 156"/>
          <p:cNvSpPr/>
          <p:nvPr/>
        </p:nvSpPr>
        <p:spPr>
          <a:xfrm>
            <a:off x="6164072" y="5815584"/>
            <a:ext cx="164592" cy="164592"/>
          </a:xfrm>
          <a:prstGeom prst="ellipse">
            <a:avLst/>
          </a:prstGeom>
          <a:solidFill>
            <a:srgbClr val="94A3B8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59" name="Text 157"/>
          <p:cNvSpPr/>
          <p:nvPr/>
        </p:nvSpPr>
        <p:spPr>
          <a:xfrm>
            <a:off x="6164072" y="5823814"/>
            <a:ext cx="164592" cy="13167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58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8</a:t>
            </a:r>
            <a:endParaRPr lang="en-US" sz="580" dirty="0"/>
          </a:p>
        </p:txBody>
      </p:sp>
      <p:sp>
        <p:nvSpPr>
          <p:cNvPr id="160" name="Text 158"/>
          <p:cNvSpPr/>
          <p:nvPr/>
        </p:nvSpPr>
        <p:spPr>
          <a:xfrm>
            <a:off x="5990336" y="6053328"/>
            <a:ext cx="5120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520" dirty="0">
                <a:solidFill>
                  <a:srgbClr val="64748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生产</a:t>
            </a:r>
            <a:endParaRPr lang="en-US" sz="520" dirty="0"/>
          </a:p>
        </p:txBody>
      </p:sp>
      <p:sp>
        <p:nvSpPr>
          <p:cNvPr id="161" name="Shape 159"/>
          <p:cNvSpPr/>
          <p:nvPr/>
        </p:nvSpPr>
        <p:spPr>
          <a:xfrm>
            <a:off x="6707632" y="5815584"/>
            <a:ext cx="164592" cy="164592"/>
          </a:xfrm>
          <a:prstGeom prst="ellipse">
            <a:avLst/>
          </a:prstGeom>
          <a:solidFill>
            <a:srgbClr val="94A3B8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62" name="Text 160"/>
          <p:cNvSpPr/>
          <p:nvPr/>
        </p:nvSpPr>
        <p:spPr>
          <a:xfrm>
            <a:off x="6707632" y="5823814"/>
            <a:ext cx="164592" cy="13167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58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9</a:t>
            </a:r>
            <a:endParaRPr lang="en-US" sz="580" dirty="0"/>
          </a:p>
        </p:txBody>
      </p:sp>
      <p:sp>
        <p:nvSpPr>
          <p:cNvPr id="163" name="Text 161"/>
          <p:cNvSpPr/>
          <p:nvPr/>
        </p:nvSpPr>
        <p:spPr>
          <a:xfrm>
            <a:off x="6533896" y="6053328"/>
            <a:ext cx="5120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520" dirty="0">
                <a:solidFill>
                  <a:srgbClr val="64748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月评</a:t>
            </a:r>
            <a:endParaRPr lang="en-US" sz="520" dirty="0"/>
          </a:p>
        </p:txBody>
      </p:sp>
      <p:sp>
        <p:nvSpPr>
          <p:cNvPr id="164" name="Shape 162"/>
          <p:cNvSpPr/>
          <p:nvPr/>
        </p:nvSpPr>
        <p:spPr>
          <a:xfrm>
            <a:off x="7251192" y="5815584"/>
            <a:ext cx="164592" cy="164592"/>
          </a:xfrm>
          <a:prstGeom prst="ellipse">
            <a:avLst/>
          </a:prstGeom>
          <a:solidFill>
            <a:srgbClr val="94A3B8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65" name="Text 163"/>
          <p:cNvSpPr/>
          <p:nvPr/>
        </p:nvSpPr>
        <p:spPr>
          <a:xfrm>
            <a:off x="7251192" y="5823814"/>
            <a:ext cx="164592" cy="13167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58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10</a:t>
            </a:r>
            <a:endParaRPr lang="en-US" sz="580" dirty="0"/>
          </a:p>
        </p:txBody>
      </p:sp>
      <p:sp>
        <p:nvSpPr>
          <p:cNvPr id="166" name="Text 164"/>
          <p:cNvSpPr/>
          <p:nvPr/>
        </p:nvSpPr>
        <p:spPr>
          <a:xfrm>
            <a:off x="7077456" y="6053328"/>
            <a:ext cx="5120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520" dirty="0">
                <a:solidFill>
                  <a:srgbClr val="64748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退出</a:t>
            </a:r>
            <a:endParaRPr lang="en-US" sz="520" dirty="0"/>
          </a:p>
        </p:txBody>
      </p:sp>
      <p:sp>
        <p:nvSpPr>
          <p:cNvPr id="167" name="Shape 165"/>
          <p:cNvSpPr/>
          <p:nvPr/>
        </p:nvSpPr>
        <p:spPr>
          <a:xfrm>
            <a:off x="7379208" y="5303520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EDE9FE"/>
          </a:solidFill>
          <a:ln w="7620">
            <a:solidFill>
              <a:srgbClr val="EDE9FE"/>
            </a:solidFill>
            <a:prstDash val="solid"/>
          </a:ln>
        </p:spPr>
      </p:sp>
      <p:sp>
        <p:nvSpPr>
          <p:cNvPr id="168" name="Text 166"/>
          <p:cNvSpPr/>
          <p:nvPr/>
        </p:nvSpPr>
        <p:spPr>
          <a:xfrm>
            <a:off x="7388352" y="5422392"/>
            <a:ext cx="48463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8B5CF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58%</a:t>
            </a:r>
            <a:endParaRPr lang="en-US" sz="850" dirty="0"/>
          </a:p>
        </p:txBody>
      </p:sp>
      <p:sp>
        <p:nvSpPr>
          <p:cNvPr id="169" name="Text 167"/>
          <p:cNvSpPr/>
          <p:nvPr/>
        </p:nvSpPr>
        <p:spPr>
          <a:xfrm>
            <a:off x="7397496" y="5577840"/>
            <a:ext cx="466344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520" dirty="0">
                <a:solidFill>
                  <a:srgbClr val="8B5CF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进度</a:t>
            </a:r>
            <a:endParaRPr lang="en-US" sz="520" dirty="0"/>
          </a:p>
        </p:txBody>
      </p:sp>
      <p:sp>
        <p:nvSpPr>
          <p:cNvPr id="170" name="Shape 168"/>
          <p:cNvSpPr/>
          <p:nvPr/>
        </p:nvSpPr>
        <p:spPr>
          <a:xfrm>
            <a:off x="6592824" y="5907024"/>
            <a:ext cx="749808" cy="201168"/>
          </a:xfrm>
          <a:prstGeom prst="roundRect">
            <a:avLst>
              <a:gd name="adj" fmla="val 54545"/>
            </a:avLst>
          </a:prstGeom>
          <a:solidFill>
            <a:srgbClr val="FEE2E2"/>
          </a:solidFill>
          <a:ln w="7620">
            <a:solidFill>
              <a:srgbClr val="FEE2E2"/>
            </a:solidFill>
            <a:prstDash val="solid"/>
          </a:ln>
        </p:spPr>
      </p:sp>
      <p:sp>
        <p:nvSpPr>
          <p:cNvPr id="171" name="Text 169"/>
          <p:cNvSpPr/>
          <p:nvPr/>
        </p:nvSpPr>
        <p:spPr>
          <a:xfrm>
            <a:off x="6592824" y="5911596"/>
            <a:ext cx="7498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20" b="1" dirty="0">
                <a:solidFill>
                  <a:srgbClr val="EF444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已退回</a:t>
            </a:r>
            <a:endParaRPr lang="en-US" sz="620" dirty="0"/>
          </a:p>
        </p:txBody>
      </p:sp>
      <p:sp>
        <p:nvSpPr>
          <p:cNvPr id="172" name="Shape 170"/>
          <p:cNvSpPr/>
          <p:nvPr/>
        </p:nvSpPr>
        <p:spPr>
          <a:xfrm>
            <a:off x="2148840" y="6144768"/>
            <a:ext cx="5943600" cy="594360"/>
          </a:xfrm>
          <a:prstGeom prst="roundRect">
            <a:avLst>
              <a:gd name="adj" fmla="val 21538"/>
            </a:avLst>
          </a:prstGeom>
          <a:solidFill>
            <a:srgbClr val="FFFFFF"/>
          </a:solidFill>
          <a:ln w="7620">
            <a:solidFill>
              <a:srgbClr val="D9E2EC"/>
            </a:solidFill>
            <a:prstDash val="solid"/>
          </a:ln>
          <a:effectLst>
            <a:outerShdw sx="100000" sy="100000" kx="0" ky="0" algn="bl" rotWithShape="0" blurRad="4.8810760880046414e+94" dist="9.762152176009283e+94" dir="3.553786003741213e+111">
              <a:srgbClr val="CBD5E1">
                <a:alpha val="1.1999999999999999e+114"/>
              </a:srgbClr>
            </a:outerShdw>
          </a:effectLst>
        </p:spPr>
      </p:sp>
      <p:sp>
        <p:nvSpPr>
          <p:cNvPr id="173" name="Text 171"/>
          <p:cNvSpPr/>
          <p:nvPr/>
        </p:nvSpPr>
        <p:spPr>
          <a:xfrm>
            <a:off x="2313432" y="6327648"/>
            <a:ext cx="2560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40" b="1" dirty="0">
                <a:solidFill>
                  <a:srgbClr val="0F172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GF20250218 珍珠白｜第17步月度评审</a:t>
            </a:r>
            <a:endParaRPr lang="en-US" sz="840" dirty="0"/>
          </a:p>
        </p:txBody>
      </p:sp>
      <p:sp>
        <p:nvSpPr>
          <p:cNvPr id="174" name="Shape 172"/>
          <p:cNvSpPr/>
          <p:nvPr/>
        </p:nvSpPr>
        <p:spPr>
          <a:xfrm>
            <a:off x="5029200" y="6291072"/>
            <a:ext cx="749808" cy="201168"/>
          </a:xfrm>
          <a:prstGeom prst="roundRect">
            <a:avLst>
              <a:gd name="adj" fmla="val 54545"/>
            </a:avLst>
          </a:prstGeom>
          <a:solidFill>
            <a:srgbClr val="CFFAFE"/>
          </a:solidFill>
          <a:ln w="7620">
            <a:solidFill>
              <a:srgbClr val="CFFAFE"/>
            </a:solidFill>
            <a:prstDash val="solid"/>
          </a:ln>
        </p:spPr>
      </p:sp>
      <p:sp>
        <p:nvSpPr>
          <p:cNvPr id="175" name="Text 173"/>
          <p:cNvSpPr/>
          <p:nvPr/>
        </p:nvSpPr>
        <p:spPr>
          <a:xfrm>
            <a:off x="5029200" y="6295644"/>
            <a:ext cx="7498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20" b="1" dirty="0">
                <a:solidFill>
                  <a:srgbClr val="06B6D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已完成 3/12</a:t>
            </a:r>
            <a:endParaRPr lang="en-US" sz="620" dirty="0"/>
          </a:p>
        </p:txBody>
      </p:sp>
      <p:sp>
        <p:nvSpPr>
          <p:cNvPr id="176" name="Shape 174"/>
          <p:cNvSpPr/>
          <p:nvPr/>
        </p:nvSpPr>
        <p:spPr>
          <a:xfrm>
            <a:off x="5943600" y="6345936"/>
            <a:ext cx="1325880" cy="128016"/>
          </a:xfrm>
          <a:prstGeom prst="roundRect">
            <a:avLst>
              <a:gd name="adj" fmla="val 42857"/>
            </a:avLst>
          </a:prstGeom>
          <a:solidFill>
            <a:srgbClr val="E2E8F0"/>
          </a:solidFill>
          <a:ln w="7620">
            <a:solidFill>
              <a:srgbClr val="E2E8F0"/>
            </a:solidFill>
            <a:prstDash val="solid"/>
          </a:ln>
        </p:spPr>
      </p:sp>
      <p:sp>
        <p:nvSpPr>
          <p:cNvPr id="177" name="Shape 175"/>
          <p:cNvSpPr/>
          <p:nvPr/>
        </p:nvSpPr>
        <p:spPr>
          <a:xfrm>
            <a:off x="5943600" y="6345936"/>
            <a:ext cx="475488" cy="128016"/>
          </a:xfrm>
          <a:prstGeom prst="roundRect">
            <a:avLst>
              <a:gd name="adj" fmla="val 42857"/>
            </a:avLst>
          </a:prstGeom>
          <a:solidFill>
            <a:srgbClr val="06B6D4"/>
          </a:solidFill>
          <a:ln w="7620">
            <a:solidFill>
              <a:srgbClr val="06B6D4"/>
            </a:solidFill>
            <a:prstDash val="solid"/>
          </a:ln>
        </p:spPr>
      </p:sp>
      <p:sp>
        <p:nvSpPr>
          <p:cNvPr id="178" name="Text 176"/>
          <p:cNvSpPr/>
          <p:nvPr/>
        </p:nvSpPr>
        <p:spPr>
          <a:xfrm>
            <a:off x="7406640" y="6318504"/>
            <a:ext cx="8229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40" dirty="0">
                <a:solidFill>
                  <a:srgbClr val="F59E0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本月待评审：04/25</a:t>
            </a:r>
            <a:endParaRPr lang="en-US" sz="640" dirty="0"/>
          </a:p>
        </p:txBody>
      </p:sp>
      <p:sp>
        <p:nvSpPr>
          <p:cNvPr id="179" name="Shape 177"/>
          <p:cNvSpPr/>
          <p:nvPr/>
        </p:nvSpPr>
        <p:spPr>
          <a:xfrm>
            <a:off x="8385048" y="4041648"/>
            <a:ext cx="1965960" cy="1901952"/>
          </a:xfrm>
          <a:prstGeom prst="roundRect">
            <a:avLst>
              <a:gd name="adj" fmla="val 6731"/>
            </a:avLst>
          </a:prstGeom>
          <a:solidFill>
            <a:srgbClr val="FFFFFF"/>
          </a:solidFill>
          <a:ln w="7620">
            <a:solidFill>
              <a:srgbClr val="D9E2EC"/>
            </a:solidFill>
            <a:prstDash val="solid"/>
          </a:ln>
          <a:effectLst>
            <a:outerShdw sx="100000" sy="100000" kx="0" ky="0" algn="bl" rotWithShape="0" blurRad="6.198966631765894e+98" dist="1.2397933263531789e+99" dir="2.1322716022447277e+116">
              <a:srgbClr val="CBD5E1">
                <a:alpha val="1.1999999999999998e+119"/>
              </a:srgbClr>
            </a:outerShdw>
          </a:effectLst>
        </p:spPr>
      </p:sp>
      <p:sp>
        <p:nvSpPr>
          <p:cNvPr id="180" name="Text 178"/>
          <p:cNvSpPr/>
          <p:nvPr/>
        </p:nvSpPr>
        <p:spPr>
          <a:xfrm>
            <a:off x="8595360" y="4251960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我的待办</a:t>
            </a:r>
            <a:endParaRPr lang="en-US" sz="1100" dirty="0"/>
          </a:p>
        </p:txBody>
      </p:sp>
      <p:sp>
        <p:nvSpPr>
          <p:cNvPr id="181" name="Shape 179"/>
          <p:cNvSpPr/>
          <p:nvPr/>
        </p:nvSpPr>
        <p:spPr>
          <a:xfrm>
            <a:off x="8595360" y="4645152"/>
            <a:ext cx="64008" cy="64008"/>
          </a:xfrm>
          <a:prstGeom prst="ellipse">
            <a:avLst/>
          </a:prstGeom>
          <a:solidFill>
            <a:srgbClr val="2563EB"/>
          </a:solidFill>
          <a:ln w="6350">
            <a:solidFill>
              <a:srgbClr val="2563EB"/>
            </a:solidFill>
            <a:prstDash val="solid"/>
          </a:ln>
        </p:spPr>
      </p:sp>
      <p:sp>
        <p:nvSpPr>
          <p:cNvPr id="182" name="Text 180"/>
          <p:cNvSpPr/>
          <p:nvPr/>
        </p:nvSpPr>
        <p:spPr>
          <a:xfrm>
            <a:off x="8741664" y="4590288"/>
            <a:ext cx="1453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20" dirty="0">
                <a:solidFill>
                  <a:srgbClr val="0F172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样车驾驶室评审 2项</a:t>
            </a:r>
            <a:endParaRPr lang="en-US" sz="720" dirty="0"/>
          </a:p>
        </p:txBody>
      </p:sp>
      <p:sp>
        <p:nvSpPr>
          <p:cNvPr id="183" name="Shape 181"/>
          <p:cNvSpPr/>
          <p:nvPr/>
        </p:nvSpPr>
        <p:spPr>
          <a:xfrm>
            <a:off x="8595360" y="4937760"/>
            <a:ext cx="64008" cy="64008"/>
          </a:xfrm>
          <a:prstGeom prst="ellipse">
            <a:avLst/>
          </a:prstGeom>
          <a:solidFill>
            <a:srgbClr val="2563EB"/>
          </a:solidFill>
          <a:ln w="6350">
            <a:solidFill>
              <a:srgbClr val="2563EB"/>
            </a:solidFill>
            <a:prstDash val="solid"/>
          </a:ln>
        </p:spPr>
      </p:sp>
      <p:sp>
        <p:nvSpPr>
          <p:cNvPr id="184" name="Text 182"/>
          <p:cNvSpPr/>
          <p:nvPr/>
        </p:nvSpPr>
        <p:spPr>
          <a:xfrm>
            <a:off x="8741664" y="4882896"/>
            <a:ext cx="1453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20" dirty="0">
                <a:solidFill>
                  <a:srgbClr val="0F172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颜色开发收费 1项</a:t>
            </a:r>
            <a:endParaRPr lang="en-US" sz="720" dirty="0"/>
          </a:p>
        </p:txBody>
      </p:sp>
      <p:sp>
        <p:nvSpPr>
          <p:cNvPr id="185" name="Shape 183"/>
          <p:cNvSpPr/>
          <p:nvPr/>
        </p:nvSpPr>
        <p:spPr>
          <a:xfrm>
            <a:off x="8595360" y="5230368"/>
            <a:ext cx="64008" cy="64008"/>
          </a:xfrm>
          <a:prstGeom prst="ellipse">
            <a:avLst/>
          </a:prstGeom>
          <a:solidFill>
            <a:srgbClr val="2563EB"/>
          </a:solidFill>
          <a:ln w="6350">
            <a:solidFill>
              <a:srgbClr val="2563EB"/>
            </a:solidFill>
            <a:prstDash val="solid"/>
          </a:ln>
        </p:spPr>
      </p:sp>
      <p:sp>
        <p:nvSpPr>
          <p:cNvPr id="186" name="Text 184"/>
          <p:cNvSpPr/>
          <p:nvPr/>
        </p:nvSpPr>
        <p:spPr>
          <a:xfrm>
            <a:off x="8741664" y="5175504"/>
            <a:ext cx="1453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20" dirty="0">
                <a:solidFill>
                  <a:srgbClr val="0F172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材料待审核 5项</a:t>
            </a:r>
            <a:endParaRPr lang="en-US" sz="720" dirty="0"/>
          </a:p>
        </p:txBody>
      </p:sp>
      <p:sp>
        <p:nvSpPr>
          <p:cNvPr id="187" name="Shape 185"/>
          <p:cNvSpPr/>
          <p:nvPr/>
        </p:nvSpPr>
        <p:spPr>
          <a:xfrm>
            <a:off x="8595360" y="5522976"/>
            <a:ext cx="64008" cy="64008"/>
          </a:xfrm>
          <a:prstGeom prst="ellipse">
            <a:avLst/>
          </a:prstGeom>
          <a:solidFill>
            <a:srgbClr val="2563EB"/>
          </a:solidFill>
          <a:ln w="6350">
            <a:solidFill>
              <a:srgbClr val="2563EB"/>
            </a:solidFill>
            <a:prstDash val="solid"/>
          </a:ln>
        </p:spPr>
      </p:sp>
      <p:sp>
        <p:nvSpPr>
          <p:cNvPr id="188" name="Text 186"/>
          <p:cNvSpPr/>
          <p:nvPr/>
        </p:nvSpPr>
        <p:spPr>
          <a:xfrm>
            <a:off x="8741664" y="5468112"/>
            <a:ext cx="1453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20" dirty="0">
                <a:solidFill>
                  <a:srgbClr val="0F172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月度色差评审 3项</a:t>
            </a:r>
            <a:endParaRPr lang="en-US" sz="720" dirty="0"/>
          </a:p>
        </p:txBody>
      </p:sp>
      <p:sp>
        <p:nvSpPr>
          <p:cNvPr id="189" name="Shape 187"/>
          <p:cNvSpPr/>
          <p:nvPr/>
        </p:nvSpPr>
        <p:spPr>
          <a:xfrm>
            <a:off x="8385048" y="5577840"/>
            <a:ext cx="1965960" cy="1170432"/>
          </a:xfrm>
          <a:prstGeom prst="roundRect">
            <a:avLst>
              <a:gd name="adj" fmla="val 10938"/>
            </a:avLst>
          </a:prstGeom>
          <a:solidFill>
            <a:srgbClr val="FFFFFF"/>
          </a:solidFill>
          <a:ln w="7620">
            <a:solidFill>
              <a:srgbClr val="D9E2EC"/>
            </a:solidFill>
            <a:prstDash val="solid"/>
          </a:ln>
          <a:effectLst>
            <a:outerShdw sx="100000" sy="100000" kx="0" ky="0" algn="bl" rotWithShape="0" blurRad="7.872687622342685e+102" dist="1.574537524468537e+103" dir="1.2793629613468366e+121">
              <a:srgbClr val="CBD5E1">
                <a:alpha val="1.1999999999999998e+124"/>
              </a:srgbClr>
            </a:outerShdw>
          </a:effectLst>
        </p:spPr>
      </p:sp>
      <p:sp>
        <p:nvSpPr>
          <p:cNvPr id="190" name="Text 188"/>
          <p:cNvSpPr/>
          <p:nvPr/>
        </p:nvSpPr>
        <p:spPr>
          <a:xfrm>
            <a:off x="8595360" y="5742432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风险提醒</a:t>
            </a:r>
            <a:endParaRPr lang="en-US" sz="1100" dirty="0"/>
          </a:p>
        </p:txBody>
      </p:sp>
      <p:sp>
        <p:nvSpPr>
          <p:cNvPr id="191" name="Shape 189"/>
          <p:cNvSpPr/>
          <p:nvPr/>
        </p:nvSpPr>
        <p:spPr>
          <a:xfrm>
            <a:off x="8595360" y="6135624"/>
            <a:ext cx="64008" cy="64008"/>
          </a:xfrm>
          <a:prstGeom prst="ellipse">
            <a:avLst/>
          </a:prstGeom>
          <a:solidFill>
            <a:srgbClr val="EF4444"/>
          </a:solidFill>
          <a:ln w="6350">
            <a:solidFill>
              <a:srgbClr val="EF4444"/>
            </a:solidFill>
            <a:prstDash val="solid"/>
          </a:ln>
        </p:spPr>
      </p:sp>
      <p:sp>
        <p:nvSpPr>
          <p:cNvPr id="192" name="Text 190"/>
          <p:cNvSpPr/>
          <p:nvPr/>
        </p:nvSpPr>
        <p:spPr>
          <a:xfrm>
            <a:off x="8741664" y="6080760"/>
            <a:ext cx="14996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80" dirty="0">
                <a:solidFill>
                  <a:srgbClr val="0F172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颜色开发收费 超期13天</a:t>
            </a:r>
            <a:endParaRPr lang="en-US" sz="680" dirty="0"/>
          </a:p>
        </p:txBody>
      </p:sp>
      <p:sp>
        <p:nvSpPr>
          <p:cNvPr id="193" name="Shape 191"/>
          <p:cNvSpPr/>
          <p:nvPr/>
        </p:nvSpPr>
        <p:spPr>
          <a:xfrm>
            <a:off x="8595360" y="6391656"/>
            <a:ext cx="64008" cy="64008"/>
          </a:xfrm>
          <a:prstGeom prst="ellipse">
            <a:avLst/>
          </a:prstGeom>
          <a:solidFill>
            <a:srgbClr val="EF4444"/>
          </a:solidFill>
          <a:ln w="6350">
            <a:solidFill>
              <a:srgbClr val="EF4444"/>
            </a:solidFill>
            <a:prstDash val="solid"/>
          </a:ln>
        </p:spPr>
      </p:sp>
      <p:sp>
        <p:nvSpPr>
          <p:cNvPr id="194" name="Text 192"/>
          <p:cNvSpPr/>
          <p:nvPr/>
        </p:nvSpPr>
        <p:spPr>
          <a:xfrm>
            <a:off x="8741664" y="6336792"/>
            <a:ext cx="14996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80" dirty="0">
                <a:solidFill>
                  <a:srgbClr val="0F172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第17步本月评审未开始</a:t>
            </a:r>
            <a:endParaRPr lang="en-US" sz="680" dirty="0"/>
          </a:p>
        </p:txBody>
      </p:sp>
      <p:sp>
        <p:nvSpPr>
          <p:cNvPr id="195" name="Text 193"/>
          <p:cNvSpPr/>
          <p:nvPr/>
        </p:nvSpPr>
        <p:spPr>
          <a:xfrm>
            <a:off x="11567160" y="6492240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04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6766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04｜项目时间线看板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02920" y="786384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每个项目一张横向进度卡：当前工序、责任人、截止时间、进度百分比一屏可见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02920" y="1143000"/>
            <a:ext cx="11201400" cy="0"/>
          </a:xfrm>
          <a:prstGeom prst="line">
            <a:avLst/>
          </a:prstGeom>
          <a:noFill/>
          <a:ln w="8890">
            <a:solidFill>
              <a:srgbClr val="D9E2EC"/>
            </a:solidFill>
            <a:prstDash val="solid"/>
            <a:headEnd type="none"/>
            <a:tailEnd type="none"/>
          </a:ln>
        </p:spPr>
      </p:sp>
      <p:sp>
        <p:nvSpPr>
          <p:cNvPr id="5" name="Shape 3"/>
          <p:cNvSpPr/>
          <p:nvPr/>
        </p:nvSpPr>
        <p:spPr>
          <a:xfrm>
            <a:off x="502920" y="1051560"/>
            <a:ext cx="11201400" cy="5623560"/>
          </a:xfrm>
          <a:prstGeom prst="roundRect">
            <a:avLst>
              <a:gd name="adj" fmla="val 2602"/>
            </a:avLst>
          </a:prstGeom>
          <a:solidFill>
            <a:srgbClr val="FFFFFF"/>
          </a:solidFill>
          <a:ln w="7620">
            <a:solidFill>
              <a:srgbClr val="D9E2EC"/>
            </a:solidFill>
            <a:prstDash val="solid"/>
          </a:ln>
          <a:effectLst>
            <a:outerShdw sx="100000" sy="100000" kx="0" ky="0" algn="bl" rotWithShape="0" blurRad="991151082210000000000" dist="1.32153477628e+21" dir="3.4992e+25">
              <a:srgbClr val="CBD5E1">
                <a:alpha val="2.2e+24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02920" y="1051560"/>
            <a:ext cx="11201400" cy="438912"/>
          </a:xfrm>
          <a:prstGeom prst="roundRect">
            <a:avLst>
              <a:gd name="adj" fmla="val 33333"/>
            </a:avLst>
          </a:prstGeom>
          <a:solidFill>
            <a:srgbClr val="EFF6FF"/>
          </a:solidFill>
          <a:ln w="7620">
            <a:solidFill>
              <a:srgbClr val="D9E2E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04088" y="1216152"/>
            <a:ext cx="109728" cy="109728"/>
          </a:xfrm>
          <a:prstGeom prst="ellipse">
            <a:avLst/>
          </a:prstGeom>
          <a:solidFill>
            <a:srgbClr val="F87171"/>
          </a:solidFill>
          <a:ln w="6350">
            <a:solidFill>
              <a:srgbClr val="F8717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86968" y="1216152"/>
            <a:ext cx="109728" cy="109728"/>
          </a:xfrm>
          <a:prstGeom prst="ellipse">
            <a:avLst/>
          </a:prstGeom>
          <a:solidFill>
            <a:srgbClr val="FBBF24"/>
          </a:solidFill>
          <a:ln w="6350">
            <a:solidFill>
              <a:srgbClr val="FBBF2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69848" y="1216152"/>
            <a:ext cx="109728" cy="109728"/>
          </a:xfrm>
          <a:prstGeom prst="ellipse">
            <a:avLst/>
          </a:prstGeom>
          <a:solidFill>
            <a:srgbClr val="34D399"/>
          </a:solidFill>
          <a:ln w="6350">
            <a:solidFill>
              <a:srgbClr val="34D39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344168" y="1170432"/>
            <a:ext cx="10104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项目管理 / 项目时间线看板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502920" y="1490472"/>
            <a:ext cx="1417320" cy="5184648"/>
          </a:xfrm>
          <a:prstGeom prst="rect">
            <a:avLst>
              <a:gd name="adj" fmla="val 5161"/>
            </a:avLst>
          </a:prstGeom>
          <a:solidFill>
            <a:srgbClr val="0F172A"/>
          </a:solidFill>
          <a:ln w="7620">
            <a:solidFill>
              <a:srgbClr val="0F172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67512" y="1673352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颜色开发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67512" y="1929384"/>
            <a:ext cx="1143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60" dirty="0">
                <a:solidFill>
                  <a:srgbClr val="CBD5E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项目管理系统</a:t>
            </a:r>
            <a:endParaRPr lang="en-US" sz="760" dirty="0"/>
          </a:p>
        </p:txBody>
      </p:sp>
      <p:sp>
        <p:nvSpPr>
          <p:cNvPr id="14" name="Shape 12"/>
          <p:cNvSpPr/>
          <p:nvPr/>
        </p:nvSpPr>
        <p:spPr>
          <a:xfrm>
            <a:off x="621792" y="2386584"/>
            <a:ext cx="1179576" cy="301752"/>
          </a:xfrm>
          <a:prstGeom prst="roundRect">
            <a:avLst>
              <a:gd name="adj" fmla="val 24242"/>
            </a:avLst>
          </a:prstGeom>
          <a:solidFill>
            <a:srgbClr val="0F172A"/>
          </a:solidFill>
          <a:ln w="7620">
            <a:solidFill>
              <a:srgbClr val="0F172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58952" y="2450592"/>
            <a:ext cx="10058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CBD5E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工作台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621792" y="2807208"/>
            <a:ext cx="1179576" cy="301752"/>
          </a:xfrm>
          <a:prstGeom prst="roundRect">
            <a:avLst>
              <a:gd name="adj" fmla="val 24242"/>
            </a:avLst>
          </a:prstGeom>
          <a:solidFill>
            <a:srgbClr val="2563EB"/>
          </a:solidFill>
          <a:ln w="7620">
            <a:solidFill>
              <a:srgbClr val="2563E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58952" y="2871216"/>
            <a:ext cx="10058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项目管理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621792" y="3227832"/>
            <a:ext cx="1179576" cy="301752"/>
          </a:xfrm>
          <a:prstGeom prst="roundRect">
            <a:avLst>
              <a:gd name="adj" fmla="val 24242"/>
            </a:avLst>
          </a:prstGeom>
          <a:solidFill>
            <a:srgbClr val="0F172A"/>
          </a:solidFill>
          <a:ln w="7620">
            <a:solidFill>
              <a:srgbClr val="0F172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58952" y="3291840"/>
            <a:ext cx="10058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CBD5E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工序管理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621792" y="3648456"/>
            <a:ext cx="1179576" cy="301752"/>
          </a:xfrm>
          <a:prstGeom prst="roundRect">
            <a:avLst>
              <a:gd name="adj" fmla="val 24242"/>
            </a:avLst>
          </a:prstGeom>
          <a:solidFill>
            <a:srgbClr val="0F172A"/>
          </a:solidFill>
          <a:ln w="7620">
            <a:solidFill>
              <a:srgbClr val="0F172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58952" y="3712464"/>
            <a:ext cx="10058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CBD5E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材料中心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621792" y="4069080"/>
            <a:ext cx="1179576" cy="301752"/>
          </a:xfrm>
          <a:prstGeom prst="roundRect">
            <a:avLst>
              <a:gd name="adj" fmla="val 24242"/>
            </a:avLst>
          </a:prstGeom>
          <a:solidFill>
            <a:srgbClr val="0F172A"/>
          </a:solidFill>
          <a:ln w="7620">
            <a:solidFill>
              <a:srgbClr val="0F172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58952" y="4133088"/>
            <a:ext cx="10058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CBD5E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月度评审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621792" y="4489704"/>
            <a:ext cx="1179576" cy="301752"/>
          </a:xfrm>
          <a:prstGeom prst="roundRect">
            <a:avLst>
              <a:gd name="adj" fmla="val 24242"/>
            </a:avLst>
          </a:prstGeom>
          <a:solidFill>
            <a:srgbClr val="0F172A"/>
          </a:solidFill>
          <a:ln w="7620">
            <a:solidFill>
              <a:srgbClr val="0F172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58952" y="4553712"/>
            <a:ext cx="10058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CBD5E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数据中心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621792" y="4910328"/>
            <a:ext cx="1179576" cy="301752"/>
          </a:xfrm>
          <a:prstGeom prst="roundRect">
            <a:avLst>
              <a:gd name="adj" fmla="val 24242"/>
            </a:avLst>
          </a:prstGeom>
          <a:solidFill>
            <a:srgbClr val="0F172A"/>
          </a:solidFill>
          <a:ln w="7620">
            <a:solidFill>
              <a:srgbClr val="0F172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58952" y="4974336"/>
            <a:ext cx="10058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CBD5E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系统设置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1920240" y="1490472"/>
            <a:ext cx="9784080" cy="512064"/>
          </a:xfrm>
          <a:prstGeom prst="rect">
            <a:avLst>
              <a:gd name="adj" fmla="val 14286"/>
            </a:avLst>
          </a:prstGeom>
          <a:solidFill>
            <a:srgbClr val="FFFFFF"/>
          </a:solidFill>
          <a:ln w="7620">
            <a:solidFill>
              <a:srgbClr val="D9E2E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212848" y="1645920"/>
            <a:ext cx="1920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20" dirty="0">
                <a:solidFill>
                  <a:srgbClr val="94A3B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搜索项目 / 颜色 / 负责人</a:t>
            </a:r>
            <a:endParaRPr lang="en-US" sz="720" dirty="0"/>
          </a:p>
        </p:txBody>
      </p:sp>
      <p:sp>
        <p:nvSpPr>
          <p:cNvPr id="30" name="Shape 28"/>
          <p:cNvSpPr/>
          <p:nvPr/>
        </p:nvSpPr>
        <p:spPr>
          <a:xfrm>
            <a:off x="9784080" y="1600200"/>
            <a:ext cx="685800" cy="274320"/>
          </a:xfrm>
          <a:prstGeom prst="roundRect">
            <a:avLst>
              <a:gd name="adj" fmla="val 26667"/>
            </a:avLst>
          </a:prstGeom>
          <a:solidFill>
            <a:srgbClr val="DBEAFE"/>
          </a:solidFill>
          <a:ln w="7620">
            <a:solidFill>
              <a:srgbClr val="DBEAFE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9838944" y="1655064"/>
            <a:ext cx="57607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60" b="1" dirty="0">
                <a:solidFill>
                  <a:srgbClr val="2563E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立即刷新</a:t>
            </a:r>
            <a:endParaRPr lang="en-US" sz="660" dirty="0"/>
          </a:p>
        </p:txBody>
      </p:sp>
      <p:sp>
        <p:nvSpPr>
          <p:cNvPr id="32" name="Text 30"/>
          <p:cNvSpPr/>
          <p:nvPr/>
        </p:nvSpPr>
        <p:spPr>
          <a:xfrm>
            <a:off x="10561320" y="1645920"/>
            <a:ext cx="9601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80" dirty="0">
                <a:solidFill>
                  <a:srgbClr val="64748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最近更新 14:32</a:t>
            </a:r>
            <a:endParaRPr lang="en-US" sz="680" dirty="0"/>
          </a:p>
        </p:txBody>
      </p:sp>
      <p:sp>
        <p:nvSpPr>
          <p:cNvPr id="33" name="Text 31"/>
          <p:cNvSpPr/>
          <p:nvPr/>
        </p:nvSpPr>
        <p:spPr>
          <a:xfrm>
            <a:off x="2148840" y="2148840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项目时间线看板</a:t>
            </a:r>
            <a:endParaRPr lang="en-US" sz="1400" dirty="0"/>
          </a:p>
        </p:txBody>
      </p:sp>
      <p:sp>
        <p:nvSpPr>
          <p:cNvPr id="34" name="Shape 32"/>
          <p:cNvSpPr/>
          <p:nvPr/>
        </p:nvSpPr>
        <p:spPr>
          <a:xfrm>
            <a:off x="6446520" y="2221992"/>
            <a:ext cx="91440" cy="91440"/>
          </a:xfrm>
          <a:prstGeom prst="ellipse">
            <a:avLst/>
          </a:prstGeom>
          <a:solidFill>
            <a:srgbClr val="10B981"/>
          </a:solidFill>
          <a:ln w="6350">
            <a:solidFill>
              <a:srgbClr val="10B981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574536" y="2194560"/>
            <a:ext cx="6766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20" dirty="0">
                <a:solidFill>
                  <a:srgbClr val="64748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已完成</a:t>
            </a:r>
            <a:endParaRPr lang="en-US" sz="620" dirty="0"/>
          </a:p>
        </p:txBody>
      </p:sp>
      <p:sp>
        <p:nvSpPr>
          <p:cNvPr id="36" name="Shape 34"/>
          <p:cNvSpPr/>
          <p:nvPr/>
        </p:nvSpPr>
        <p:spPr>
          <a:xfrm>
            <a:off x="7498080" y="2221992"/>
            <a:ext cx="91440" cy="91440"/>
          </a:xfrm>
          <a:prstGeom prst="ellipse">
            <a:avLst/>
          </a:prstGeom>
          <a:solidFill>
            <a:srgbClr val="2563EB"/>
          </a:solidFill>
          <a:ln w="6350">
            <a:solidFill>
              <a:srgbClr val="2563EB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626096" y="2194560"/>
            <a:ext cx="6766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20" dirty="0">
                <a:solidFill>
                  <a:srgbClr val="64748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进行中</a:t>
            </a:r>
            <a:endParaRPr lang="en-US" sz="620" dirty="0"/>
          </a:p>
        </p:txBody>
      </p:sp>
      <p:sp>
        <p:nvSpPr>
          <p:cNvPr id="38" name="Shape 36"/>
          <p:cNvSpPr/>
          <p:nvPr/>
        </p:nvSpPr>
        <p:spPr>
          <a:xfrm>
            <a:off x="8549640" y="2221992"/>
            <a:ext cx="91440" cy="91440"/>
          </a:xfrm>
          <a:prstGeom prst="ellipse">
            <a:avLst/>
          </a:prstGeom>
          <a:solidFill>
            <a:srgbClr val="F59E0B"/>
          </a:solidFill>
          <a:ln w="6350">
            <a:solidFill>
              <a:srgbClr val="F59E0B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8677656" y="2194560"/>
            <a:ext cx="6766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20" dirty="0">
                <a:solidFill>
                  <a:srgbClr val="64748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待评审</a:t>
            </a:r>
            <a:endParaRPr lang="en-US" sz="620" dirty="0"/>
          </a:p>
        </p:txBody>
      </p:sp>
      <p:sp>
        <p:nvSpPr>
          <p:cNvPr id="40" name="Shape 38"/>
          <p:cNvSpPr/>
          <p:nvPr/>
        </p:nvSpPr>
        <p:spPr>
          <a:xfrm>
            <a:off x="9601200" y="2221992"/>
            <a:ext cx="91440" cy="91440"/>
          </a:xfrm>
          <a:prstGeom prst="ellipse">
            <a:avLst/>
          </a:prstGeom>
          <a:solidFill>
            <a:srgbClr val="EF4444"/>
          </a:solidFill>
          <a:ln w="6350">
            <a:solidFill>
              <a:srgbClr val="EF4444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9729216" y="2194560"/>
            <a:ext cx="6766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20" dirty="0">
                <a:solidFill>
                  <a:srgbClr val="64748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已逾期</a:t>
            </a:r>
            <a:endParaRPr lang="en-US" sz="620" dirty="0"/>
          </a:p>
        </p:txBody>
      </p:sp>
      <p:sp>
        <p:nvSpPr>
          <p:cNvPr id="42" name="Shape 40"/>
          <p:cNvSpPr/>
          <p:nvPr/>
        </p:nvSpPr>
        <p:spPr>
          <a:xfrm>
            <a:off x="6446520" y="2450592"/>
            <a:ext cx="91440" cy="91440"/>
          </a:xfrm>
          <a:prstGeom prst="ellipse">
            <a:avLst/>
          </a:prstGeom>
          <a:solidFill>
            <a:srgbClr val="8B5CF6"/>
          </a:solidFill>
          <a:ln w="6350">
            <a:solidFill>
              <a:srgbClr val="8B5CF6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574536" y="2423160"/>
            <a:ext cx="6766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20" dirty="0">
                <a:solidFill>
                  <a:srgbClr val="64748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已退回</a:t>
            </a:r>
            <a:endParaRPr lang="en-US" sz="620" dirty="0"/>
          </a:p>
        </p:txBody>
      </p:sp>
      <p:sp>
        <p:nvSpPr>
          <p:cNvPr id="44" name="Shape 42"/>
          <p:cNvSpPr/>
          <p:nvPr/>
        </p:nvSpPr>
        <p:spPr>
          <a:xfrm>
            <a:off x="7498080" y="2450592"/>
            <a:ext cx="91440" cy="91440"/>
          </a:xfrm>
          <a:prstGeom prst="ellipse">
            <a:avLst/>
          </a:prstGeom>
          <a:solidFill>
            <a:srgbClr val="06B6D4"/>
          </a:solidFill>
          <a:ln w="6350">
            <a:solidFill>
              <a:srgbClr val="06B6D4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7626096" y="2423160"/>
            <a:ext cx="6766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20" dirty="0">
                <a:solidFill>
                  <a:srgbClr val="64748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月度跟踪</a:t>
            </a:r>
            <a:endParaRPr lang="en-US" sz="620" dirty="0"/>
          </a:p>
        </p:txBody>
      </p:sp>
      <p:sp>
        <p:nvSpPr>
          <p:cNvPr id="46" name="Shape 44"/>
          <p:cNvSpPr/>
          <p:nvPr/>
        </p:nvSpPr>
        <p:spPr>
          <a:xfrm>
            <a:off x="8549640" y="2450592"/>
            <a:ext cx="91440" cy="91440"/>
          </a:xfrm>
          <a:prstGeom prst="ellipse">
            <a:avLst/>
          </a:prstGeom>
          <a:solidFill>
            <a:srgbClr val="C2410C"/>
          </a:solidFill>
          <a:ln w="6350">
            <a:solidFill>
              <a:srgbClr val="C2410C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8677656" y="2423160"/>
            <a:ext cx="6766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20" dirty="0">
                <a:solidFill>
                  <a:srgbClr val="64748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待退出</a:t>
            </a:r>
            <a:endParaRPr lang="en-US" sz="620" dirty="0"/>
          </a:p>
        </p:txBody>
      </p:sp>
      <p:sp>
        <p:nvSpPr>
          <p:cNvPr id="48" name="Shape 46"/>
          <p:cNvSpPr/>
          <p:nvPr/>
        </p:nvSpPr>
        <p:spPr>
          <a:xfrm>
            <a:off x="9601200" y="2450592"/>
            <a:ext cx="91440" cy="91440"/>
          </a:xfrm>
          <a:prstGeom prst="ellipse">
            <a:avLst/>
          </a:prstGeom>
          <a:solidFill>
            <a:srgbClr val="94A3B8"/>
          </a:solidFill>
          <a:ln w="6350">
            <a:solidFill>
              <a:srgbClr val="94A3B8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9729216" y="2423160"/>
            <a:ext cx="6766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20" dirty="0">
                <a:solidFill>
                  <a:srgbClr val="64748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未开始</a:t>
            </a:r>
            <a:endParaRPr lang="en-US" sz="620" dirty="0"/>
          </a:p>
        </p:txBody>
      </p:sp>
      <p:sp>
        <p:nvSpPr>
          <p:cNvPr id="50" name="Shape 48"/>
          <p:cNvSpPr/>
          <p:nvPr/>
        </p:nvSpPr>
        <p:spPr>
          <a:xfrm>
            <a:off x="2148840" y="2624328"/>
            <a:ext cx="9372600" cy="411480"/>
          </a:xfrm>
          <a:prstGeom prst="roundRect">
            <a:avLst>
              <a:gd name="adj" fmla="val 22222"/>
            </a:avLst>
          </a:prstGeom>
          <a:solidFill>
            <a:srgbClr val="F8FAFC"/>
          </a:solidFill>
          <a:ln w="7620">
            <a:solidFill>
              <a:srgbClr val="D9E2EC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2313432" y="2715768"/>
            <a:ext cx="777240" cy="219456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7620">
            <a:solidFill>
              <a:srgbClr val="D9E2EC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2377440" y="2770632"/>
            <a:ext cx="649224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570" dirty="0">
                <a:solidFill>
                  <a:srgbClr val="64748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状态：全部</a:t>
            </a:r>
            <a:endParaRPr lang="en-US" sz="570" dirty="0"/>
          </a:p>
        </p:txBody>
      </p:sp>
      <p:sp>
        <p:nvSpPr>
          <p:cNvPr id="53" name="Shape 51"/>
          <p:cNvSpPr/>
          <p:nvPr/>
        </p:nvSpPr>
        <p:spPr>
          <a:xfrm>
            <a:off x="3456432" y="2715768"/>
            <a:ext cx="822960" cy="219456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7620">
            <a:solidFill>
              <a:srgbClr val="D9E2EC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3520440" y="2770632"/>
            <a:ext cx="694944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570" dirty="0">
                <a:solidFill>
                  <a:srgbClr val="64748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部门：全部</a:t>
            </a:r>
            <a:endParaRPr lang="en-US" sz="570" dirty="0"/>
          </a:p>
        </p:txBody>
      </p:sp>
      <p:sp>
        <p:nvSpPr>
          <p:cNvPr id="55" name="Shape 53"/>
          <p:cNvSpPr/>
          <p:nvPr/>
        </p:nvSpPr>
        <p:spPr>
          <a:xfrm>
            <a:off x="4599432" y="2715768"/>
            <a:ext cx="914400" cy="219456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7620">
            <a:solidFill>
              <a:srgbClr val="D9E2EC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4663440" y="2770632"/>
            <a:ext cx="786384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570" dirty="0">
                <a:solidFill>
                  <a:srgbClr val="64748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负责人：全部</a:t>
            </a:r>
            <a:endParaRPr lang="en-US" sz="570" dirty="0"/>
          </a:p>
        </p:txBody>
      </p:sp>
      <p:sp>
        <p:nvSpPr>
          <p:cNvPr id="57" name="Shape 55"/>
          <p:cNvSpPr/>
          <p:nvPr/>
        </p:nvSpPr>
        <p:spPr>
          <a:xfrm>
            <a:off x="5742432" y="2715768"/>
            <a:ext cx="731520" cy="219456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7620">
            <a:solidFill>
              <a:srgbClr val="D9E2EC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5806440" y="2770632"/>
            <a:ext cx="603504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570" dirty="0">
                <a:solidFill>
                  <a:srgbClr val="64748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只看超期</a:t>
            </a:r>
            <a:endParaRPr lang="en-US" sz="570" dirty="0"/>
          </a:p>
        </p:txBody>
      </p:sp>
      <p:sp>
        <p:nvSpPr>
          <p:cNvPr id="59" name="Shape 57"/>
          <p:cNvSpPr/>
          <p:nvPr/>
        </p:nvSpPr>
        <p:spPr>
          <a:xfrm>
            <a:off x="6885432" y="2715768"/>
            <a:ext cx="1234440" cy="219456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7620">
            <a:solidFill>
              <a:srgbClr val="D9E2EC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6949440" y="2770632"/>
            <a:ext cx="1106424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570" dirty="0">
                <a:solidFill>
                  <a:srgbClr val="64748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搜索颜色/项目</a:t>
            </a:r>
            <a:endParaRPr lang="en-US" sz="570" dirty="0"/>
          </a:p>
        </p:txBody>
      </p:sp>
      <p:sp>
        <p:nvSpPr>
          <p:cNvPr id="61" name="Shape 59"/>
          <p:cNvSpPr/>
          <p:nvPr/>
        </p:nvSpPr>
        <p:spPr>
          <a:xfrm>
            <a:off x="2148840" y="3172968"/>
            <a:ext cx="9372600" cy="932688"/>
          </a:xfrm>
          <a:prstGeom prst="roundRect">
            <a:avLst>
              <a:gd name="adj" fmla="val 13725"/>
            </a:avLst>
          </a:prstGeom>
          <a:solidFill>
            <a:srgbClr val="FFFFFF"/>
          </a:solidFill>
          <a:ln w="7620">
            <a:solidFill>
              <a:srgbClr val="D9E2EC"/>
            </a:solidFill>
            <a:prstDash val="solid"/>
          </a:ln>
          <a:effectLst>
            <a:outerShdw sx="100000" sy="100000" kx="0" ky="0" algn="bl" rotWithShape="0" blurRad="9.998313280375211e+106" dist="1.9996626560750422e+107" dir="7.67617776808102e+125">
              <a:srgbClr val="CBD5E1">
                <a:alpha val="1.1999999999999998e+129"/>
              </a:srgbClr>
            </a:outerShdw>
          </a:effectLst>
        </p:spPr>
      </p:sp>
      <p:sp>
        <p:nvSpPr>
          <p:cNvPr id="62" name="Text 60"/>
          <p:cNvSpPr/>
          <p:nvPr/>
        </p:nvSpPr>
        <p:spPr>
          <a:xfrm>
            <a:off x="2313432" y="3300984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40" b="1" dirty="0">
                <a:solidFill>
                  <a:srgbClr val="0F172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GF20250216 深海蓝定制色开发</a:t>
            </a:r>
            <a:endParaRPr lang="en-US" sz="940" dirty="0"/>
          </a:p>
        </p:txBody>
      </p:sp>
      <p:sp>
        <p:nvSpPr>
          <p:cNvPr id="63" name="Shape 61"/>
          <p:cNvSpPr/>
          <p:nvPr/>
        </p:nvSpPr>
        <p:spPr>
          <a:xfrm>
            <a:off x="4023360" y="3282696"/>
            <a:ext cx="658368" cy="201168"/>
          </a:xfrm>
          <a:prstGeom prst="roundRect">
            <a:avLst>
              <a:gd name="adj" fmla="val 54545"/>
            </a:avLst>
          </a:prstGeom>
          <a:solidFill>
            <a:srgbClr val="DBEAFE"/>
          </a:solidFill>
          <a:ln w="7620">
            <a:solidFill>
              <a:srgbClr val="DBEAFE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4023360" y="3287268"/>
            <a:ext cx="6583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60" b="1" dirty="0">
                <a:solidFill>
                  <a:srgbClr val="2563E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进行中</a:t>
            </a:r>
            <a:endParaRPr lang="en-US" sz="660" dirty="0"/>
          </a:p>
        </p:txBody>
      </p:sp>
      <p:sp>
        <p:nvSpPr>
          <p:cNvPr id="65" name="Text 63"/>
          <p:cNvSpPr/>
          <p:nvPr/>
        </p:nvSpPr>
        <p:spPr>
          <a:xfrm>
            <a:off x="2313432" y="3557016"/>
            <a:ext cx="1371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80" dirty="0">
                <a:solidFill>
                  <a:srgbClr val="64748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当前：第6步 涂料采购</a:t>
            </a:r>
            <a:endParaRPr lang="en-US" sz="680" dirty="0"/>
          </a:p>
        </p:txBody>
      </p:sp>
      <p:sp>
        <p:nvSpPr>
          <p:cNvPr id="66" name="Text 64"/>
          <p:cNvSpPr/>
          <p:nvPr/>
        </p:nvSpPr>
        <p:spPr>
          <a:xfrm>
            <a:off x="3703320" y="3557016"/>
            <a:ext cx="914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80" dirty="0">
                <a:solidFill>
                  <a:srgbClr val="64748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负责人：张七巧 / 采购部</a:t>
            </a:r>
            <a:endParaRPr lang="en-US" sz="680" dirty="0"/>
          </a:p>
        </p:txBody>
      </p:sp>
      <p:sp>
        <p:nvSpPr>
          <p:cNvPr id="67" name="Text 65"/>
          <p:cNvSpPr/>
          <p:nvPr/>
        </p:nvSpPr>
        <p:spPr>
          <a:xfrm>
            <a:off x="4636008" y="3557016"/>
            <a:ext cx="98755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80" dirty="0">
                <a:solidFill>
                  <a:srgbClr val="64748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截止：2025/10/27</a:t>
            </a:r>
            <a:endParaRPr lang="en-US" sz="680" dirty="0"/>
          </a:p>
        </p:txBody>
      </p:sp>
      <p:sp>
        <p:nvSpPr>
          <p:cNvPr id="68" name="Shape 66"/>
          <p:cNvSpPr/>
          <p:nvPr/>
        </p:nvSpPr>
        <p:spPr>
          <a:xfrm>
            <a:off x="2542032" y="3941064"/>
            <a:ext cx="723392" cy="0"/>
          </a:xfrm>
          <a:prstGeom prst="line">
            <a:avLst/>
          </a:prstGeom>
          <a:noFill/>
          <a:ln w="13970">
            <a:solidFill>
              <a:srgbClr val="10B981"/>
            </a:solidFill>
            <a:prstDash val="solid"/>
            <a:headEnd type="none"/>
            <a:tailEnd type="none"/>
          </a:ln>
        </p:spPr>
      </p:sp>
      <p:sp>
        <p:nvSpPr>
          <p:cNvPr id="69" name="Shape 67"/>
          <p:cNvSpPr/>
          <p:nvPr/>
        </p:nvSpPr>
        <p:spPr>
          <a:xfrm>
            <a:off x="3466592" y="3941064"/>
            <a:ext cx="723392" cy="0"/>
          </a:xfrm>
          <a:prstGeom prst="line">
            <a:avLst/>
          </a:prstGeom>
          <a:noFill/>
          <a:ln w="13970">
            <a:solidFill>
              <a:srgbClr val="10B981"/>
            </a:solidFill>
            <a:prstDash val="solid"/>
            <a:headEnd type="none"/>
            <a:tailEnd type="none"/>
          </a:ln>
        </p:spPr>
      </p:sp>
      <p:sp>
        <p:nvSpPr>
          <p:cNvPr id="70" name="Shape 68"/>
          <p:cNvSpPr/>
          <p:nvPr/>
        </p:nvSpPr>
        <p:spPr>
          <a:xfrm>
            <a:off x="4391152" y="3941064"/>
            <a:ext cx="723392" cy="0"/>
          </a:xfrm>
          <a:prstGeom prst="line">
            <a:avLst/>
          </a:prstGeom>
          <a:noFill/>
          <a:ln w="13970">
            <a:solidFill>
              <a:srgbClr val="10B981"/>
            </a:solidFill>
            <a:prstDash val="solid"/>
            <a:headEnd type="none"/>
            <a:tailEnd type="none"/>
          </a:ln>
        </p:spPr>
      </p:sp>
      <p:sp>
        <p:nvSpPr>
          <p:cNvPr id="71" name="Shape 69"/>
          <p:cNvSpPr/>
          <p:nvPr/>
        </p:nvSpPr>
        <p:spPr>
          <a:xfrm>
            <a:off x="5315712" y="3941064"/>
            <a:ext cx="723392" cy="0"/>
          </a:xfrm>
          <a:prstGeom prst="line">
            <a:avLst/>
          </a:prstGeom>
          <a:noFill/>
          <a:ln w="13970">
            <a:solidFill>
              <a:srgbClr val="10B981"/>
            </a:solidFill>
            <a:prstDash val="solid"/>
            <a:headEnd type="none"/>
            <a:tailEnd type="none"/>
          </a:ln>
        </p:spPr>
      </p:sp>
      <p:sp>
        <p:nvSpPr>
          <p:cNvPr id="72" name="Shape 70"/>
          <p:cNvSpPr/>
          <p:nvPr/>
        </p:nvSpPr>
        <p:spPr>
          <a:xfrm>
            <a:off x="6240272" y="3941064"/>
            <a:ext cx="723392" cy="0"/>
          </a:xfrm>
          <a:prstGeom prst="line">
            <a:avLst/>
          </a:prstGeom>
          <a:noFill/>
          <a:ln w="13970">
            <a:solidFill>
              <a:srgbClr val="CBD5E1"/>
            </a:solidFill>
            <a:prstDash val="solid"/>
            <a:headEnd type="none"/>
            <a:tailEnd type="none"/>
          </a:ln>
        </p:spPr>
      </p:sp>
      <p:sp>
        <p:nvSpPr>
          <p:cNvPr id="73" name="Shape 71"/>
          <p:cNvSpPr/>
          <p:nvPr/>
        </p:nvSpPr>
        <p:spPr>
          <a:xfrm>
            <a:off x="7164832" y="3941064"/>
            <a:ext cx="723392" cy="0"/>
          </a:xfrm>
          <a:prstGeom prst="line">
            <a:avLst/>
          </a:prstGeom>
          <a:noFill/>
          <a:ln w="13970">
            <a:solidFill>
              <a:srgbClr val="CBD5E1"/>
            </a:solidFill>
            <a:prstDash val="solid"/>
            <a:headEnd type="none"/>
            <a:tailEnd type="none"/>
          </a:ln>
        </p:spPr>
      </p:sp>
      <p:sp>
        <p:nvSpPr>
          <p:cNvPr id="74" name="Shape 72"/>
          <p:cNvSpPr/>
          <p:nvPr/>
        </p:nvSpPr>
        <p:spPr>
          <a:xfrm>
            <a:off x="8089392" y="3941064"/>
            <a:ext cx="723392" cy="0"/>
          </a:xfrm>
          <a:prstGeom prst="line">
            <a:avLst/>
          </a:prstGeom>
          <a:noFill/>
          <a:ln w="13970">
            <a:solidFill>
              <a:srgbClr val="CBD5E1"/>
            </a:solidFill>
            <a:prstDash val="solid"/>
            <a:headEnd type="none"/>
            <a:tailEnd type="none"/>
          </a:ln>
        </p:spPr>
      </p:sp>
      <p:sp>
        <p:nvSpPr>
          <p:cNvPr id="75" name="Shape 73"/>
          <p:cNvSpPr/>
          <p:nvPr/>
        </p:nvSpPr>
        <p:spPr>
          <a:xfrm>
            <a:off x="9013952" y="3941064"/>
            <a:ext cx="723392" cy="0"/>
          </a:xfrm>
          <a:prstGeom prst="line">
            <a:avLst/>
          </a:prstGeom>
          <a:noFill/>
          <a:ln w="13970">
            <a:solidFill>
              <a:srgbClr val="CBD5E1"/>
            </a:solidFill>
            <a:prstDash val="solid"/>
            <a:headEnd type="none"/>
            <a:tailEnd type="none"/>
          </a:ln>
        </p:spPr>
      </p:sp>
      <p:sp>
        <p:nvSpPr>
          <p:cNvPr id="76" name="Shape 74"/>
          <p:cNvSpPr/>
          <p:nvPr/>
        </p:nvSpPr>
        <p:spPr>
          <a:xfrm>
            <a:off x="9938512" y="3941064"/>
            <a:ext cx="723392" cy="0"/>
          </a:xfrm>
          <a:prstGeom prst="line">
            <a:avLst/>
          </a:prstGeom>
          <a:noFill/>
          <a:ln w="13970">
            <a:solidFill>
              <a:srgbClr val="CBD5E1"/>
            </a:solidFill>
            <a:prstDash val="solid"/>
            <a:headEnd type="none"/>
            <a:tailEnd type="none"/>
          </a:ln>
        </p:spPr>
      </p:sp>
      <p:sp>
        <p:nvSpPr>
          <p:cNvPr id="77" name="Shape 75"/>
          <p:cNvSpPr/>
          <p:nvPr/>
        </p:nvSpPr>
        <p:spPr>
          <a:xfrm>
            <a:off x="2359152" y="3849624"/>
            <a:ext cx="164592" cy="164592"/>
          </a:xfrm>
          <a:prstGeom prst="ellipse">
            <a:avLst/>
          </a:prstGeom>
          <a:solidFill>
            <a:srgbClr val="10B981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2359152" y="3857854"/>
            <a:ext cx="164592" cy="13167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58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</a:t>
            </a:r>
            <a:endParaRPr lang="en-US" sz="580" dirty="0"/>
          </a:p>
        </p:txBody>
      </p:sp>
      <p:sp>
        <p:nvSpPr>
          <p:cNvPr id="79" name="Text 77"/>
          <p:cNvSpPr/>
          <p:nvPr/>
        </p:nvSpPr>
        <p:spPr>
          <a:xfrm>
            <a:off x="2185416" y="4087368"/>
            <a:ext cx="5120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520" dirty="0">
                <a:solidFill>
                  <a:srgbClr val="64748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需求</a:t>
            </a:r>
            <a:endParaRPr lang="en-US" sz="520" dirty="0"/>
          </a:p>
        </p:txBody>
      </p:sp>
      <p:sp>
        <p:nvSpPr>
          <p:cNvPr id="80" name="Shape 78"/>
          <p:cNvSpPr/>
          <p:nvPr/>
        </p:nvSpPr>
        <p:spPr>
          <a:xfrm>
            <a:off x="3283712" y="3849624"/>
            <a:ext cx="164592" cy="164592"/>
          </a:xfrm>
          <a:prstGeom prst="ellipse">
            <a:avLst/>
          </a:prstGeom>
          <a:solidFill>
            <a:srgbClr val="10B981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3283712" y="3857854"/>
            <a:ext cx="164592" cy="13167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58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2</a:t>
            </a:r>
            <a:endParaRPr lang="en-US" sz="580" dirty="0"/>
          </a:p>
        </p:txBody>
      </p:sp>
      <p:sp>
        <p:nvSpPr>
          <p:cNvPr id="82" name="Text 80"/>
          <p:cNvSpPr/>
          <p:nvPr/>
        </p:nvSpPr>
        <p:spPr>
          <a:xfrm>
            <a:off x="3109976" y="4087368"/>
            <a:ext cx="5120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520" dirty="0">
                <a:solidFill>
                  <a:srgbClr val="64748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报告</a:t>
            </a:r>
            <a:endParaRPr lang="en-US" sz="520" dirty="0"/>
          </a:p>
        </p:txBody>
      </p:sp>
      <p:sp>
        <p:nvSpPr>
          <p:cNvPr id="83" name="Shape 81"/>
          <p:cNvSpPr/>
          <p:nvPr/>
        </p:nvSpPr>
        <p:spPr>
          <a:xfrm>
            <a:off x="4208272" y="3849624"/>
            <a:ext cx="164592" cy="164592"/>
          </a:xfrm>
          <a:prstGeom prst="ellipse">
            <a:avLst/>
          </a:prstGeom>
          <a:solidFill>
            <a:srgbClr val="10B981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84" name="Text 82"/>
          <p:cNvSpPr/>
          <p:nvPr/>
        </p:nvSpPr>
        <p:spPr>
          <a:xfrm>
            <a:off x="4208272" y="3857854"/>
            <a:ext cx="164592" cy="13167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58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3</a:t>
            </a:r>
            <a:endParaRPr lang="en-US" sz="580" dirty="0"/>
          </a:p>
        </p:txBody>
      </p:sp>
      <p:sp>
        <p:nvSpPr>
          <p:cNvPr id="85" name="Text 83"/>
          <p:cNvSpPr/>
          <p:nvPr/>
        </p:nvSpPr>
        <p:spPr>
          <a:xfrm>
            <a:off x="4034536" y="4087368"/>
            <a:ext cx="5120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520" dirty="0">
                <a:solidFill>
                  <a:srgbClr val="64748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涂料</a:t>
            </a:r>
            <a:endParaRPr lang="en-US" sz="520" dirty="0"/>
          </a:p>
        </p:txBody>
      </p:sp>
      <p:sp>
        <p:nvSpPr>
          <p:cNvPr id="86" name="Shape 84"/>
          <p:cNvSpPr/>
          <p:nvPr/>
        </p:nvSpPr>
        <p:spPr>
          <a:xfrm>
            <a:off x="5132832" y="3849624"/>
            <a:ext cx="164592" cy="164592"/>
          </a:xfrm>
          <a:prstGeom prst="ellipse">
            <a:avLst/>
          </a:prstGeom>
          <a:solidFill>
            <a:srgbClr val="10B981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87" name="Text 85"/>
          <p:cNvSpPr/>
          <p:nvPr/>
        </p:nvSpPr>
        <p:spPr>
          <a:xfrm>
            <a:off x="5132832" y="3857854"/>
            <a:ext cx="164592" cy="13167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58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4</a:t>
            </a:r>
            <a:endParaRPr lang="en-US" sz="580" dirty="0"/>
          </a:p>
        </p:txBody>
      </p:sp>
      <p:sp>
        <p:nvSpPr>
          <p:cNvPr id="88" name="Text 86"/>
          <p:cNvSpPr/>
          <p:nvPr/>
        </p:nvSpPr>
        <p:spPr>
          <a:xfrm>
            <a:off x="4959096" y="4087368"/>
            <a:ext cx="5120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520" dirty="0">
                <a:solidFill>
                  <a:srgbClr val="64748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确认</a:t>
            </a:r>
            <a:endParaRPr lang="en-US" sz="520" dirty="0"/>
          </a:p>
        </p:txBody>
      </p:sp>
      <p:sp>
        <p:nvSpPr>
          <p:cNvPr id="89" name="Shape 87"/>
          <p:cNvSpPr/>
          <p:nvPr/>
        </p:nvSpPr>
        <p:spPr>
          <a:xfrm>
            <a:off x="6057392" y="3849624"/>
            <a:ext cx="164592" cy="164592"/>
          </a:xfrm>
          <a:prstGeom prst="ellipse">
            <a:avLst/>
          </a:prstGeom>
          <a:solidFill>
            <a:srgbClr val="2563EB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90" name="Text 88"/>
          <p:cNvSpPr/>
          <p:nvPr/>
        </p:nvSpPr>
        <p:spPr>
          <a:xfrm>
            <a:off x="6057392" y="3857854"/>
            <a:ext cx="164592" cy="13167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58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5</a:t>
            </a:r>
            <a:endParaRPr lang="en-US" sz="580" dirty="0"/>
          </a:p>
        </p:txBody>
      </p:sp>
      <p:sp>
        <p:nvSpPr>
          <p:cNvPr id="91" name="Text 89"/>
          <p:cNvSpPr/>
          <p:nvPr/>
        </p:nvSpPr>
        <p:spPr>
          <a:xfrm>
            <a:off x="5883656" y="4087368"/>
            <a:ext cx="5120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520" dirty="0">
                <a:solidFill>
                  <a:srgbClr val="64748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采购</a:t>
            </a:r>
            <a:endParaRPr lang="en-US" sz="520" dirty="0"/>
          </a:p>
        </p:txBody>
      </p:sp>
      <p:sp>
        <p:nvSpPr>
          <p:cNvPr id="92" name="Shape 90"/>
          <p:cNvSpPr/>
          <p:nvPr/>
        </p:nvSpPr>
        <p:spPr>
          <a:xfrm>
            <a:off x="6981952" y="3849624"/>
            <a:ext cx="164592" cy="164592"/>
          </a:xfrm>
          <a:prstGeom prst="ellipse">
            <a:avLst/>
          </a:prstGeom>
          <a:solidFill>
            <a:srgbClr val="94A3B8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93" name="Text 91"/>
          <p:cNvSpPr/>
          <p:nvPr/>
        </p:nvSpPr>
        <p:spPr>
          <a:xfrm>
            <a:off x="6981952" y="3857854"/>
            <a:ext cx="164592" cy="13167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58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6</a:t>
            </a:r>
            <a:endParaRPr lang="en-US" sz="580" dirty="0"/>
          </a:p>
        </p:txBody>
      </p:sp>
      <p:sp>
        <p:nvSpPr>
          <p:cNvPr id="94" name="Text 92"/>
          <p:cNvSpPr/>
          <p:nvPr/>
        </p:nvSpPr>
        <p:spPr>
          <a:xfrm>
            <a:off x="6808216" y="4087368"/>
            <a:ext cx="5120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520" dirty="0">
                <a:solidFill>
                  <a:srgbClr val="64748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试制</a:t>
            </a:r>
            <a:endParaRPr lang="en-US" sz="520" dirty="0"/>
          </a:p>
        </p:txBody>
      </p:sp>
      <p:sp>
        <p:nvSpPr>
          <p:cNvPr id="95" name="Shape 93"/>
          <p:cNvSpPr/>
          <p:nvPr/>
        </p:nvSpPr>
        <p:spPr>
          <a:xfrm>
            <a:off x="7906512" y="3849624"/>
            <a:ext cx="164592" cy="164592"/>
          </a:xfrm>
          <a:prstGeom prst="ellipse">
            <a:avLst/>
          </a:prstGeom>
          <a:solidFill>
            <a:srgbClr val="94A3B8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96" name="Text 94"/>
          <p:cNvSpPr/>
          <p:nvPr/>
        </p:nvSpPr>
        <p:spPr>
          <a:xfrm>
            <a:off x="7906512" y="3857854"/>
            <a:ext cx="164592" cy="13167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58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7</a:t>
            </a:r>
            <a:endParaRPr lang="en-US" sz="580" dirty="0"/>
          </a:p>
        </p:txBody>
      </p:sp>
      <p:sp>
        <p:nvSpPr>
          <p:cNvPr id="97" name="Text 95"/>
          <p:cNvSpPr/>
          <p:nvPr/>
        </p:nvSpPr>
        <p:spPr>
          <a:xfrm>
            <a:off x="7732776" y="4087368"/>
            <a:ext cx="5120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520" dirty="0">
                <a:solidFill>
                  <a:srgbClr val="64748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评审</a:t>
            </a:r>
            <a:endParaRPr lang="en-US" sz="520" dirty="0"/>
          </a:p>
        </p:txBody>
      </p:sp>
      <p:sp>
        <p:nvSpPr>
          <p:cNvPr id="98" name="Shape 96"/>
          <p:cNvSpPr/>
          <p:nvPr/>
        </p:nvSpPr>
        <p:spPr>
          <a:xfrm>
            <a:off x="8831072" y="3849624"/>
            <a:ext cx="164592" cy="164592"/>
          </a:xfrm>
          <a:prstGeom prst="ellipse">
            <a:avLst/>
          </a:prstGeom>
          <a:solidFill>
            <a:srgbClr val="94A3B8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99" name="Text 97"/>
          <p:cNvSpPr/>
          <p:nvPr/>
        </p:nvSpPr>
        <p:spPr>
          <a:xfrm>
            <a:off x="8831072" y="3857854"/>
            <a:ext cx="164592" cy="13167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58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8</a:t>
            </a:r>
            <a:endParaRPr lang="en-US" sz="580" dirty="0"/>
          </a:p>
        </p:txBody>
      </p:sp>
      <p:sp>
        <p:nvSpPr>
          <p:cNvPr id="100" name="Text 98"/>
          <p:cNvSpPr/>
          <p:nvPr/>
        </p:nvSpPr>
        <p:spPr>
          <a:xfrm>
            <a:off x="8657336" y="4087368"/>
            <a:ext cx="5120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520" dirty="0">
                <a:solidFill>
                  <a:srgbClr val="64748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生产</a:t>
            </a:r>
            <a:endParaRPr lang="en-US" sz="520" dirty="0"/>
          </a:p>
        </p:txBody>
      </p:sp>
      <p:sp>
        <p:nvSpPr>
          <p:cNvPr id="101" name="Shape 99"/>
          <p:cNvSpPr/>
          <p:nvPr/>
        </p:nvSpPr>
        <p:spPr>
          <a:xfrm>
            <a:off x="9755632" y="3849624"/>
            <a:ext cx="164592" cy="164592"/>
          </a:xfrm>
          <a:prstGeom prst="ellipse">
            <a:avLst/>
          </a:prstGeom>
          <a:solidFill>
            <a:srgbClr val="94A3B8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02" name="Text 100"/>
          <p:cNvSpPr/>
          <p:nvPr/>
        </p:nvSpPr>
        <p:spPr>
          <a:xfrm>
            <a:off x="9755632" y="3857854"/>
            <a:ext cx="164592" cy="13167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58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9</a:t>
            </a:r>
            <a:endParaRPr lang="en-US" sz="580" dirty="0"/>
          </a:p>
        </p:txBody>
      </p:sp>
      <p:sp>
        <p:nvSpPr>
          <p:cNvPr id="103" name="Text 101"/>
          <p:cNvSpPr/>
          <p:nvPr/>
        </p:nvSpPr>
        <p:spPr>
          <a:xfrm>
            <a:off x="9581896" y="4087368"/>
            <a:ext cx="5120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520" dirty="0">
                <a:solidFill>
                  <a:srgbClr val="64748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月评</a:t>
            </a:r>
            <a:endParaRPr lang="en-US" sz="520" dirty="0"/>
          </a:p>
        </p:txBody>
      </p:sp>
      <p:sp>
        <p:nvSpPr>
          <p:cNvPr id="104" name="Shape 102"/>
          <p:cNvSpPr/>
          <p:nvPr/>
        </p:nvSpPr>
        <p:spPr>
          <a:xfrm>
            <a:off x="10680192" y="3849624"/>
            <a:ext cx="164592" cy="164592"/>
          </a:xfrm>
          <a:prstGeom prst="ellipse">
            <a:avLst/>
          </a:prstGeom>
          <a:solidFill>
            <a:srgbClr val="94A3B8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05" name="Text 103"/>
          <p:cNvSpPr/>
          <p:nvPr/>
        </p:nvSpPr>
        <p:spPr>
          <a:xfrm>
            <a:off x="10680192" y="3857854"/>
            <a:ext cx="164592" cy="13167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58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10</a:t>
            </a:r>
            <a:endParaRPr lang="en-US" sz="580" dirty="0"/>
          </a:p>
        </p:txBody>
      </p:sp>
      <p:sp>
        <p:nvSpPr>
          <p:cNvPr id="106" name="Text 104"/>
          <p:cNvSpPr/>
          <p:nvPr/>
        </p:nvSpPr>
        <p:spPr>
          <a:xfrm>
            <a:off x="10506456" y="4087368"/>
            <a:ext cx="5120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520" dirty="0">
                <a:solidFill>
                  <a:srgbClr val="64748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退出</a:t>
            </a:r>
            <a:endParaRPr lang="en-US" sz="520" dirty="0"/>
          </a:p>
        </p:txBody>
      </p:sp>
      <p:sp>
        <p:nvSpPr>
          <p:cNvPr id="107" name="Shape 105"/>
          <p:cNvSpPr/>
          <p:nvPr/>
        </p:nvSpPr>
        <p:spPr>
          <a:xfrm>
            <a:off x="10808208" y="3337560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DBEAFE"/>
          </a:solidFill>
          <a:ln w="7620">
            <a:solidFill>
              <a:srgbClr val="DBEAFE"/>
            </a:solidFill>
            <a:prstDash val="solid"/>
          </a:ln>
        </p:spPr>
      </p:sp>
      <p:sp>
        <p:nvSpPr>
          <p:cNvPr id="108" name="Text 106"/>
          <p:cNvSpPr/>
          <p:nvPr/>
        </p:nvSpPr>
        <p:spPr>
          <a:xfrm>
            <a:off x="10817352" y="3456432"/>
            <a:ext cx="48463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563E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42%</a:t>
            </a:r>
            <a:endParaRPr lang="en-US" sz="850" dirty="0"/>
          </a:p>
        </p:txBody>
      </p:sp>
      <p:sp>
        <p:nvSpPr>
          <p:cNvPr id="109" name="Text 107"/>
          <p:cNvSpPr/>
          <p:nvPr/>
        </p:nvSpPr>
        <p:spPr>
          <a:xfrm>
            <a:off x="10826496" y="3611880"/>
            <a:ext cx="466344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520" dirty="0">
                <a:solidFill>
                  <a:srgbClr val="2563E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进度</a:t>
            </a:r>
            <a:endParaRPr lang="en-US" sz="520" dirty="0"/>
          </a:p>
        </p:txBody>
      </p:sp>
      <p:sp>
        <p:nvSpPr>
          <p:cNvPr id="110" name="Shape 108"/>
          <p:cNvSpPr/>
          <p:nvPr/>
        </p:nvSpPr>
        <p:spPr>
          <a:xfrm>
            <a:off x="2148840" y="4251960"/>
            <a:ext cx="9372600" cy="932688"/>
          </a:xfrm>
          <a:prstGeom prst="roundRect">
            <a:avLst>
              <a:gd name="adj" fmla="val 13725"/>
            </a:avLst>
          </a:prstGeom>
          <a:solidFill>
            <a:srgbClr val="FFFFFF"/>
          </a:solidFill>
          <a:ln w="7620">
            <a:solidFill>
              <a:srgbClr val="D9E2EC"/>
            </a:solidFill>
            <a:prstDash val="solid"/>
          </a:ln>
          <a:effectLst>
            <a:outerShdw sx="100000" sy="100000" kx="0" ky="0" algn="bl" rotWithShape="0" blurRad="1.2697857866076517e+111" dist="2.5395715732153033e+111" dir="4.605706660848612e+130">
              <a:srgbClr val="CBD5E1">
                <a:alpha val="1.1999999999999998e+134"/>
              </a:srgbClr>
            </a:outerShdw>
          </a:effectLst>
        </p:spPr>
      </p:sp>
      <p:sp>
        <p:nvSpPr>
          <p:cNvPr id="111" name="Text 109"/>
          <p:cNvSpPr/>
          <p:nvPr/>
        </p:nvSpPr>
        <p:spPr>
          <a:xfrm>
            <a:off x="2313432" y="4379976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40" b="1" dirty="0">
                <a:solidFill>
                  <a:srgbClr val="0F172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GF20250217 熔岩红定制色开发</a:t>
            </a:r>
            <a:endParaRPr lang="en-US" sz="940" dirty="0"/>
          </a:p>
        </p:txBody>
      </p:sp>
      <p:sp>
        <p:nvSpPr>
          <p:cNvPr id="112" name="Shape 110"/>
          <p:cNvSpPr/>
          <p:nvPr/>
        </p:nvSpPr>
        <p:spPr>
          <a:xfrm>
            <a:off x="4023360" y="4361688"/>
            <a:ext cx="658368" cy="201168"/>
          </a:xfrm>
          <a:prstGeom prst="roundRect">
            <a:avLst>
              <a:gd name="adj" fmla="val 54545"/>
            </a:avLst>
          </a:prstGeom>
          <a:solidFill>
            <a:srgbClr val="EDE9FE"/>
          </a:solidFill>
          <a:ln w="7620">
            <a:solidFill>
              <a:srgbClr val="EDE9FE"/>
            </a:solidFill>
            <a:prstDash val="solid"/>
          </a:ln>
        </p:spPr>
      </p:sp>
      <p:sp>
        <p:nvSpPr>
          <p:cNvPr id="113" name="Text 111"/>
          <p:cNvSpPr/>
          <p:nvPr/>
        </p:nvSpPr>
        <p:spPr>
          <a:xfrm>
            <a:off x="4023360" y="4366260"/>
            <a:ext cx="6583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60" b="1" dirty="0">
                <a:solidFill>
                  <a:srgbClr val="8B5CF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已退回</a:t>
            </a:r>
            <a:endParaRPr lang="en-US" sz="660" dirty="0"/>
          </a:p>
        </p:txBody>
      </p:sp>
      <p:sp>
        <p:nvSpPr>
          <p:cNvPr id="114" name="Text 112"/>
          <p:cNvSpPr/>
          <p:nvPr/>
        </p:nvSpPr>
        <p:spPr>
          <a:xfrm>
            <a:off x="2313432" y="4636008"/>
            <a:ext cx="1371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80" dirty="0">
                <a:solidFill>
                  <a:srgbClr val="64748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当前：第11步 样车试制第2轮</a:t>
            </a:r>
            <a:endParaRPr lang="en-US" sz="680" dirty="0"/>
          </a:p>
        </p:txBody>
      </p:sp>
      <p:sp>
        <p:nvSpPr>
          <p:cNvPr id="115" name="Text 113"/>
          <p:cNvSpPr/>
          <p:nvPr/>
        </p:nvSpPr>
        <p:spPr>
          <a:xfrm>
            <a:off x="3703320" y="4636008"/>
            <a:ext cx="914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80" dirty="0">
                <a:solidFill>
                  <a:srgbClr val="64748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负责人：过常保 / 涂装厂</a:t>
            </a:r>
            <a:endParaRPr lang="en-US" sz="680" dirty="0"/>
          </a:p>
        </p:txBody>
      </p:sp>
      <p:sp>
        <p:nvSpPr>
          <p:cNvPr id="116" name="Text 114"/>
          <p:cNvSpPr/>
          <p:nvPr/>
        </p:nvSpPr>
        <p:spPr>
          <a:xfrm>
            <a:off x="4636008" y="4636008"/>
            <a:ext cx="98755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80" dirty="0">
                <a:solidFill>
                  <a:srgbClr val="64748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截止：2025/10/17</a:t>
            </a:r>
            <a:endParaRPr lang="en-US" sz="680" dirty="0"/>
          </a:p>
        </p:txBody>
      </p:sp>
      <p:sp>
        <p:nvSpPr>
          <p:cNvPr id="117" name="Shape 115"/>
          <p:cNvSpPr/>
          <p:nvPr/>
        </p:nvSpPr>
        <p:spPr>
          <a:xfrm>
            <a:off x="2542032" y="5020056"/>
            <a:ext cx="723392" cy="0"/>
          </a:xfrm>
          <a:prstGeom prst="line">
            <a:avLst/>
          </a:prstGeom>
          <a:noFill/>
          <a:ln w="13970">
            <a:solidFill>
              <a:srgbClr val="10B981"/>
            </a:solidFill>
            <a:prstDash val="solid"/>
            <a:headEnd type="none"/>
            <a:tailEnd type="none"/>
          </a:ln>
        </p:spPr>
      </p:sp>
      <p:sp>
        <p:nvSpPr>
          <p:cNvPr id="118" name="Shape 116"/>
          <p:cNvSpPr/>
          <p:nvPr/>
        </p:nvSpPr>
        <p:spPr>
          <a:xfrm>
            <a:off x="3466592" y="5020056"/>
            <a:ext cx="723392" cy="0"/>
          </a:xfrm>
          <a:prstGeom prst="line">
            <a:avLst/>
          </a:prstGeom>
          <a:noFill/>
          <a:ln w="13970">
            <a:solidFill>
              <a:srgbClr val="10B981"/>
            </a:solidFill>
            <a:prstDash val="solid"/>
            <a:headEnd type="none"/>
            <a:tailEnd type="none"/>
          </a:ln>
        </p:spPr>
      </p:sp>
      <p:sp>
        <p:nvSpPr>
          <p:cNvPr id="119" name="Shape 117"/>
          <p:cNvSpPr/>
          <p:nvPr/>
        </p:nvSpPr>
        <p:spPr>
          <a:xfrm>
            <a:off x="4391152" y="5020056"/>
            <a:ext cx="723392" cy="0"/>
          </a:xfrm>
          <a:prstGeom prst="line">
            <a:avLst/>
          </a:prstGeom>
          <a:noFill/>
          <a:ln w="13970">
            <a:solidFill>
              <a:srgbClr val="10B981"/>
            </a:solidFill>
            <a:prstDash val="solid"/>
            <a:headEnd type="none"/>
            <a:tailEnd type="none"/>
          </a:ln>
        </p:spPr>
      </p:sp>
      <p:sp>
        <p:nvSpPr>
          <p:cNvPr id="120" name="Shape 118"/>
          <p:cNvSpPr/>
          <p:nvPr/>
        </p:nvSpPr>
        <p:spPr>
          <a:xfrm>
            <a:off x="5315712" y="5020056"/>
            <a:ext cx="723392" cy="0"/>
          </a:xfrm>
          <a:prstGeom prst="line">
            <a:avLst/>
          </a:prstGeom>
          <a:noFill/>
          <a:ln w="13970">
            <a:solidFill>
              <a:srgbClr val="10B981"/>
            </a:solidFill>
            <a:prstDash val="solid"/>
            <a:headEnd type="none"/>
            <a:tailEnd type="none"/>
          </a:ln>
        </p:spPr>
      </p:sp>
      <p:sp>
        <p:nvSpPr>
          <p:cNvPr id="121" name="Shape 119"/>
          <p:cNvSpPr/>
          <p:nvPr/>
        </p:nvSpPr>
        <p:spPr>
          <a:xfrm>
            <a:off x="6240272" y="5020056"/>
            <a:ext cx="723392" cy="0"/>
          </a:xfrm>
          <a:prstGeom prst="line">
            <a:avLst/>
          </a:prstGeom>
          <a:noFill/>
          <a:ln w="13970">
            <a:solidFill>
              <a:srgbClr val="10B981"/>
            </a:solidFill>
            <a:prstDash val="solid"/>
            <a:headEnd type="none"/>
            <a:tailEnd type="none"/>
          </a:ln>
        </p:spPr>
      </p:sp>
      <p:sp>
        <p:nvSpPr>
          <p:cNvPr id="122" name="Shape 120"/>
          <p:cNvSpPr/>
          <p:nvPr/>
        </p:nvSpPr>
        <p:spPr>
          <a:xfrm>
            <a:off x="7164832" y="5020056"/>
            <a:ext cx="723392" cy="0"/>
          </a:xfrm>
          <a:prstGeom prst="line">
            <a:avLst/>
          </a:prstGeom>
          <a:noFill/>
          <a:ln w="13970">
            <a:solidFill>
              <a:srgbClr val="CBD5E1"/>
            </a:solidFill>
            <a:prstDash val="solid"/>
            <a:headEnd type="none"/>
            <a:tailEnd type="none"/>
          </a:ln>
        </p:spPr>
      </p:sp>
      <p:sp>
        <p:nvSpPr>
          <p:cNvPr id="123" name="Shape 121"/>
          <p:cNvSpPr/>
          <p:nvPr/>
        </p:nvSpPr>
        <p:spPr>
          <a:xfrm>
            <a:off x="8089392" y="5020056"/>
            <a:ext cx="723392" cy="0"/>
          </a:xfrm>
          <a:prstGeom prst="line">
            <a:avLst/>
          </a:prstGeom>
          <a:noFill/>
          <a:ln w="13970">
            <a:solidFill>
              <a:srgbClr val="CBD5E1"/>
            </a:solidFill>
            <a:prstDash val="solid"/>
            <a:headEnd type="none"/>
            <a:tailEnd type="none"/>
          </a:ln>
        </p:spPr>
      </p:sp>
      <p:sp>
        <p:nvSpPr>
          <p:cNvPr id="124" name="Shape 122"/>
          <p:cNvSpPr/>
          <p:nvPr/>
        </p:nvSpPr>
        <p:spPr>
          <a:xfrm>
            <a:off x="9013952" y="5020056"/>
            <a:ext cx="723392" cy="0"/>
          </a:xfrm>
          <a:prstGeom prst="line">
            <a:avLst/>
          </a:prstGeom>
          <a:noFill/>
          <a:ln w="13970">
            <a:solidFill>
              <a:srgbClr val="CBD5E1"/>
            </a:solidFill>
            <a:prstDash val="solid"/>
            <a:headEnd type="none"/>
            <a:tailEnd type="none"/>
          </a:ln>
        </p:spPr>
      </p:sp>
      <p:sp>
        <p:nvSpPr>
          <p:cNvPr id="125" name="Shape 123"/>
          <p:cNvSpPr/>
          <p:nvPr/>
        </p:nvSpPr>
        <p:spPr>
          <a:xfrm>
            <a:off x="9938512" y="5020056"/>
            <a:ext cx="723392" cy="0"/>
          </a:xfrm>
          <a:prstGeom prst="line">
            <a:avLst/>
          </a:prstGeom>
          <a:noFill/>
          <a:ln w="13970">
            <a:solidFill>
              <a:srgbClr val="CBD5E1"/>
            </a:solidFill>
            <a:prstDash val="solid"/>
            <a:headEnd type="none"/>
            <a:tailEnd type="none"/>
          </a:ln>
        </p:spPr>
      </p:sp>
      <p:sp>
        <p:nvSpPr>
          <p:cNvPr id="126" name="Shape 124"/>
          <p:cNvSpPr/>
          <p:nvPr/>
        </p:nvSpPr>
        <p:spPr>
          <a:xfrm>
            <a:off x="2359152" y="4928616"/>
            <a:ext cx="164592" cy="164592"/>
          </a:xfrm>
          <a:prstGeom prst="ellipse">
            <a:avLst/>
          </a:prstGeom>
          <a:solidFill>
            <a:srgbClr val="10B981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27" name="Text 125"/>
          <p:cNvSpPr/>
          <p:nvPr/>
        </p:nvSpPr>
        <p:spPr>
          <a:xfrm>
            <a:off x="2359152" y="4936846"/>
            <a:ext cx="164592" cy="13167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58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</a:t>
            </a:r>
            <a:endParaRPr lang="en-US" sz="580" dirty="0"/>
          </a:p>
        </p:txBody>
      </p:sp>
      <p:sp>
        <p:nvSpPr>
          <p:cNvPr id="128" name="Text 126"/>
          <p:cNvSpPr/>
          <p:nvPr/>
        </p:nvSpPr>
        <p:spPr>
          <a:xfrm>
            <a:off x="2185416" y="5166360"/>
            <a:ext cx="5120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520" dirty="0">
                <a:solidFill>
                  <a:srgbClr val="64748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需求</a:t>
            </a:r>
            <a:endParaRPr lang="en-US" sz="520" dirty="0"/>
          </a:p>
        </p:txBody>
      </p:sp>
      <p:sp>
        <p:nvSpPr>
          <p:cNvPr id="129" name="Shape 127"/>
          <p:cNvSpPr/>
          <p:nvPr/>
        </p:nvSpPr>
        <p:spPr>
          <a:xfrm>
            <a:off x="3283712" y="4928616"/>
            <a:ext cx="164592" cy="164592"/>
          </a:xfrm>
          <a:prstGeom prst="ellipse">
            <a:avLst/>
          </a:prstGeom>
          <a:solidFill>
            <a:srgbClr val="10B981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30" name="Text 128"/>
          <p:cNvSpPr/>
          <p:nvPr/>
        </p:nvSpPr>
        <p:spPr>
          <a:xfrm>
            <a:off x="3283712" y="4936846"/>
            <a:ext cx="164592" cy="13167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58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2</a:t>
            </a:r>
            <a:endParaRPr lang="en-US" sz="580" dirty="0"/>
          </a:p>
        </p:txBody>
      </p:sp>
      <p:sp>
        <p:nvSpPr>
          <p:cNvPr id="131" name="Text 129"/>
          <p:cNvSpPr/>
          <p:nvPr/>
        </p:nvSpPr>
        <p:spPr>
          <a:xfrm>
            <a:off x="3109976" y="5166360"/>
            <a:ext cx="5120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520" dirty="0">
                <a:solidFill>
                  <a:srgbClr val="64748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报告</a:t>
            </a:r>
            <a:endParaRPr lang="en-US" sz="520" dirty="0"/>
          </a:p>
        </p:txBody>
      </p:sp>
      <p:sp>
        <p:nvSpPr>
          <p:cNvPr id="132" name="Shape 130"/>
          <p:cNvSpPr/>
          <p:nvPr/>
        </p:nvSpPr>
        <p:spPr>
          <a:xfrm>
            <a:off x="4208272" y="4928616"/>
            <a:ext cx="164592" cy="164592"/>
          </a:xfrm>
          <a:prstGeom prst="ellipse">
            <a:avLst/>
          </a:prstGeom>
          <a:solidFill>
            <a:srgbClr val="10B981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33" name="Text 131"/>
          <p:cNvSpPr/>
          <p:nvPr/>
        </p:nvSpPr>
        <p:spPr>
          <a:xfrm>
            <a:off x="4208272" y="4936846"/>
            <a:ext cx="164592" cy="13167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58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3</a:t>
            </a:r>
            <a:endParaRPr lang="en-US" sz="580" dirty="0"/>
          </a:p>
        </p:txBody>
      </p:sp>
      <p:sp>
        <p:nvSpPr>
          <p:cNvPr id="134" name="Text 132"/>
          <p:cNvSpPr/>
          <p:nvPr/>
        </p:nvSpPr>
        <p:spPr>
          <a:xfrm>
            <a:off x="4034536" y="5166360"/>
            <a:ext cx="5120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520" dirty="0">
                <a:solidFill>
                  <a:srgbClr val="64748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涂料</a:t>
            </a:r>
            <a:endParaRPr lang="en-US" sz="520" dirty="0"/>
          </a:p>
        </p:txBody>
      </p:sp>
      <p:sp>
        <p:nvSpPr>
          <p:cNvPr id="135" name="Shape 133"/>
          <p:cNvSpPr/>
          <p:nvPr/>
        </p:nvSpPr>
        <p:spPr>
          <a:xfrm>
            <a:off x="5132832" y="4928616"/>
            <a:ext cx="164592" cy="164592"/>
          </a:xfrm>
          <a:prstGeom prst="ellipse">
            <a:avLst/>
          </a:prstGeom>
          <a:solidFill>
            <a:srgbClr val="10B981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36" name="Text 134"/>
          <p:cNvSpPr/>
          <p:nvPr/>
        </p:nvSpPr>
        <p:spPr>
          <a:xfrm>
            <a:off x="5132832" y="4936846"/>
            <a:ext cx="164592" cy="13167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58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4</a:t>
            </a:r>
            <a:endParaRPr lang="en-US" sz="580" dirty="0"/>
          </a:p>
        </p:txBody>
      </p:sp>
      <p:sp>
        <p:nvSpPr>
          <p:cNvPr id="137" name="Text 135"/>
          <p:cNvSpPr/>
          <p:nvPr/>
        </p:nvSpPr>
        <p:spPr>
          <a:xfrm>
            <a:off x="4959096" y="5166360"/>
            <a:ext cx="5120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520" dirty="0">
                <a:solidFill>
                  <a:srgbClr val="64748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确认</a:t>
            </a:r>
            <a:endParaRPr lang="en-US" sz="520" dirty="0"/>
          </a:p>
        </p:txBody>
      </p:sp>
      <p:sp>
        <p:nvSpPr>
          <p:cNvPr id="138" name="Shape 136"/>
          <p:cNvSpPr/>
          <p:nvPr/>
        </p:nvSpPr>
        <p:spPr>
          <a:xfrm>
            <a:off x="6057392" y="4928616"/>
            <a:ext cx="164592" cy="164592"/>
          </a:xfrm>
          <a:prstGeom prst="ellipse">
            <a:avLst/>
          </a:prstGeom>
          <a:solidFill>
            <a:srgbClr val="10B981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39" name="Text 137"/>
          <p:cNvSpPr/>
          <p:nvPr/>
        </p:nvSpPr>
        <p:spPr>
          <a:xfrm>
            <a:off x="6057392" y="4936846"/>
            <a:ext cx="164592" cy="13167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58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5</a:t>
            </a:r>
            <a:endParaRPr lang="en-US" sz="580" dirty="0"/>
          </a:p>
        </p:txBody>
      </p:sp>
      <p:sp>
        <p:nvSpPr>
          <p:cNvPr id="140" name="Text 138"/>
          <p:cNvSpPr/>
          <p:nvPr/>
        </p:nvSpPr>
        <p:spPr>
          <a:xfrm>
            <a:off x="5883656" y="5166360"/>
            <a:ext cx="5120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520" dirty="0">
                <a:solidFill>
                  <a:srgbClr val="64748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采购</a:t>
            </a:r>
            <a:endParaRPr lang="en-US" sz="520" dirty="0"/>
          </a:p>
        </p:txBody>
      </p:sp>
      <p:sp>
        <p:nvSpPr>
          <p:cNvPr id="141" name="Shape 139"/>
          <p:cNvSpPr/>
          <p:nvPr/>
        </p:nvSpPr>
        <p:spPr>
          <a:xfrm>
            <a:off x="6981952" y="4928616"/>
            <a:ext cx="164592" cy="164592"/>
          </a:xfrm>
          <a:prstGeom prst="ellipse">
            <a:avLst/>
          </a:prstGeom>
          <a:solidFill>
            <a:srgbClr val="2563EB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42" name="Text 140"/>
          <p:cNvSpPr/>
          <p:nvPr/>
        </p:nvSpPr>
        <p:spPr>
          <a:xfrm>
            <a:off x="6981952" y="4936846"/>
            <a:ext cx="164592" cy="13167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58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6</a:t>
            </a:r>
            <a:endParaRPr lang="en-US" sz="580" dirty="0"/>
          </a:p>
        </p:txBody>
      </p:sp>
      <p:sp>
        <p:nvSpPr>
          <p:cNvPr id="143" name="Text 141"/>
          <p:cNvSpPr/>
          <p:nvPr/>
        </p:nvSpPr>
        <p:spPr>
          <a:xfrm>
            <a:off x="6808216" y="5166360"/>
            <a:ext cx="5120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520" dirty="0">
                <a:solidFill>
                  <a:srgbClr val="64748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试制</a:t>
            </a:r>
            <a:endParaRPr lang="en-US" sz="520" dirty="0"/>
          </a:p>
        </p:txBody>
      </p:sp>
      <p:sp>
        <p:nvSpPr>
          <p:cNvPr id="144" name="Shape 142"/>
          <p:cNvSpPr/>
          <p:nvPr/>
        </p:nvSpPr>
        <p:spPr>
          <a:xfrm>
            <a:off x="7906512" y="4928616"/>
            <a:ext cx="164592" cy="164592"/>
          </a:xfrm>
          <a:prstGeom prst="ellipse">
            <a:avLst/>
          </a:prstGeom>
          <a:solidFill>
            <a:srgbClr val="8B5CF6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45" name="Text 143"/>
          <p:cNvSpPr/>
          <p:nvPr/>
        </p:nvSpPr>
        <p:spPr>
          <a:xfrm>
            <a:off x="7906512" y="4936846"/>
            <a:ext cx="164592" cy="13167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58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7</a:t>
            </a:r>
            <a:endParaRPr lang="en-US" sz="580" dirty="0"/>
          </a:p>
        </p:txBody>
      </p:sp>
      <p:sp>
        <p:nvSpPr>
          <p:cNvPr id="146" name="Text 144"/>
          <p:cNvSpPr/>
          <p:nvPr/>
        </p:nvSpPr>
        <p:spPr>
          <a:xfrm>
            <a:off x="7732776" y="5166360"/>
            <a:ext cx="5120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520" dirty="0">
                <a:solidFill>
                  <a:srgbClr val="64748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评审</a:t>
            </a:r>
            <a:endParaRPr lang="en-US" sz="520" dirty="0"/>
          </a:p>
        </p:txBody>
      </p:sp>
      <p:sp>
        <p:nvSpPr>
          <p:cNvPr id="147" name="Shape 145"/>
          <p:cNvSpPr/>
          <p:nvPr/>
        </p:nvSpPr>
        <p:spPr>
          <a:xfrm>
            <a:off x="8831072" y="4928616"/>
            <a:ext cx="164592" cy="164592"/>
          </a:xfrm>
          <a:prstGeom prst="ellipse">
            <a:avLst/>
          </a:prstGeom>
          <a:solidFill>
            <a:srgbClr val="94A3B8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48" name="Text 146"/>
          <p:cNvSpPr/>
          <p:nvPr/>
        </p:nvSpPr>
        <p:spPr>
          <a:xfrm>
            <a:off x="8831072" y="4936846"/>
            <a:ext cx="164592" cy="13167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58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8</a:t>
            </a:r>
            <a:endParaRPr lang="en-US" sz="580" dirty="0"/>
          </a:p>
        </p:txBody>
      </p:sp>
      <p:sp>
        <p:nvSpPr>
          <p:cNvPr id="149" name="Text 147"/>
          <p:cNvSpPr/>
          <p:nvPr/>
        </p:nvSpPr>
        <p:spPr>
          <a:xfrm>
            <a:off x="8657336" y="5166360"/>
            <a:ext cx="5120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520" dirty="0">
                <a:solidFill>
                  <a:srgbClr val="64748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生产</a:t>
            </a:r>
            <a:endParaRPr lang="en-US" sz="520" dirty="0"/>
          </a:p>
        </p:txBody>
      </p:sp>
      <p:sp>
        <p:nvSpPr>
          <p:cNvPr id="150" name="Shape 148"/>
          <p:cNvSpPr/>
          <p:nvPr/>
        </p:nvSpPr>
        <p:spPr>
          <a:xfrm>
            <a:off x="9755632" y="4928616"/>
            <a:ext cx="164592" cy="164592"/>
          </a:xfrm>
          <a:prstGeom prst="ellipse">
            <a:avLst/>
          </a:prstGeom>
          <a:solidFill>
            <a:srgbClr val="94A3B8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51" name="Text 149"/>
          <p:cNvSpPr/>
          <p:nvPr/>
        </p:nvSpPr>
        <p:spPr>
          <a:xfrm>
            <a:off x="9755632" y="4936846"/>
            <a:ext cx="164592" cy="13167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58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9</a:t>
            </a:r>
            <a:endParaRPr lang="en-US" sz="580" dirty="0"/>
          </a:p>
        </p:txBody>
      </p:sp>
      <p:sp>
        <p:nvSpPr>
          <p:cNvPr id="152" name="Text 150"/>
          <p:cNvSpPr/>
          <p:nvPr/>
        </p:nvSpPr>
        <p:spPr>
          <a:xfrm>
            <a:off x="9581896" y="5166360"/>
            <a:ext cx="5120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520" dirty="0">
                <a:solidFill>
                  <a:srgbClr val="64748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月评</a:t>
            </a:r>
            <a:endParaRPr lang="en-US" sz="520" dirty="0"/>
          </a:p>
        </p:txBody>
      </p:sp>
      <p:sp>
        <p:nvSpPr>
          <p:cNvPr id="153" name="Shape 151"/>
          <p:cNvSpPr/>
          <p:nvPr/>
        </p:nvSpPr>
        <p:spPr>
          <a:xfrm>
            <a:off x="10680192" y="4928616"/>
            <a:ext cx="164592" cy="164592"/>
          </a:xfrm>
          <a:prstGeom prst="ellipse">
            <a:avLst/>
          </a:prstGeom>
          <a:solidFill>
            <a:srgbClr val="94A3B8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54" name="Text 152"/>
          <p:cNvSpPr/>
          <p:nvPr/>
        </p:nvSpPr>
        <p:spPr>
          <a:xfrm>
            <a:off x="10680192" y="4936846"/>
            <a:ext cx="164592" cy="13167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58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10</a:t>
            </a:r>
            <a:endParaRPr lang="en-US" sz="580" dirty="0"/>
          </a:p>
        </p:txBody>
      </p:sp>
      <p:sp>
        <p:nvSpPr>
          <p:cNvPr id="155" name="Text 153"/>
          <p:cNvSpPr/>
          <p:nvPr/>
        </p:nvSpPr>
        <p:spPr>
          <a:xfrm>
            <a:off x="10506456" y="5166360"/>
            <a:ext cx="5120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520" dirty="0">
                <a:solidFill>
                  <a:srgbClr val="64748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退出</a:t>
            </a:r>
            <a:endParaRPr lang="en-US" sz="520" dirty="0"/>
          </a:p>
        </p:txBody>
      </p:sp>
      <p:sp>
        <p:nvSpPr>
          <p:cNvPr id="156" name="Shape 154"/>
          <p:cNvSpPr/>
          <p:nvPr/>
        </p:nvSpPr>
        <p:spPr>
          <a:xfrm>
            <a:off x="10808208" y="4416552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EDE9FE"/>
          </a:solidFill>
          <a:ln w="7620">
            <a:solidFill>
              <a:srgbClr val="EDE9FE"/>
            </a:solidFill>
            <a:prstDash val="solid"/>
          </a:ln>
        </p:spPr>
      </p:sp>
      <p:sp>
        <p:nvSpPr>
          <p:cNvPr id="157" name="Text 155"/>
          <p:cNvSpPr/>
          <p:nvPr/>
        </p:nvSpPr>
        <p:spPr>
          <a:xfrm>
            <a:off x="10817352" y="4535424"/>
            <a:ext cx="48463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8B5CF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58%</a:t>
            </a:r>
            <a:endParaRPr lang="en-US" sz="850" dirty="0"/>
          </a:p>
        </p:txBody>
      </p:sp>
      <p:sp>
        <p:nvSpPr>
          <p:cNvPr id="158" name="Text 156"/>
          <p:cNvSpPr/>
          <p:nvPr/>
        </p:nvSpPr>
        <p:spPr>
          <a:xfrm>
            <a:off x="10826496" y="4690872"/>
            <a:ext cx="466344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520" dirty="0">
                <a:solidFill>
                  <a:srgbClr val="8B5CF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进度</a:t>
            </a:r>
            <a:endParaRPr lang="en-US" sz="520" dirty="0"/>
          </a:p>
        </p:txBody>
      </p:sp>
      <p:sp>
        <p:nvSpPr>
          <p:cNvPr id="159" name="Shape 157"/>
          <p:cNvSpPr/>
          <p:nvPr/>
        </p:nvSpPr>
        <p:spPr>
          <a:xfrm>
            <a:off x="10021824" y="5020056"/>
            <a:ext cx="749808" cy="201168"/>
          </a:xfrm>
          <a:prstGeom prst="roundRect">
            <a:avLst>
              <a:gd name="adj" fmla="val 54545"/>
            </a:avLst>
          </a:prstGeom>
          <a:solidFill>
            <a:srgbClr val="FEE2E2"/>
          </a:solidFill>
          <a:ln w="7620">
            <a:solidFill>
              <a:srgbClr val="FEE2E2"/>
            </a:solidFill>
            <a:prstDash val="solid"/>
          </a:ln>
        </p:spPr>
      </p:sp>
      <p:sp>
        <p:nvSpPr>
          <p:cNvPr id="160" name="Text 158"/>
          <p:cNvSpPr/>
          <p:nvPr/>
        </p:nvSpPr>
        <p:spPr>
          <a:xfrm>
            <a:off x="10021824" y="5024628"/>
            <a:ext cx="7498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20" b="1" dirty="0">
                <a:solidFill>
                  <a:srgbClr val="EF444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返工</a:t>
            </a:r>
            <a:endParaRPr lang="en-US" sz="620" dirty="0"/>
          </a:p>
        </p:txBody>
      </p:sp>
      <p:sp>
        <p:nvSpPr>
          <p:cNvPr id="161" name="Shape 159"/>
          <p:cNvSpPr/>
          <p:nvPr/>
        </p:nvSpPr>
        <p:spPr>
          <a:xfrm>
            <a:off x="2148840" y="5330952"/>
            <a:ext cx="9372600" cy="932688"/>
          </a:xfrm>
          <a:prstGeom prst="roundRect">
            <a:avLst>
              <a:gd name="adj" fmla="val 13725"/>
            </a:avLst>
          </a:prstGeom>
          <a:solidFill>
            <a:srgbClr val="FFFFFF"/>
          </a:solidFill>
          <a:ln w="7620">
            <a:solidFill>
              <a:srgbClr val="D9E2EC"/>
            </a:solidFill>
            <a:prstDash val="solid"/>
          </a:ln>
          <a:effectLst>
            <a:outerShdw sx="100000" sy="100000" kx="0" ky="0" algn="bl" rotWithShape="0" blurRad="1.6126279489917177e+115" dist="3.2252558979834354e+115" dir="2.763423996509167e+135">
              <a:srgbClr val="CBD5E1">
                <a:alpha val="1.1999999999999998e+139"/>
              </a:srgbClr>
            </a:outerShdw>
          </a:effectLst>
        </p:spPr>
      </p:sp>
      <p:sp>
        <p:nvSpPr>
          <p:cNvPr id="162" name="Text 160"/>
          <p:cNvSpPr/>
          <p:nvPr/>
        </p:nvSpPr>
        <p:spPr>
          <a:xfrm>
            <a:off x="2313432" y="5458968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40" b="1" dirty="0">
                <a:solidFill>
                  <a:srgbClr val="0F172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GF20250218 珍珠白定制色开发</a:t>
            </a:r>
            <a:endParaRPr lang="en-US" sz="940" dirty="0"/>
          </a:p>
        </p:txBody>
      </p:sp>
      <p:sp>
        <p:nvSpPr>
          <p:cNvPr id="163" name="Shape 161"/>
          <p:cNvSpPr/>
          <p:nvPr/>
        </p:nvSpPr>
        <p:spPr>
          <a:xfrm>
            <a:off x="4023360" y="5440680"/>
            <a:ext cx="658368" cy="201168"/>
          </a:xfrm>
          <a:prstGeom prst="roundRect">
            <a:avLst>
              <a:gd name="adj" fmla="val 54545"/>
            </a:avLst>
          </a:prstGeom>
          <a:solidFill>
            <a:srgbClr val="CFFAFE"/>
          </a:solidFill>
          <a:ln w="7620">
            <a:solidFill>
              <a:srgbClr val="CFFAFE"/>
            </a:solidFill>
            <a:prstDash val="solid"/>
          </a:ln>
        </p:spPr>
      </p:sp>
      <p:sp>
        <p:nvSpPr>
          <p:cNvPr id="164" name="Text 162"/>
          <p:cNvSpPr/>
          <p:nvPr/>
        </p:nvSpPr>
        <p:spPr>
          <a:xfrm>
            <a:off x="4023360" y="5445252"/>
            <a:ext cx="6583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60" b="1" dirty="0">
                <a:solidFill>
                  <a:srgbClr val="06B6D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月度跟踪</a:t>
            </a:r>
            <a:endParaRPr lang="en-US" sz="660" dirty="0"/>
          </a:p>
        </p:txBody>
      </p:sp>
      <p:sp>
        <p:nvSpPr>
          <p:cNvPr id="165" name="Text 163"/>
          <p:cNvSpPr/>
          <p:nvPr/>
        </p:nvSpPr>
        <p:spPr>
          <a:xfrm>
            <a:off x="2313432" y="5715000"/>
            <a:ext cx="1371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80" dirty="0">
                <a:solidFill>
                  <a:srgbClr val="64748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当前：第17步 整车色差一致性评审</a:t>
            </a:r>
            <a:endParaRPr lang="en-US" sz="680" dirty="0"/>
          </a:p>
        </p:txBody>
      </p:sp>
      <p:sp>
        <p:nvSpPr>
          <p:cNvPr id="166" name="Text 164"/>
          <p:cNvSpPr/>
          <p:nvPr/>
        </p:nvSpPr>
        <p:spPr>
          <a:xfrm>
            <a:off x="3703320" y="5715000"/>
            <a:ext cx="914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80" dirty="0">
                <a:solidFill>
                  <a:srgbClr val="64748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负责人：李晓晨 / 质量管理部</a:t>
            </a:r>
            <a:endParaRPr lang="en-US" sz="680" dirty="0"/>
          </a:p>
        </p:txBody>
      </p:sp>
      <p:sp>
        <p:nvSpPr>
          <p:cNvPr id="167" name="Text 165"/>
          <p:cNvSpPr/>
          <p:nvPr/>
        </p:nvSpPr>
        <p:spPr>
          <a:xfrm>
            <a:off x="4636008" y="5715000"/>
            <a:ext cx="98755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80" dirty="0">
                <a:solidFill>
                  <a:srgbClr val="64748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截止：本月25日</a:t>
            </a:r>
            <a:endParaRPr lang="en-US" sz="680" dirty="0"/>
          </a:p>
        </p:txBody>
      </p:sp>
      <p:sp>
        <p:nvSpPr>
          <p:cNvPr id="168" name="Shape 166"/>
          <p:cNvSpPr/>
          <p:nvPr/>
        </p:nvSpPr>
        <p:spPr>
          <a:xfrm>
            <a:off x="2542032" y="6099048"/>
            <a:ext cx="723392" cy="0"/>
          </a:xfrm>
          <a:prstGeom prst="line">
            <a:avLst/>
          </a:prstGeom>
          <a:noFill/>
          <a:ln w="13970">
            <a:solidFill>
              <a:srgbClr val="10B981"/>
            </a:solidFill>
            <a:prstDash val="solid"/>
            <a:headEnd type="none"/>
            <a:tailEnd type="none"/>
          </a:ln>
        </p:spPr>
      </p:sp>
      <p:sp>
        <p:nvSpPr>
          <p:cNvPr id="169" name="Shape 167"/>
          <p:cNvSpPr/>
          <p:nvPr/>
        </p:nvSpPr>
        <p:spPr>
          <a:xfrm>
            <a:off x="3466592" y="6099048"/>
            <a:ext cx="723392" cy="0"/>
          </a:xfrm>
          <a:prstGeom prst="line">
            <a:avLst/>
          </a:prstGeom>
          <a:noFill/>
          <a:ln w="13970">
            <a:solidFill>
              <a:srgbClr val="10B981"/>
            </a:solidFill>
            <a:prstDash val="solid"/>
            <a:headEnd type="none"/>
            <a:tailEnd type="none"/>
          </a:ln>
        </p:spPr>
      </p:sp>
      <p:sp>
        <p:nvSpPr>
          <p:cNvPr id="170" name="Shape 168"/>
          <p:cNvSpPr/>
          <p:nvPr/>
        </p:nvSpPr>
        <p:spPr>
          <a:xfrm>
            <a:off x="4391152" y="6099048"/>
            <a:ext cx="723392" cy="0"/>
          </a:xfrm>
          <a:prstGeom prst="line">
            <a:avLst/>
          </a:prstGeom>
          <a:noFill/>
          <a:ln w="13970">
            <a:solidFill>
              <a:srgbClr val="10B981"/>
            </a:solidFill>
            <a:prstDash val="solid"/>
            <a:headEnd type="none"/>
            <a:tailEnd type="none"/>
          </a:ln>
        </p:spPr>
      </p:sp>
      <p:sp>
        <p:nvSpPr>
          <p:cNvPr id="171" name="Shape 169"/>
          <p:cNvSpPr/>
          <p:nvPr/>
        </p:nvSpPr>
        <p:spPr>
          <a:xfrm>
            <a:off x="5315712" y="6099048"/>
            <a:ext cx="723392" cy="0"/>
          </a:xfrm>
          <a:prstGeom prst="line">
            <a:avLst/>
          </a:prstGeom>
          <a:noFill/>
          <a:ln w="13970">
            <a:solidFill>
              <a:srgbClr val="10B981"/>
            </a:solidFill>
            <a:prstDash val="solid"/>
            <a:headEnd type="none"/>
            <a:tailEnd type="none"/>
          </a:ln>
        </p:spPr>
      </p:sp>
      <p:sp>
        <p:nvSpPr>
          <p:cNvPr id="172" name="Shape 170"/>
          <p:cNvSpPr/>
          <p:nvPr/>
        </p:nvSpPr>
        <p:spPr>
          <a:xfrm>
            <a:off x="6240272" y="6099048"/>
            <a:ext cx="723392" cy="0"/>
          </a:xfrm>
          <a:prstGeom prst="line">
            <a:avLst/>
          </a:prstGeom>
          <a:noFill/>
          <a:ln w="13970">
            <a:solidFill>
              <a:srgbClr val="10B981"/>
            </a:solidFill>
            <a:prstDash val="solid"/>
            <a:headEnd type="none"/>
            <a:tailEnd type="none"/>
          </a:ln>
        </p:spPr>
      </p:sp>
      <p:sp>
        <p:nvSpPr>
          <p:cNvPr id="173" name="Shape 171"/>
          <p:cNvSpPr/>
          <p:nvPr/>
        </p:nvSpPr>
        <p:spPr>
          <a:xfrm>
            <a:off x="7164832" y="6099048"/>
            <a:ext cx="723392" cy="0"/>
          </a:xfrm>
          <a:prstGeom prst="line">
            <a:avLst/>
          </a:prstGeom>
          <a:noFill/>
          <a:ln w="13970">
            <a:solidFill>
              <a:srgbClr val="10B981"/>
            </a:solidFill>
            <a:prstDash val="solid"/>
            <a:headEnd type="none"/>
            <a:tailEnd type="none"/>
          </a:ln>
        </p:spPr>
      </p:sp>
      <p:sp>
        <p:nvSpPr>
          <p:cNvPr id="174" name="Shape 172"/>
          <p:cNvSpPr/>
          <p:nvPr/>
        </p:nvSpPr>
        <p:spPr>
          <a:xfrm>
            <a:off x="8089392" y="6099048"/>
            <a:ext cx="723392" cy="0"/>
          </a:xfrm>
          <a:prstGeom prst="line">
            <a:avLst/>
          </a:prstGeom>
          <a:noFill/>
          <a:ln w="13970">
            <a:solidFill>
              <a:srgbClr val="10B981"/>
            </a:solidFill>
            <a:prstDash val="solid"/>
            <a:headEnd type="none"/>
            <a:tailEnd type="none"/>
          </a:ln>
        </p:spPr>
      </p:sp>
      <p:sp>
        <p:nvSpPr>
          <p:cNvPr id="175" name="Shape 173"/>
          <p:cNvSpPr/>
          <p:nvPr/>
        </p:nvSpPr>
        <p:spPr>
          <a:xfrm>
            <a:off x="9013952" y="6099048"/>
            <a:ext cx="723392" cy="0"/>
          </a:xfrm>
          <a:prstGeom prst="line">
            <a:avLst/>
          </a:prstGeom>
          <a:noFill/>
          <a:ln w="13970">
            <a:solidFill>
              <a:srgbClr val="10B981"/>
            </a:solidFill>
            <a:prstDash val="solid"/>
            <a:headEnd type="none"/>
            <a:tailEnd type="none"/>
          </a:ln>
        </p:spPr>
      </p:sp>
      <p:sp>
        <p:nvSpPr>
          <p:cNvPr id="176" name="Shape 174"/>
          <p:cNvSpPr/>
          <p:nvPr/>
        </p:nvSpPr>
        <p:spPr>
          <a:xfrm>
            <a:off x="9938512" y="6099048"/>
            <a:ext cx="723392" cy="0"/>
          </a:xfrm>
          <a:prstGeom prst="line">
            <a:avLst/>
          </a:prstGeom>
          <a:noFill/>
          <a:ln w="13970">
            <a:solidFill>
              <a:srgbClr val="CBD5E1"/>
            </a:solidFill>
            <a:prstDash val="solid"/>
            <a:headEnd type="none"/>
            <a:tailEnd type="none"/>
          </a:ln>
        </p:spPr>
      </p:sp>
      <p:sp>
        <p:nvSpPr>
          <p:cNvPr id="177" name="Shape 175"/>
          <p:cNvSpPr/>
          <p:nvPr/>
        </p:nvSpPr>
        <p:spPr>
          <a:xfrm>
            <a:off x="2359152" y="6007608"/>
            <a:ext cx="164592" cy="164592"/>
          </a:xfrm>
          <a:prstGeom prst="ellipse">
            <a:avLst/>
          </a:prstGeom>
          <a:solidFill>
            <a:srgbClr val="10B981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78" name="Text 176"/>
          <p:cNvSpPr/>
          <p:nvPr/>
        </p:nvSpPr>
        <p:spPr>
          <a:xfrm>
            <a:off x="2359152" y="6015838"/>
            <a:ext cx="164592" cy="13167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58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</a:t>
            </a:r>
            <a:endParaRPr lang="en-US" sz="580" dirty="0"/>
          </a:p>
        </p:txBody>
      </p:sp>
      <p:sp>
        <p:nvSpPr>
          <p:cNvPr id="179" name="Text 177"/>
          <p:cNvSpPr/>
          <p:nvPr/>
        </p:nvSpPr>
        <p:spPr>
          <a:xfrm>
            <a:off x="2185416" y="6245352"/>
            <a:ext cx="5120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520" dirty="0">
                <a:solidFill>
                  <a:srgbClr val="64748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需求</a:t>
            </a:r>
            <a:endParaRPr lang="en-US" sz="520" dirty="0"/>
          </a:p>
        </p:txBody>
      </p:sp>
      <p:sp>
        <p:nvSpPr>
          <p:cNvPr id="180" name="Shape 178"/>
          <p:cNvSpPr/>
          <p:nvPr/>
        </p:nvSpPr>
        <p:spPr>
          <a:xfrm>
            <a:off x="3283712" y="6007608"/>
            <a:ext cx="164592" cy="164592"/>
          </a:xfrm>
          <a:prstGeom prst="ellipse">
            <a:avLst/>
          </a:prstGeom>
          <a:solidFill>
            <a:srgbClr val="10B981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81" name="Text 179"/>
          <p:cNvSpPr/>
          <p:nvPr/>
        </p:nvSpPr>
        <p:spPr>
          <a:xfrm>
            <a:off x="3283712" y="6015838"/>
            <a:ext cx="164592" cy="13167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58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2</a:t>
            </a:r>
            <a:endParaRPr lang="en-US" sz="580" dirty="0"/>
          </a:p>
        </p:txBody>
      </p:sp>
      <p:sp>
        <p:nvSpPr>
          <p:cNvPr id="182" name="Text 180"/>
          <p:cNvSpPr/>
          <p:nvPr/>
        </p:nvSpPr>
        <p:spPr>
          <a:xfrm>
            <a:off x="3109976" y="6245352"/>
            <a:ext cx="5120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520" dirty="0">
                <a:solidFill>
                  <a:srgbClr val="64748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报告</a:t>
            </a:r>
            <a:endParaRPr lang="en-US" sz="520" dirty="0"/>
          </a:p>
        </p:txBody>
      </p:sp>
      <p:sp>
        <p:nvSpPr>
          <p:cNvPr id="183" name="Shape 181"/>
          <p:cNvSpPr/>
          <p:nvPr/>
        </p:nvSpPr>
        <p:spPr>
          <a:xfrm>
            <a:off x="4208272" y="6007608"/>
            <a:ext cx="164592" cy="164592"/>
          </a:xfrm>
          <a:prstGeom prst="ellipse">
            <a:avLst/>
          </a:prstGeom>
          <a:solidFill>
            <a:srgbClr val="10B981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84" name="Text 182"/>
          <p:cNvSpPr/>
          <p:nvPr/>
        </p:nvSpPr>
        <p:spPr>
          <a:xfrm>
            <a:off x="4208272" y="6015838"/>
            <a:ext cx="164592" cy="13167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58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3</a:t>
            </a:r>
            <a:endParaRPr lang="en-US" sz="580" dirty="0"/>
          </a:p>
        </p:txBody>
      </p:sp>
      <p:sp>
        <p:nvSpPr>
          <p:cNvPr id="185" name="Text 183"/>
          <p:cNvSpPr/>
          <p:nvPr/>
        </p:nvSpPr>
        <p:spPr>
          <a:xfrm>
            <a:off x="4034536" y="6245352"/>
            <a:ext cx="5120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520" dirty="0">
                <a:solidFill>
                  <a:srgbClr val="64748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涂料</a:t>
            </a:r>
            <a:endParaRPr lang="en-US" sz="520" dirty="0"/>
          </a:p>
        </p:txBody>
      </p:sp>
      <p:sp>
        <p:nvSpPr>
          <p:cNvPr id="186" name="Shape 184"/>
          <p:cNvSpPr/>
          <p:nvPr/>
        </p:nvSpPr>
        <p:spPr>
          <a:xfrm>
            <a:off x="5132832" y="6007608"/>
            <a:ext cx="164592" cy="164592"/>
          </a:xfrm>
          <a:prstGeom prst="ellipse">
            <a:avLst/>
          </a:prstGeom>
          <a:solidFill>
            <a:srgbClr val="10B981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87" name="Text 185"/>
          <p:cNvSpPr/>
          <p:nvPr/>
        </p:nvSpPr>
        <p:spPr>
          <a:xfrm>
            <a:off x="5132832" y="6015838"/>
            <a:ext cx="164592" cy="13167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58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4</a:t>
            </a:r>
            <a:endParaRPr lang="en-US" sz="580" dirty="0"/>
          </a:p>
        </p:txBody>
      </p:sp>
      <p:sp>
        <p:nvSpPr>
          <p:cNvPr id="188" name="Text 186"/>
          <p:cNvSpPr/>
          <p:nvPr/>
        </p:nvSpPr>
        <p:spPr>
          <a:xfrm>
            <a:off x="4959096" y="6245352"/>
            <a:ext cx="5120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520" dirty="0">
                <a:solidFill>
                  <a:srgbClr val="64748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确认</a:t>
            </a:r>
            <a:endParaRPr lang="en-US" sz="520" dirty="0"/>
          </a:p>
        </p:txBody>
      </p:sp>
      <p:sp>
        <p:nvSpPr>
          <p:cNvPr id="189" name="Shape 187"/>
          <p:cNvSpPr/>
          <p:nvPr/>
        </p:nvSpPr>
        <p:spPr>
          <a:xfrm>
            <a:off x="6057392" y="6007608"/>
            <a:ext cx="164592" cy="164592"/>
          </a:xfrm>
          <a:prstGeom prst="ellipse">
            <a:avLst/>
          </a:prstGeom>
          <a:solidFill>
            <a:srgbClr val="10B981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90" name="Text 188"/>
          <p:cNvSpPr/>
          <p:nvPr/>
        </p:nvSpPr>
        <p:spPr>
          <a:xfrm>
            <a:off x="6057392" y="6015838"/>
            <a:ext cx="164592" cy="13167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58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5</a:t>
            </a:r>
            <a:endParaRPr lang="en-US" sz="580" dirty="0"/>
          </a:p>
        </p:txBody>
      </p:sp>
      <p:sp>
        <p:nvSpPr>
          <p:cNvPr id="191" name="Text 189"/>
          <p:cNvSpPr/>
          <p:nvPr/>
        </p:nvSpPr>
        <p:spPr>
          <a:xfrm>
            <a:off x="5883656" y="6245352"/>
            <a:ext cx="5120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520" dirty="0">
                <a:solidFill>
                  <a:srgbClr val="64748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采购</a:t>
            </a:r>
            <a:endParaRPr lang="en-US" sz="520" dirty="0"/>
          </a:p>
        </p:txBody>
      </p:sp>
      <p:sp>
        <p:nvSpPr>
          <p:cNvPr id="192" name="Shape 190"/>
          <p:cNvSpPr/>
          <p:nvPr/>
        </p:nvSpPr>
        <p:spPr>
          <a:xfrm>
            <a:off x="6981952" y="6007608"/>
            <a:ext cx="164592" cy="164592"/>
          </a:xfrm>
          <a:prstGeom prst="ellipse">
            <a:avLst/>
          </a:prstGeom>
          <a:solidFill>
            <a:srgbClr val="10B981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93" name="Text 191"/>
          <p:cNvSpPr/>
          <p:nvPr/>
        </p:nvSpPr>
        <p:spPr>
          <a:xfrm>
            <a:off x="6981952" y="6015838"/>
            <a:ext cx="164592" cy="13167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58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6</a:t>
            </a:r>
            <a:endParaRPr lang="en-US" sz="580" dirty="0"/>
          </a:p>
        </p:txBody>
      </p:sp>
      <p:sp>
        <p:nvSpPr>
          <p:cNvPr id="194" name="Text 192"/>
          <p:cNvSpPr/>
          <p:nvPr/>
        </p:nvSpPr>
        <p:spPr>
          <a:xfrm>
            <a:off x="6808216" y="6245352"/>
            <a:ext cx="5120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520" dirty="0">
                <a:solidFill>
                  <a:srgbClr val="64748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试制</a:t>
            </a:r>
            <a:endParaRPr lang="en-US" sz="520" dirty="0"/>
          </a:p>
        </p:txBody>
      </p:sp>
      <p:sp>
        <p:nvSpPr>
          <p:cNvPr id="195" name="Shape 193"/>
          <p:cNvSpPr/>
          <p:nvPr/>
        </p:nvSpPr>
        <p:spPr>
          <a:xfrm>
            <a:off x="7906512" y="6007608"/>
            <a:ext cx="164592" cy="164592"/>
          </a:xfrm>
          <a:prstGeom prst="ellipse">
            <a:avLst/>
          </a:prstGeom>
          <a:solidFill>
            <a:srgbClr val="10B981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96" name="Text 194"/>
          <p:cNvSpPr/>
          <p:nvPr/>
        </p:nvSpPr>
        <p:spPr>
          <a:xfrm>
            <a:off x="7906512" y="6015838"/>
            <a:ext cx="164592" cy="13167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58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7</a:t>
            </a:r>
            <a:endParaRPr lang="en-US" sz="580" dirty="0"/>
          </a:p>
        </p:txBody>
      </p:sp>
      <p:sp>
        <p:nvSpPr>
          <p:cNvPr id="197" name="Text 195"/>
          <p:cNvSpPr/>
          <p:nvPr/>
        </p:nvSpPr>
        <p:spPr>
          <a:xfrm>
            <a:off x="7732776" y="6245352"/>
            <a:ext cx="5120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520" dirty="0">
                <a:solidFill>
                  <a:srgbClr val="64748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评审</a:t>
            </a:r>
            <a:endParaRPr lang="en-US" sz="520" dirty="0"/>
          </a:p>
        </p:txBody>
      </p:sp>
      <p:sp>
        <p:nvSpPr>
          <p:cNvPr id="198" name="Shape 196"/>
          <p:cNvSpPr/>
          <p:nvPr/>
        </p:nvSpPr>
        <p:spPr>
          <a:xfrm>
            <a:off x="8831072" y="6007608"/>
            <a:ext cx="164592" cy="164592"/>
          </a:xfrm>
          <a:prstGeom prst="ellipse">
            <a:avLst/>
          </a:prstGeom>
          <a:solidFill>
            <a:srgbClr val="10B981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99" name="Text 197"/>
          <p:cNvSpPr/>
          <p:nvPr/>
        </p:nvSpPr>
        <p:spPr>
          <a:xfrm>
            <a:off x="8831072" y="6015838"/>
            <a:ext cx="164592" cy="13167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58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8</a:t>
            </a:r>
            <a:endParaRPr lang="en-US" sz="580" dirty="0"/>
          </a:p>
        </p:txBody>
      </p:sp>
      <p:sp>
        <p:nvSpPr>
          <p:cNvPr id="200" name="Text 198"/>
          <p:cNvSpPr/>
          <p:nvPr/>
        </p:nvSpPr>
        <p:spPr>
          <a:xfrm>
            <a:off x="8657336" y="6245352"/>
            <a:ext cx="5120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520" dirty="0">
                <a:solidFill>
                  <a:srgbClr val="64748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生产</a:t>
            </a:r>
            <a:endParaRPr lang="en-US" sz="520" dirty="0"/>
          </a:p>
        </p:txBody>
      </p:sp>
      <p:sp>
        <p:nvSpPr>
          <p:cNvPr id="201" name="Shape 199"/>
          <p:cNvSpPr/>
          <p:nvPr/>
        </p:nvSpPr>
        <p:spPr>
          <a:xfrm>
            <a:off x="9755632" y="6007608"/>
            <a:ext cx="164592" cy="164592"/>
          </a:xfrm>
          <a:prstGeom prst="ellipse">
            <a:avLst/>
          </a:prstGeom>
          <a:solidFill>
            <a:srgbClr val="06B6D4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02" name="Text 200"/>
          <p:cNvSpPr/>
          <p:nvPr/>
        </p:nvSpPr>
        <p:spPr>
          <a:xfrm>
            <a:off x="9755632" y="6015838"/>
            <a:ext cx="164592" cy="13167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58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9</a:t>
            </a:r>
            <a:endParaRPr lang="en-US" sz="580" dirty="0"/>
          </a:p>
        </p:txBody>
      </p:sp>
      <p:sp>
        <p:nvSpPr>
          <p:cNvPr id="203" name="Text 201"/>
          <p:cNvSpPr/>
          <p:nvPr/>
        </p:nvSpPr>
        <p:spPr>
          <a:xfrm>
            <a:off x="9581896" y="6245352"/>
            <a:ext cx="5120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520" dirty="0">
                <a:solidFill>
                  <a:srgbClr val="64748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月评</a:t>
            </a:r>
            <a:endParaRPr lang="en-US" sz="520" dirty="0"/>
          </a:p>
        </p:txBody>
      </p:sp>
      <p:sp>
        <p:nvSpPr>
          <p:cNvPr id="204" name="Shape 202"/>
          <p:cNvSpPr/>
          <p:nvPr/>
        </p:nvSpPr>
        <p:spPr>
          <a:xfrm>
            <a:off x="10680192" y="6007608"/>
            <a:ext cx="164592" cy="164592"/>
          </a:xfrm>
          <a:prstGeom prst="ellipse">
            <a:avLst/>
          </a:prstGeom>
          <a:solidFill>
            <a:srgbClr val="94A3B8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05" name="Text 203"/>
          <p:cNvSpPr/>
          <p:nvPr/>
        </p:nvSpPr>
        <p:spPr>
          <a:xfrm>
            <a:off x="10680192" y="6015838"/>
            <a:ext cx="164592" cy="13167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58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10</a:t>
            </a:r>
            <a:endParaRPr lang="en-US" sz="580" dirty="0"/>
          </a:p>
        </p:txBody>
      </p:sp>
      <p:sp>
        <p:nvSpPr>
          <p:cNvPr id="206" name="Text 204"/>
          <p:cNvSpPr/>
          <p:nvPr/>
        </p:nvSpPr>
        <p:spPr>
          <a:xfrm>
            <a:off x="10506456" y="6245352"/>
            <a:ext cx="5120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520" dirty="0">
                <a:solidFill>
                  <a:srgbClr val="64748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退出</a:t>
            </a:r>
            <a:endParaRPr lang="en-US" sz="520" dirty="0"/>
          </a:p>
        </p:txBody>
      </p:sp>
      <p:sp>
        <p:nvSpPr>
          <p:cNvPr id="207" name="Shape 205"/>
          <p:cNvSpPr/>
          <p:nvPr/>
        </p:nvSpPr>
        <p:spPr>
          <a:xfrm>
            <a:off x="10808208" y="5495544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CFFAFE"/>
          </a:solidFill>
          <a:ln w="7620">
            <a:solidFill>
              <a:srgbClr val="CFFAFE"/>
            </a:solidFill>
            <a:prstDash val="solid"/>
          </a:ln>
        </p:spPr>
      </p:sp>
      <p:sp>
        <p:nvSpPr>
          <p:cNvPr id="208" name="Text 206"/>
          <p:cNvSpPr/>
          <p:nvPr/>
        </p:nvSpPr>
        <p:spPr>
          <a:xfrm>
            <a:off x="10817352" y="5614416"/>
            <a:ext cx="48463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6B6D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86%</a:t>
            </a:r>
            <a:endParaRPr lang="en-US" sz="850" dirty="0"/>
          </a:p>
        </p:txBody>
      </p:sp>
      <p:sp>
        <p:nvSpPr>
          <p:cNvPr id="209" name="Text 207"/>
          <p:cNvSpPr/>
          <p:nvPr/>
        </p:nvSpPr>
        <p:spPr>
          <a:xfrm>
            <a:off x="10826496" y="5769864"/>
            <a:ext cx="466344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520" dirty="0">
                <a:solidFill>
                  <a:srgbClr val="06B6D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进度</a:t>
            </a:r>
            <a:endParaRPr lang="en-US" sz="520" dirty="0"/>
          </a:p>
        </p:txBody>
      </p:sp>
      <p:sp>
        <p:nvSpPr>
          <p:cNvPr id="210" name="Shape 208"/>
          <p:cNvSpPr/>
          <p:nvPr/>
        </p:nvSpPr>
        <p:spPr>
          <a:xfrm>
            <a:off x="2148840" y="6409944"/>
            <a:ext cx="9372600" cy="347472"/>
          </a:xfrm>
          <a:prstGeom prst="roundRect">
            <a:avLst>
              <a:gd name="adj" fmla="val 26316"/>
            </a:avLst>
          </a:prstGeom>
          <a:solidFill>
            <a:srgbClr val="F8FAFC"/>
          </a:solidFill>
          <a:ln w="7620">
            <a:solidFill>
              <a:srgbClr val="D9E2EC"/>
            </a:solidFill>
            <a:prstDash val="solid"/>
          </a:ln>
        </p:spPr>
      </p:sp>
      <p:sp>
        <p:nvSpPr>
          <p:cNvPr id="211" name="Text 209"/>
          <p:cNvSpPr/>
          <p:nvPr/>
        </p:nvSpPr>
        <p:spPr>
          <a:xfrm>
            <a:off x="2350008" y="6510528"/>
            <a:ext cx="530352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20" dirty="0">
                <a:solidFill>
                  <a:srgbClr val="64748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还有 24 个项目可通过状态、负责人、部门或是否超期快速筛选。</a:t>
            </a:r>
            <a:endParaRPr lang="en-US" sz="620" dirty="0"/>
          </a:p>
        </p:txBody>
      </p:sp>
      <p:sp>
        <p:nvSpPr>
          <p:cNvPr id="212" name="Shape 210"/>
          <p:cNvSpPr/>
          <p:nvPr/>
        </p:nvSpPr>
        <p:spPr>
          <a:xfrm>
            <a:off x="10424160" y="6483096"/>
            <a:ext cx="749808" cy="182880"/>
          </a:xfrm>
          <a:prstGeom prst="roundRect">
            <a:avLst>
              <a:gd name="adj" fmla="val 60000"/>
            </a:avLst>
          </a:prstGeom>
          <a:solidFill>
            <a:srgbClr val="DBEAFE"/>
          </a:solidFill>
          <a:ln w="7620">
            <a:solidFill>
              <a:srgbClr val="DBEAFE"/>
            </a:solidFill>
            <a:prstDash val="solid"/>
          </a:ln>
        </p:spPr>
      </p:sp>
      <p:sp>
        <p:nvSpPr>
          <p:cNvPr id="213" name="Text 211"/>
          <p:cNvSpPr/>
          <p:nvPr/>
        </p:nvSpPr>
        <p:spPr>
          <a:xfrm>
            <a:off x="10424160" y="6487668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580" b="1" dirty="0">
                <a:solidFill>
                  <a:srgbClr val="2563E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查看全部项目</a:t>
            </a:r>
            <a:endParaRPr lang="en-US" sz="580" dirty="0"/>
          </a:p>
        </p:txBody>
      </p:sp>
      <p:sp>
        <p:nvSpPr>
          <p:cNvPr id="214" name="Text 212"/>
          <p:cNvSpPr/>
          <p:nvPr/>
        </p:nvSpPr>
        <p:spPr>
          <a:xfrm>
            <a:off x="11567160" y="6492240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05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6766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05｜项目列表与筛选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02920" y="786384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项目列表负责“检索与进入”，不再承载全部流程细节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02920" y="1143000"/>
            <a:ext cx="11201400" cy="0"/>
          </a:xfrm>
          <a:prstGeom prst="line">
            <a:avLst/>
          </a:prstGeom>
          <a:noFill/>
          <a:ln w="8890">
            <a:solidFill>
              <a:srgbClr val="D9E2EC"/>
            </a:solidFill>
            <a:prstDash val="solid"/>
            <a:headEnd type="none"/>
            <a:tailEnd type="none"/>
          </a:ln>
        </p:spPr>
      </p:sp>
      <p:sp>
        <p:nvSpPr>
          <p:cNvPr id="5" name="Shape 3"/>
          <p:cNvSpPr/>
          <p:nvPr/>
        </p:nvSpPr>
        <p:spPr>
          <a:xfrm>
            <a:off x="502920" y="1051560"/>
            <a:ext cx="11201400" cy="5623560"/>
          </a:xfrm>
          <a:prstGeom prst="roundRect">
            <a:avLst>
              <a:gd name="adj" fmla="val 2602"/>
            </a:avLst>
          </a:prstGeom>
          <a:solidFill>
            <a:srgbClr val="FFFFFF"/>
          </a:solidFill>
          <a:ln w="7620">
            <a:solidFill>
              <a:srgbClr val="D9E2EC"/>
            </a:solidFill>
            <a:prstDash val="solid"/>
          </a:ln>
          <a:effectLst>
            <a:outerShdw sx="100000" sy="100000" kx="0" ky="0" algn="bl" rotWithShape="0" blurRad="1.2587618744067e+25" dist="1.6783491658756e+25" dir="2.09952e+30">
              <a:srgbClr val="CBD5E1">
                <a:alpha val="2.2e+29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02920" y="1051560"/>
            <a:ext cx="11201400" cy="438912"/>
          </a:xfrm>
          <a:prstGeom prst="roundRect">
            <a:avLst>
              <a:gd name="adj" fmla="val 33333"/>
            </a:avLst>
          </a:prstGeom>
          <a:solidFill>
            <a:srgbClr val="EFF6FF"/>
          </a:solidFill>
          <a:ln w="7620">
            <a:solidFill>
              <a:srgbClr val="D9E2E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04088" y="1216152"/>
            <a:ext cx="109728" cy="109728"/>
          </a:xfrm>
          <a:prstGeom prst="ellipse">
            <a:avLst/>
          </a:prstGeom>
          <a:solidFill>
            <a:srgbClr val="F87171"/>
          </a:solidFill>
          <a:ln w="6350">
            <a:solidFill>
              <a:srgbClr val="F8717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86968" y="1216152"/>
            <a:ext cx="109728" cy="109728"/>
          </a:xfrm>
          <a:prstGeom prst="ellipse">
            <a:avLst/>
          </a:prstGeom>
          <a:solidFill>
            <a:srgbClr val="FBBF24"/>
          </a:solidFill>
          <a:ln w="6350">
            <a:solidFill>
              <a:srgbClr val="FBBF2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69848" y="1216152"/>
            <a:ext cx="109728" cy="109728"/>
          </a:xfrm>
          <a:prstGeom prst="ellipse">
            <a:avLst/>
          </a:prstGeom>
          <a:solidFill>
            <a:srgbClr val="34D399"/>
          </a:solidFill>
          <a:ln w="6350">
            <a:solidFill>
              <a:srgbClr val="34D39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344168" y="1170432"/>
            <a:ext cx="10104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项目管理 / 项目列表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502920" y="1490472"/>
            <a:ext cx="1417320" cy="5184648"/>
          </a:xfrm>
          <a:prstGeom prst="rect">
            <a:avLst>
              <a:gd name="adj" fmla="val 5161"/>
            </a:avLst>
          </a:prstGeom>
          <a:solidFill>
            <a:srgbClr val="0F172A"/>
          </a:solidFill>
          <a:ln w="7620">
            <a:solidFill>
              <a:srgbClr val="0F172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67512" y="1673352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颜色开发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67512" y="1929384"/>
            <a:ext cx="1143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60" dirty="0">
                <a:solidFill>
                  <a:srgbClr val="CBD5E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项目管理系统</a:t>
            </a:r>
            <a:endParaRPr lang="en-US" sz="760" dirty="0"/>
          </a:p>
        </p:txBody>
      </p:sp>
      <p:sp>
        <p:nvSpPr>
          <p:cNvPr id="14" name="Shape 12"/>
          <p:cNvSpPr/>
          <p:nvPr/>
        </p:nvSpPr>
        <p:spPr>
          <a:xfrm>
            <a:off x="621792" y="2386584"/>
            <a:ext cx="1179576" cy="301752"/>
          </a:xfrm>
          <a:prstGeom prst="roundRect">
            <a:avLst>
              <a:gd name="adj" fmla="val 24242"/>
            </a:avLst>
          </a:prstGeom>
          <a:solidFill>
            <a:srgbClr val="0F172A"/>
          </a:solidFill>
          <a:ln w="7620">
            <a:solidFill>
              <a:srgbClr val="0F172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58952" y="2450592"/>
            <a:ext cx="10058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CBD5E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工作台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621792" y="2807208"/>
            <a:ext cx="1179576" cy="301752"/>
          </a:xfrm>
          <a:prstGeom prst="roundRect">
            <a:avLst>
              <a:gd name="adj" fmla="val 24242"/>
            </a:avLst>
          </a:prstGeom>
          <a:solidFill>
            <a:srgbClr val="2563EB"/>
          </a:solidFill>
          <a:ln w="7620">
            <a:solidFill>
              <a:srgbClr val="2563E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58952" y="2871216"/>
            <a:ext cx="10058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项目管理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621792" y="3227832"/>
            <a:ext cx="1179576" cy="301752"/>
          </a:xfrm>
          <a:prstGeom prst="roundRect">
            <a:avLst>
              <a:gd name="adj" fmla="val 24242"/>
            </a:avLst>
          </a:prstGeom>
          <a:solidFill>
            <a:srgbClr val="0F172A"/>
          </a:solidFill>
          <a:ln w="7620">
            <a:solidFill>
              <a:srgbClr val="0F172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58952" y="3291840"/>
            <a:ext cx="10058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CBD5E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工序管理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621792" y="3648456"/>
            <a:ext cx="1179576" cy="301752"/>
          </a:xfrm>
          <a:prstGeom prst="roundRect">
            <a:avLst>
              <a:gd name="adj" fmla="val 24242"/>
            </a:avLst>
          </a:prstGeom>
          <a:solidFill>
            <a:srgbClr val="0F172A"/>
          </a:solidFill>
          <a:ln w="7620">
            <a:solidFill>
              <a:srgbClr val="0F172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58952" y="3712464"/>
            <a:ext cx="10058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CBD5E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材料中心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621792" y="4069080"/>
            <a:ext cx="1179576" cy="301752"/>
          </a:xfrm>
          <a:prstGeom prst="roundRect">
            <a:avLst>
              <a:gd name="adj" fmla="val 24242"/>
            </a:avLst>
          </a:prstGeom>
          <a:solidFill>
            <a:srgbClr val="0F172A"/>
          </a:solidFill>
          <a:ln w="7620">
            <a:solidFill>
              <a:srgbClr val="0F172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58952" y="4133088"/>
            <a:ext cx="10058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CBD5E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月度评审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621792" y="4489704"/>
            <a:ext cx="1179576" cy="301752"/>
          </a:xfrm>
          <a:prstGeom prst="roundRect">
            <a:avLst>
              <a:gd name="adj" fmla="val 24242"/>
            </a:avLst>
          </a:prstGeom>
          <a:solidFill>
            <a:srgbClr val="0F172A"/>
          </a:solidFill>
          <a:ln w="7620">
            <a:solidFill>
              <a:srgbClr val="0F172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58952" y="4553712"/>
            <a:ext cx="10058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CBD5E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数据中心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621792" y="4910328"/>
            <a:ext cx="1179576" cy="301752"/>
          </a:xfrm>
          <a:prstGeom prst="roundRect">
            <a:avLst>
              <a:gd name="adj" fmla="val 24242"/>
            </a:avLst>
          </a:prstGeom>
          <a:solidFill>
            <a:srgbClr val="0F172A"/>
          </a:solidFill>
          <a:ln w="7620">
            <a:solidFill>
              <a:srgbClr val="0F172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58952" y="4974336"/>
            <a:ext cx="10058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CBD5E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系统设置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1920240" y="1490472"/>
            <a:ext cx="9784080" cy="512064"/>
          </a:xfrm>
          <a:prstGeom prst="rect">
            <a:avLst>
              <a:gd name="adj" fmla="val 14286"/>
            </a:avLst>
          </a:prstGeom>
          <a:solidFill>
            <a:srgbClr val="FFFFFF"/>
          </a:solidFill>
          <a:ln w="7620">
            <a:solidFill>
              <a:srgbClr val="D9E2E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212848" y="1645920"/>
            <a:ext cx="1920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20" dirty="0">
                <a:solidFill>
                  <a:srgbClr val="94A3B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搜索项目 / 颜色 / 负责人</a:t>
            </a:r>
            <a:endParaRPr lang="en-US" sz="720" dirty="0"/>
          </a:p>
        </p:txBody>
      </p:sp>
      <p:sp>
        <p:nvSpPr>
          <p:cNvPr id="30" name="Shape 28"/>
          <p:cNvSpPr/>
          <p:nvPr/>
        </p:nvSpPr>
        <p:spPr>
          <a:xfrm>
            <a:off x="9784080" y="1600200"/>
            <a:ext cx="685800" cy="274320"/>
          </a:xfrm>
          <a:prstGeom prst="roundRect">
            <a:avLst>
              <a:gd name="adj" fmla="val 26667"/>
            </a:avLst>
          </a:prstGeom>
          <a:solidFill>
            <a:srgbClr val="DBEAFE"/>
          </a:solidFill>
          <a:ln w="7620">
            <a:solidFill>
              <a:srgbClr val="DBEAFE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9838944" y="1655064"/>
            <a:ext cx="57607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60" b="1" dirty="0">
                <a:solidFill>
                  <a:srgbClr val="2563E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立即刷新</a:t>
            </a:r>
            <a:endParaRPr lang="en-US" sz="660" dirty="0"/>
          </a:p>
        </p:txBody>
      </p:sp>
      <p:sp>
        <p:nvSpPr>
          <p:cNvPr id="32" name="Text 30"/>
          <p:cNvSpPr/>
          <p:nvPr/>
        </p:nvSpPr>
        <p:spPr>
          <a:xfrm>
            <a:off x="10561320" y="1645920"/>
            <a:ext cx="9601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80" dirty="0">
                <a:solidFill>
                  <a:srgbClr val="64748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最近更新 14:32</a:t>
            </a:r>
            <a:endParaRPr lang="en-US" sz="680" dirty="0"/>
          </a:p>
        </p:txBody>
      </p:sp>
      <p:sp>
        <p:nvSpPr>
          <p:cNvPr id="33" name="Text 31"/>
          <p:cNvSpPr/>
          <p:nvPr/>
        </p:nvSpPr>
        <p:spPr>
          <a:xfrm>
            <a:off x="2148840" y="214884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项目列表</a:t>
            </a:r>
            <a:endParaRPr lang="en-US" sz="1400" dirty="0"/>
          </a:p>
        </p:txBody>
      </p:sp>
      <p:sp>
        <p:nvSpPr>
          <p:cNvPr id="34" name="Shape 32"/>
          <p:cNvSpPr/>
          <p:nvPr/>
        </p:nvSpPr>
        <p:spPr>
          <a:xfrm>
            <a:off x="9281160" y="2185416"/>
            <a:ext cx="685800" cy="219456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 w="7620">
            <a:solidFill>
              <a:srgbClr val="2563E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9281160" y="2189988"/>
            <a:ext cx="685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新建项目</a:t>
            </a:r>
            <a:endParaRPr lang="en-US" sz="650" dirty="0"/>
          </a:p>
        </p:txBody>
      </p:sp>
      <p:sp>
        <p:nvSpPr>
          <p:cNvPr id="36" name="Shape 34"/>
          <p:cNvSpPr/>
          <p:nvPr/>
        </p:nvSpPr>
        <p:spPr>
          <a:xfrm>
            <a:off x="2148840" y="2587752"/>
            <a:ext cx="9372600" cy="502920"/>
          </a:xfrm>
          <a:prstGeom prst="roundRect">
            <a:avLst>
              <a:gd name="adj" fmla="val 18182"/>
            </a:avLst>
          </a:prstGeom>
          <a:solidFill>
            <a:srgbClr val="F8FAFC"/>
          </a:solidFill>
          <a:ln w="7620">
            <a:solidFill>
              <a:srgbClr val="D9E2EC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2313432" y="2715768"/>
            <a:ext cx="1078992" cy="228600"/>
          </a:xfrm>
          <a:prstGeom prst="roundRect">
            <a:avLst>
              <a:gd name="adj" fmla="val 24000"/>
            </a:avLst>
          </a:prstGeom>
          <a:solidFill>
            <a:srgbClr val="FFFFFF"/>
          </a:solidFill>
          <a:ln w="7620">
            <a:solidFill>
              <a:srgbClr val="D9E2EC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2386584" y="2770632"/>
            <a:ext cx="914400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580" dirty="0">
                <a:solidFill>
                  <a:srgbClr val="64748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关键词</a:t>
            </a:r>
            <a:endParaRPr lang="en-US" sz="580" dirty="0"/>
          </a:p>
        </p:txBody>
      </p:sp>
      <p:sp>
        <p:nvSpPr>
          <p:cNvPr id="39" name="Shape 37"/>
          <p:cNvSpPr/>
          <p:nvPr/>
        </p:nvSpPr>
        <p:spPr>
          <a:xfrm>
            <a:off x="3593592" y="2715768"/>
            <a:ext cx="1078992" cy="228600"/>
          </a:xfrm>
          <a:prstGeom prst="roundRect">
            <a:avLst>
              <a:gd name="adj" fmla="val 24000"/>
            </a:avLst>
          </a:prstGeom>
          <a:solidFill>
            <a:srgbClr val="FFFFFF"/>
          </a:solidFill>
          <a:ln w="7620">
            <a:solidFill>
              <a:srgbClr val="D9E2EC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666744" y="2770632"/>
            <a:ext cx="914400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580" dirty="0">
                <a:solidFill>
                  <a:srgbClr val="64748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项目状态</a:t>
            </a:r>
            <a:endParaRPr lang="en-US" sz="580" dirty="0"/>
          </a:p>
        </p:txBody>
      </p:sp>
      <p:sp>
        <p:nvSpPr>
          <p:cNvPr id="41" name="Shape 39"/>
          <p:cNvSpPr/>
          <p:nvPr/>
        </p:nvSpPr>
        <p:spPr>
          <a:xfrm>
            <a:off x="4873752" y="2715768"/>
            <a:ext cx="1078992" cy="228600"/>
          </a:xfrm>
          <a:prstGeom prst="roundRect">
            <a:avLst>
              <a:gd name="adj" fmla="val 24000"/>
            </a:avLst>
          </a:prstGeom>
          <a:solidFill>
            <a:srgbClr val="FFFFFF"/>
          </a:solidFill>
          <a:ln w="7620">
            <a:solidFill>
              <a:srgbClr val="D9E2EC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946904" y="2770632"/>
            <a:ext cx="914400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580" dirty="0">
                <a:solidFill>
                  <a:srgbClr val="64748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当前工序</a:t>
            </a:r>
            <a:endParaRPr lang="en-US" sz="580" dirty="0"/>
          </a:p>
        </p:txBody>
      </p:sp>
      <p:sp>
        <p:nvSpPr>
          <p:cNvPr id="43" name="Shape 41"/>
          <p:cNvSpPr/>
          <p:nvPr/>
        </p:nvSpPr>
        <p:spPr>
          <a:xfrm>
            <a:off x="6153912" y="2715768"/>
            <a:ext cx="1078992" cy="228600"/>
          </a:xfrm>
          <a:prstGeom prst="roundRect">
            <a:avLst>
              <a:gd name="adj" fmla="val 24000"/>
            </a:avLst>
          </a:prstGeom>
          <a:solidFill>
            <a:srgbClr val="FFFFFF"/>
          </a:solidFill>
          <a:ln w="7620">
            <a:solidFill>
              <a:srgbClr val="D9E2EC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227064" y="2770632"/>
            <a:ext cx="914400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580" dirty="0">
                <a:solidFill>
                  <a:srgbClr val="64748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责任部门</a:t>
            </a:r>
            <a:endParaRPr lang="en-US" sz="580" dirty="0"/>
          </a:p>
        </p:txBody>
      </p:sp>
      <p:sp>
        <p:nvSpPr>
          <p:cNvPr id="45" name="Shape 43"/>
          <p:cNvSpPr/>
          <p:nvPr/>
        </p:nvSpPr>
        <p:spPr>
          <a:xfrm>
            <a:off x="7434072" y="2715768"/>
            <a:ext cx="1078992" cy="228600"/>
          </a:xfrm>
          <a:prstGeom prst="roundRect">
            <a:avLst>
              <a:gd name="adj" fmla="val 24000"/>
            </a:avLst>
          </a:prstGeom>
          <a:solidFill>
            <a:srgbClr val="FFFFFF"/>
          </a:solidFill>
          <a:ln w="7620">
            <a:solidFill>
              <a:srgbClr val="D9E2EC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7507224" y="2770632"/>
            <a:ext cx="914400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580" dirty="0">
                <a:solidFill>
                  <a:srgbClr val="64748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负责人</a:t>
            </a:r>
            <a:endParaRPr lang="en-US" sz="580" dirty="0"/>
          </a:p>
        </p:txBody>
      </p:sp>
      <p:sp>
        <p:nvSpPr>
          <p:cNvPr id="47" name="Shape 45"/>
          <p:cNvSpPr/>
          <p:nvPr/>
        </p:nvSpPr>
        <p:spPr>
          <a:xfrm>
            <a:off x="8714232" y="2715768"/>
            <a:ext cx="1078992" cy="228600"/>
          </a:xfrm>
          <a:prstGeom prst="roundRect">
            <a:avLst>
              <a:gd name="adj" fmla="val 24000"/>
            </a:avLst>
          </a:prstGeom>
          <a:solidFill>
            <a:srgbClr val="FFFFFF"/>
          </a:solidFill>
          <a:ln w="7620">
            <a:solidFill>
              <a:srgbClr val="D9E2EC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8787384" y="2770632"/>
            <a:ext cx="914400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580" dirty="0">
                <a:solidFill>
                  <a:srgbClr val="64748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日期范围</a:t>
            </a:r>
            <a:endParaRPr lang="en-US" sz="580" dirty="0"/>
          </a:p>
        </p:txBody>
      </p:sp>
      <p:sp>
        <p:nvSpPr>
          <p:cNvPr id="49" name="Shape 47"/>
          <p:cNvSpPr/>
          <p:nvPr/>
        </p:nvSpPr>
        <p:spPr>
          <a:xfrm>
            <a:off x="2148840" y="3291840"/>
            <a:ext cx="9372600" cy="3337560"/>
          </a:xfrm>
          <a:prstGeom prst="roundRect">
            <a:avLst>
              <a:gd name="adj" fmla="val 2740"/>
            </a:avLst>
          </a:prstGeom>
          <a:solidFill>
            <a:srgbClr val="FFFFFF"/>
          </a:solidFill>
          <a:ln w="7620">
            <a:solidFill>
              <a:srgbClr val="D9E2EC"/>
            </a:solidFill>
            <a:prstDash val="solid"/>
          </a:ln>
          <a:effectLst>
            <a:outerShdw sx="100000" sy="100000" kx="0" ky="0" algn="bl" rotWithShape="0" blurRad="2.0480374952194813e+119" dist="4.0960749904389626e+119" dir="1.6580543979055002e+140">
              <a:srgbClr val="CBD5E1">
                <a:alpha val="1.1999999999999999e+144"/>
              </a:srgbClr>
            </a:outerShdw>
          </a:effectLst>
        </p:spPr>
      </p:sp>
      <p:sp>
        <p:nvSpPr>
          <p:cNvPr id="50" name="Shape 48"/>
          <p:cNvSpPr/>
          <p:nvPr/>
        </p:nvSpPr>
        <p:spPr>
          <a:xfrm>
            <a:off x="2148840" y="3291840"/>
            <a:ext cx="9372600" cy="556260"/>
          </a:xfrm>
          <a:prstGeom prst="rect">
            <a:avLst>
              <a:gd name="adj" fmla="val 13151"/>
            </a:avLst>
          </a:prstGeom>
          <a:solidFill>
            <a:srgbClr val="F1F5F9"/>
          </a:solidFill>
          <a:ln w="7620">
            <a:solidFill>
              <a:srgbClr val="F1F5F9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2194560" y="3346704"/>
            <a:ext cx="1970532" cy="4831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40" b="1" dirty="0">
                <a:solidFill>
                  <a:srgbClr val="64748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项目/颜色</a:t>
            </a:r>
            <a:endParaRPr lang="en-US" sz="640" dirty="0"/>
          </a:p>
        </p:txBody>
      </p:sp>
      <p:sp>
        <p:nvSpPr>
          <p:cNvPr id="52" name="Text 50"/>
          <p:cNvSpPr/>
          <p:nvPr/>
        </p:nvSpPr>
        <p:spPr>
          <a:xfrm>
            <a:off x="4256532" y="3346704"/>
            <a:ext cx="1595628" cy="4831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40" b="1" dirty="0">
                <a:solidFill>
                  <a:srgbClr val="64748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当前工序</a:t>
            </a:r>
            <a:endParaRPr lang="en-US" sz="640" dirty="0"/>
          </a:p>
        </p:txBody>
      </p:sp>
      <p:sp>
        <p:nvSpPr>
          <p:cNvPr id="53" name="Text 51"/>
          <p:cNvSpPr/>
          <p:nvPr/>
        </p:nvSpPr>
        <p:spPr>
          <a:xfrm>
            <a:off x="5943600" y="3346704"/>
            <a:ext cx="1033272" cy="4831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40" b="1" dirty="0">
                <a:solidFill>
                  <a:srgbClr val="64748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责任人</a:t>
            </a:r>
            <a:endParaRPr lang="en-US" sz="640" dirty="0"/>
          </a:p>
        </p:txBody>
      </p:sp>
      <p:sp>
        <p:nvSpPr>
          <p:cNvPr id="54" name="Text 52"/>
          <p:cNvSpPr/>
          <p:nvPr/>
        </p:nvSpPr>
        <p:spPr>
          <a:xfrm>
            <a:off x="7068312" y="3346704"/>
            <a:ext cx="1126998" cy="4831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40" b="1" dirty="0">
                <a:solidFill>
                  <a:srgbClr val="64748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截止时间</a:t>
            </a:r>
            <a:endParaRPr lang="en-US" sz="640" dirty="0"/>
          </a:p>
        </p:txBody>
      </p:sp>
      <p:sp>
        <p:nvSpPr>
          <p:cNvPr id="55" name="Text 53"/>
          <p:cNvSpPr/>
          <p:nvPr/>
        </p:nvSpPr>
        <p:spPr>
          <a:xfrm>
            <a:off x="8286750" y="3346704"/>
            <a:ext cx="1033272" cy="4831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40" b="1" dirty="0">
                <a:solidFill>
                  <a:srgbClr val="64748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状态</a:t>
            </a:r>
            <a:endParaRPr lang="en-US" sz="640" dirty="0"/>
          </a:p>
        </p:txBody>
      </p:sp>
      <p:sp>
        <p:nvSpPr>
          <p:cNvPr id="56" name="Text 54"/>
          <p:cNvSpPr/>
          <p:nvPr/>
        </p:nvSpPr>
        <p:spPr>
          <a:xfrm>
            <a:off x="9411462" y="3346704"/>
            <a:ext cx="845820" cy="4831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40" b="1" dirty="0">
                <a:solidFill>
                  <a:srgbClr val="64748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进度</a:t>
            </a:r>
            <a:endParaRPr lang="en-US" sz="640" dirty="0"/>
          </a:p>
        </p:txBody>
      </p:sp>
      <p:sp>
        <p:nvSpPr>
          <p:cNvPr id="57" name="Text 55"/>
          <p:cNvSpPr/>
          <p:nvPr/>
        </p:nvSpPr>
        <p:spPr>
          <a:xfrm>
            <a:off x="10348722" y="3346704"/>
            <a:ext cx="1126998" cy="4831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40" b="1" dirty="0">
                <a:solidFill>
                  <a:srgbClr val="64748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操作</a:t>
            </a:r>
            <a:endParaRPr lang="en-US" sz="640" dirty="0"/>
          </a:p>
        </p:txBody>
      </p:sp>
      <p:sp>
        <p:nvSpPr>
          <p:cNvPr id="58" name="Shape 56"/>
          <p:cNvSpPr/>
          <p:nvPr/>
        </p:nvSpPr>
        <p:spPr>
          <a:xfrm>
            <a:off x="2148840" y="3848100"/>
            <a:ext cx="9372600" cy="0"/>
          </a:xfrm>
          <a:prstGeom prst="line">
            <a:avLst/>
          </a:prstGeom>
          <a:noFill/>
          <a:ln w="5715">
            <a:solidFill>
              <a:srgbClr val="E5E7EB"/>
            </a:solidFill>
            <a:prstDash val="solid"/>
            <a:headEnd type="none"/>
            <a:tailEnd type="none"/>
          </a:ln>
        </p:spPr>
      </p:sp>
      <p:sp>
        <p:nvSpPr>
          <p:cNvPr id="59" name="Text 57"/>
          <p:cNvSpPr/>
          <p:nvPr/>
        </p:nvSpPr>
        <p:spPr>
          <a:xfrm>
            <a:off x="2194560" y="3893820"/>
            <a:ext cx="1970532" cy="4739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20" dirty="0">
                <a:solidFill>
                  <a:srgbClr val="0F172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GF20250216 深海蓝</a:t>
            </a:r>
            <a:endParaRPr lang="en-US" sz="620" dirty="0"/>
          </a:p>
        </p:txBody>
      </p:sp>
      <p:sp>
        <p:nvSpPr>
          <p:cNvPr id="60" name="Text 58"/>
          <p:cNvSpPr/>
          <p:nvPr/>
        </p:nvSpPr>
        <p:spPr>
          <a:xfrm>
            <a:off x="4256532" y="3893820"/>
            <a:ext cx="1595628" cy="4739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20" dirty="0">
                <a:solidFill>
                  <a:srgbClr val="64748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第6步 涂料采购</a:t>
            </a:r>
            <a:endParaRPr lang="en-US" sz="620" dirty="0"/>
          </a:p>
        </p:txBody>
      </p:sp>
      <p:sp>
        <p:nvSpPr>
          <p:cNvPr id="61" name="Text 59"/>
          <p:cNvSpPr/>
          <p:nvPr/>
        </p:nvSpPr>
        <p:spPr>
          <a:xfrm>
            <a:off x="5943600" y="3893820"/>
            <a:ext cx="1033272" cy="4739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20" dirty="0">
                <a:solidFill>
                  <a:srgbClr val="64748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张七巧</a:t>
            </a:r>
            <a:endParaRPr lang="en-US" sz="620" dirty="0"/>
          </a:p>
        </p:txBody>
      </p:sp>
      <p:sp>
        <p:nvSpPr>
          <p:cNvPr id="62" name="Text 60"/>
          <p:cNvSpPr/>
          <p:nvPr/>
        </p:nvSpPr>
        <p:spPr>
          <a:xfrm>
            <a:off x="7068312" y="3893820"/>
            <a:ext cx="1126998" cy="4739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20" dirty="0">
                <a:solidFill>
                  <a:srgbClr val="64748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2025/10/27</a:t>
            </a:r>
            <a:endParaRPr lang="en-US" sz="620" dirty="0"/>
          </a:p>
        </p:txBody>
      </p:sp>
      <p:sp>
        <p:nvSpPr>
          <p:cNvPr id="63" name="Shape 61"/>
          <p:cNvSpPr/>
          <p:nvPr/>
        </p:nvSpPr>
        <p:spPr>
          <a:xfrm>
            <a:off x="8286750" y="3939540"/>
            <a:ext cx="621792" cy="182880"/>
          </a:xfrm>
          <a:prstGeom prst="roundRect">
            <a:avLst>
              <a:gd name="adj" fmla="val 60000"/>
            </a:avLst>
          </a:prstGeom>
          <a:solidFill>
            <a:srgbClr val="DBEAFE"/>
          </a:solidFill>
          <a:ln w="7620">
            <a:solidFill>
              <a:srgbClr val="DBEAFE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8286750" y="3944112"/>
            <a:ext cx="6217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20" b="1" dirty="0">
                <a:solidFill>
                  <a:srgbClr val="2563E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进行中</a:t>
            </a:r>
            <a:endParaRPr lang="en-US" sz="620" dirty="0"/>
          </a:p>
        </p:txBody>
      </p:sp>
      <p:sp>
        <p:nvSpPr>
          <p:cNvPr id="65" name="Text 63"/>
          <p:cNvSpPr/>
          <p:nvPr/>
        </p:nvSpPr>
        <p:spPr>
          <a:xfrm>
            <a:off x="9411462" y="3893820"/>
            <a:ext cx="845820" cy="4739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20" dirty="0">
                <a:solidFill>
                  <a:srgbClr val="64748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42%</a:t>
            </a:r>
            <a:endParaRPr lang="en-US" sz="620" dirty="0"/>
          </a:p>
        </p:txBody>
      </p:sp>
      <p:sp>
        <p:nvSpPr>
          <p:cNvPr id="66" name="Text 64"/>
          <p:cNvSpPr/>
          <p:nvPr/>
        </p:nvSpPr>
        <p:spPr>
          <a:xfrm>
            <a:off x="10348722" y="3893820"/>
            <a:ext cx="1126998" cy="4739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20" dirty="0">
                <a:solidFill>
                  <a:srgbClr val="64748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详情</a:t>
            </a:r>
            <a:endParaRPr lang="en-US" sz="620" dirty="0"/>
          </a:p>
        </p:txBody>
      </p:sp>
      <p:sp>
        <p:nvSpPr>
          <p:cNvPr id="67" name="Shape 65"/>
          <p:cNvSpPr/>
          <p:nvPr/>
        </p:nvSpPr>
        <p:spPr>
          <a:xfrm>
            <a:off x="2148840" y="4404360"/>
            <a:ext cx="9372600" cy="556260"/>
          </a:xfrm>
          <a:prstGeom prst="rect">
            <a:avLst>
              <a:gd name="adj" fmla="val 13151"/>
            </a:avLst>
          </a:prstGeom>
          <a:solidFill>
            <a:srgbClr val="FAFBFC"/>
          </a:solidFill>
          <a:ln w="7620">
            <a:solidFill>
              <a:srgbClr val="FAFBFC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2148840" y="4404360"/>
            <a:ext cx="9372600" cy="0"/>
          </a:xfrm>
          <a:prstGeom prst="line">
            <a:avLst/>
          </a:prstGeom>
          <a:noFill/>
          <a:ln w="5715">
            <a:solidFill>
              <a:srgbClr val="E5E7EB"/>
            </a:solidFill>
            <a:prstDash val="solid"/>
            <a:headEnd type="none"/>
            <a:tailEnd type="none"/>
          </a:ln>
        </p:spPr>
      </p:sp>
      <p:sp>
        <p:nvSpPr>
          <p:cNvPr id="69" name="Text 67"/>
          <p:cNvSpPr/>
          <p:nvPr/>
        </p:nvSpPr>
        <p:spPr>
          <a:xfrm>
            <a:off x="2194560" y="4450080"/>
            <a:ext cx="1970532" cy="4739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20" dirty="0">
                <a:solidFill>
                  <a:srgbClr val="0F172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GF20250217 熔岩红</a:t>
            </a:r>
            <a:endParaRPr lang="en-US" sz="620" dirty="0"/>
          </a:p>
        </p:txBody>
      </p:sp>
      <p:sp>
        <p:nvSpPr>
          <p:cNvPr id="70" name="Text 68"/>
          <p:cNvSpPr/>
          <p:nvPr/>
        </p:nvSpPr>
        <p:spPr>
          <a:xfrm>
            <a:off x="4256532" y="4450080"/>
            <a:ext cx="1595628" cy="4739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20" dirty="0">
                <a:solidFill>
                  <a:srgbClr val="64748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第11步 样车试制</a:t>
            </a:r>
            <a:endParaRPr lang="en-US" sz="620" dirty="0"/>
          </a:p>
        </p:txBody>
      </p:sp>
      <p:sp>
        <p:nvSpPr>
          <p:cNvPr id="71" name="Text 69"/>
          <p:cNvSpPr/>
          <p:nvPr/>
        </p:nvSpPr>
        <p:spPr>
          <a:xfrm>
            <a:off x="5943600" y="4450080"/>
            <a:ext cx="1033272" cy="4739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20" dirty="0">
                <a:solidFill>
                  <a:srgbClr val="64748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过常保</a:t>
            </a:r>
            <a:endParaRPr lang="en-US" sz="620" dirty="0"/>
          </a:p>
        </p:txBody>
      </p:sp>
      <p:sp>
        <p:nvSpPr>
          <p:cNvPr id="72" name="Text 70"/>
          <p:cNvSpPr/>
          <p:nvPr/>
        </p:nvSpPr>
        <p:spPr>
          <a:xfrm>
            <a:off x="7068312" y="4450080"/>
            <a:ext cx="1126998" cy="4739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20" dirty="0">
                <a:solidFill>
                  <a:srgbClr val="64748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2025/10/17</a:t>
            </a:r>
            <a:endParaRPr lang="en-US" sz="620" dirty="0"/>
          </a:p>
        </p:txBody>
      </p:sp>
      <p:sp>
        <p:nvSpPr>
          <p:cNvPr id="73" name="Shape 71"/>
          <p:cNvSpPr/>
          <p:nvPr/>
        </p:nvSpPr>
        <p:spPr>
          <a:xfrm>
            <a:off x="8286750" y="4495800"/>
            <a:ext cx="621792" cy="182880"/>
          </a:xfrm>
          <a:prstGeom prst="roundRect">
            <a:avLst>
              <a:gd name="adj" fmla="val 60000"/>
            </a:avLst>
          </a:prstGeom>
          <a:solidFill>
            <a:srgbClr val="EDE9FE"/>
          </a:solidFill>
          <a:ln w="7620">
            <a:solidFill>
              <a:srgbClr val="EDE9FE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8286750" y="4500372"/>
            <a:ext cx="6217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20" b="1" dirty="0">
                <a:solidFill>
                  <a:srgbClr val="8B5CF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已退回</a:t>
            </a:r>
            <a:endParaRPr lang="en-US" sz="620" dirty="0"/>
          </a:p>
        </p:txBody>
      </p:sp>
      <p:sp>
        <p:nvSpPr>
          <p:cNvPr id="75" name="Text 73"/>
          <p:cNvSpPr/>
          <p:nvPr/>
        </p:nvSpPr>
        <p:spPr>
          <a:xfrm>
            <a:off x="9411462" y="4450080"/>
            <a:ext cx="845820" cy="4739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20" dirty="0">
                <a:solidFill>
                  <a:srgbClr val="64748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58%</a:t>
            </a:r>
            <a:endParaRPr lang="en-US" sz="620" dirty="0"/>
          </a:p>
        </p:txBody>
      </p:sp>
      <p:sp>
        <p:nvSpPr>
          <p:cNvPr id="76" name="Text 74"/>
          <p:cNvSpPr/>
          <p:nvPr/>
        </p:nvSpPr>
        <p:spPr>
          <a:xfrm>
            <a:off x="10348722" y="4450080"/>
            <a:ext cx="1126998" cy="4739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20" dirty="0">
                <a:solidFill>
                  <a:srgbClr val="64748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详情</a:t>
            </a:r>
            <a:endParaRPr lang="en-US" sz="620" dirty="0"/>
          </a:p>
        </p:txBody>
      </p:sp>
      <p:sp>
        <p:nvSpPr>
          <p:cNvPr id="77" name="Shape 75"/>
          <p:cNvSpPr/>
          <p:nvPr/>
        </p:nvSpPr>
        <p:spPr>
          <a:xfrm>
            <a:off x="2148840" y="4960620"/>
            <a:ext cx="9372600" cy="0"/>
          </a:xfrm>
          <a:prstGeom prst="line">
            <a:avLst/>
          </a:prstGeom>
          <a:noFill/>
          <a:ln w="5715">
            <a:solidFill>
              <a:srgbClr val="E5E7EB"/>
            </a:solidFill>
            <a:prstDash val="solid"/>
            <a:headEnd type="none"/>
            <a:tailEnd type="none"/>
          </a:ln>
        </p:spPr>
      </p:sp>
      <p:sp>
        <p:nvSpPr>
          <p:cNvPr id="78" name="Text 76"/>
          <p:cNvSpPr/>
          <p:nvPr/>
        </p:nvSpPr>
        <p:spPr>
          <a:xfrm>
            <a:off x="2194560" y="5006340"/>
            <a:ext cx="1970532" cy="4739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20" dirty="0">
                <a:solidFill>
                  <a:srgbClr val="0F172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GF20250218 珍珠白</a:t>
            </a:r>
            <a:endParaRPr lang="en-US" sz="620" dirty="0"/>
          </a:p>
        </p:txBody>
      </p:sp>
      <p:sp>
        <p:nvSpPr>
          <p:cNvPr id="79" name="Text 77"/>
          <p:cNvSpPr/>
          <p:nvPr/>
        </p:nvSpPr>
        <p:spPr>
          <a:xfrm>
            <a:off x="4256532" y="5006340"/>
            <a:ext cx="1595628" cy="4739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20" dirty="0">
                <a:solidFill>
                  <a:srgbClr val="64748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第17步 月度评审</a:t>
            </a:r>
            <a:endParaRPr lang="en-US" sz="620" dirty="0"/>
          </a:p>
        </p:txBody>
      </p:sp>
      <p:sp>
        <p:nvSpPr>
          <p:cNvPr id="80" name="Text 78"/>
          <p:cNvSpPr/>
          <p:nvPr/>
        </p:nvSpPr>
        <p:spPr>
          <a:xfrm>
            <a:off x="5943600" y="5006340"/>
            <a:ext cx="1033272" cy="4739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20" dirty="0">
                <a:solidFill>
                  <a:srgbClr val="64748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李晓晨</a:t>
            </a:r>
            <a:endParaRPr lang="en-US" sz="620" dirty="0"/>
          </a:p>
        </p:txBody>
      </p:sp>
      <p:sp>
        <p:nvSpPr>
          <p:cNvPr id="81" name="Text 79"/>
          <p:cNvSpPr/>
          <p:nvPr/>
        </p:nvSpPr>
        <p:spPr>
          <a:xfrm>
            <a:off x="7068312" y="5006340"/>
            <a:ext cx="1126998" cy="4739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20" dirty="0">
                <a:solidFill>
                  <a:srgbClr val="64748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本月25日</a:t>
            </a:r>
            <a:endParaRPr lang="en-US" sz="620" dirty="0"/>
          </a:p>
        </p:txBody>
      </p:sp>
      <p:sp>
        <p:nvSpPr>
          <p:cNvPr id="82" name="Shape 80"/>
          <p:cNvSpPr/>
          <p:nvPr/>
        </p:nvSpPr>
        <p:spPr>
          <a:xfrm>
            <a:off x="8286750" y="5052060"/>
            <a:ext cx="621792" cy="182880"/>
          </a:xfrm>
          <a:prstGeom prst="roundRect">
            <a:avLst>
              <a:gd name="adj" fmla="val 60000"/>
            </a:avLst>
          </a:prstGeom>
          <a:solidFill>
            <a:srgbClr val="CFFAFE"/>
          </a:solidFill>
          <a:ln w="7620">
            <a:solidFill>
              <a:srgbClr val="CFFAFE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8286750" y="5056632"/>
            <a:ext cx="6217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20" b="1" dirty="0">
                <a:solidFill>
                  <a:srgbClr val="06B6D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月度跟踪</a:t>
            </a:r>
            <a:endParaRPr lang="en-US" sz="620" dirty="0"/>
          </a:p>
        </p:txBody>
      </p:sp>
      <p:sp>
        <p:nvSpPr>
          <p:cNvPr id="84" name="Text 82"/>
          <p:cNvSpPr/>
          <p:nvPr/>
        </p:nvSpPr>
        <p:spPr>
          <a:xfrm>
            <a:off x="9411462" y="5006340"/>
            <a:ext cx="845820" cy="4739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20" dirty="0">
                <a:solidFill>
                  <a:srgbClr val="64748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86%</a:t>
            </a:r>
            <a:endParaRPr lang="en-US" sz="620" dirty="0"/>
          </a:p>
        </p:txBody>
      </p:sp>
      <p:sp>
        <p:nvSpPr>
          <p:cNvPr id="85" name="Text 83"/>
          <p:cNvSpPr/>
          <p:nvPr/>
        </p:nvSpPr>
        <p:spPr>
          <a:xfrm>
            <a:off x="10348722" y="5006340"/>
            <a:ext cx="1126998" cy="4739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20" dirty="0">
                <a:solidFill>
                  <a:srgbClr val="64748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详情</a:t>
            </a:r>
            <a:endParaRPr lang="en-US" sz="620" dirty="0"/>
          </a:p>
        </p:txBody>
      </p:sp>
      <p:sp>
        <p:nvSpPr>
          <p:cNvPr id="86" name="Shape 84"/>
          <p:cNvSpPr/>
          <p:nvPr/>
        </p:nvSpPr>
        <p:spPr>
          <a:xfrm>
            <a:off x="2148840" y="5516880"/>
            <a:ext cx="9372600" cy="556260"/>
          </a:xfrm>
          <a:prstGeom prst="rect">
            <a:avLst>
              <a:gd name="adj" fmla="val 13151"/>
            </a:avLst>
          </a:prstGeom>
          <a:solidFill>
            <a:srgbClr val="FAFBFC"/>
          </a:solidFill>
          <a:ln w="7620">
            <a:solidFill>
              <a:srgbClr val="FAFBFC"/>
            </a:solidFill>
            <a:prstDash val="solid"/>
          </a:ln>
        </p:spPr>
      </p:sp>
      <p:sp>
        <p:nvSpPr>
          <p:cNvPr id="87" name="Shape 85"/>
          <p:cNvSpPr/>
          <p:nvPr/>
        </p:nvSpPr>
        <p:spPr>
          <a:xfrm>
            <a:off x="2148840" y="5516880"/>
            <a:ext cx="9372600" cy="0"/>
          </a:xfrm>
          <a:prstGeom prst="line">
            <a:avLst/>
          </a:prstGeom>
          <a:noFill/>
          <a:ln w="5715">
            <a:solidFill>
              <a:srgbClr val="E5E7EB"/>
            </a:solidFill>
            <a:prstDash val="solid"/>
            <a:headEnd type="none"/>
            <a:tailEnd type="none"/>
          </a:ln>
        </p:spPr>
      </p:sp>
      <p:sp>
        <p:nvSpPr>
          <p:cNvPr id="88" name="Text 86"/>
          <p:cNvSpPr/>
          <p:nvPr/>
        </p:nvSpPr>
        <p:spPr>
          <a:xfrm>
            <a:off x="2194560" y="5562600"/>
            <a:ext cx="1970532" cy="4739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20" dirty="0">
                <a:solidFill>
                  <a:srgbClr val="0F172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GF20250219 砂岩灰</a:t>
            </a:r>
            <a:endParaRPr lang="en-US" sz="620" dirty="0"/>
          </a:p>
        </p:txBody>
      </p:sp>
      <p:sp>
        <p:nvSpPr>
          <p:cNvPr id="89" name="Text 87"/>
          <p:cNvSpPr/>
          <p:nvPr/>
        </p:nvSpPr>
        <p:spPr>
          <a:xfrm>
            <a:off x="4256532" y="5562600"/>
            <a:ext cx="1595628" cy="4739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20" dirty="0">
                <a:solidFill>
                  <a:srgbClr val="64748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第18步 颜色退出</a:t>
            </a:r>
            <a:endParaRPr lang="en-US" sz="620" dirty="0"/>
          </a:p>
        </p:txBody>
      </p:sp>
      <p:sp>
        <p:nvSpPr>
          <p:cNvPr id="90" name="Text 88"/>
          <p:cNvSpPr/>
          <p:nvPr/>
        </p:nvSpPr>
        <p:spPr>
          <a:xfrm>
            <a:off x="5943600" y="5562600"/>
            <a:ext cx="1033272" cy="4739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20" dirty="0">
                <a:solidFill>
                  <a:srgbClr val="64748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刘中伍</a:t>
            </a:r>
            <a:endParaRPr lang="en-US" sz="620" dirty="0"/>
          </a:p>
        </p:txBody>
      </p:sp>
      <p:sp>
        <p:nvSpPr>
          <p:cNvPr id="91" name="Text 89"/>
          <p:cNvSpPr/>
          <p:nvPr/>
        </p:nvSpPr>
        <p:spPr>
          <a:xfrm>
            <a:off x="7068312" y="5562600"/>
            <a:ext cx="1126998" cy="4739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20" dirty="0">
                <a:solidFill>
                  <a:srgbClr val="64748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2026/10/14</a:t>
            </a:r>
            <a:endParaRPr lang="en-US" sz="620" dirty="0"/>
          </a:p>
        </p:txBody>
      </p:sp>
      <p:sp>
        <p:nvSpPr>
          <p:cNvPr id="92" name="Shape 90"/>
          <p:cNvSpPr/>
          <p:nvPr/>
        </p:nvSpPr>
        <p:spPr>
          <a:xfrm>
            <a:off x="8286750" y="5608320"/>
            <a:ext cx="621792" cy="182880"/>
          </a:xfrm>
          <a:prstGeom prst="roundRect">
            <a:avLst>
              <a:gd name="adj" fmla="val 60000"/>
            </a:avLst>
          </a:prstGeom>
          <a:solidFill>
            <a:srgbClr val="FFEDD5"/>
          </a:solidFill>
          <a:ln w="7620">
            <a:solidFill>
              <a:srgbClr val="FFEDD5"/>
            </a:solidFill>
            <a:prstDash val="solid"/>
          </a:ln>
        </p:spPr>
      </p:sp>
      <p:sp>
        <p:nvSpPr>
          <p:cNvPr id="93" name="Text 91"/>
          <p:cNvSpPr/>
          <p:nvPr/>
        </p:nvSpPr>
        <p:spPr>
          <a:xfrm>
            <a:off x="8286750" y="5612892"/>
            <a:ext cx="6217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20" b="1" dirty="0">
                <a:solidFill>
                  <a:srgbClr val="C2410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待退出</a:t>
            </a:r>
            <a:endParaRPr lang="en-US" sz="620" dirty="0"/>
          </a:p>
        </p:txBody>
      </p:sp>
      <p:sp>
        <p:nvSpPr>
          <p:cNvPr id="94" name="Text 92"/>
          <p:cNvSpPr/>
          <p:nvPr/>
        </p:nvSpPr>
        <p:spPr>
          <a:xfrm>
            <a:off x="9411462" y="5562600"/>
            <a:ext cx="845820" cy="4739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20" dirty="0">
                <a:solidFill>
                  <a:srgbClr val="64748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94%</a:t>
            </a:r>
            <a:endParaRPr lang="en-US" sz="620" dirty="0"/>
          </a:p>
        </p:txBody>
      </p:sp>
      <p:sp>
        <p:nvSpPr>
          <p:cNvPr id="95" name="Text 93"/>
          <p:cNvSpPr/>
          <p:nvPr/>
        </p:nvSpPr>
        <p:spPr>
          <a:xfrm>
            <a:off x="10348722" y="5562600"/>
            <a:ext cx="1126998" cy="4739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20" dirty="0">
                <a:solidFill>
                  <a:srgbClr val="64748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详情</a:t>
            </a:r>
            <a:endParaRPr lang="en-US" sz="620" dirty="0"/>
          </a:p>
        </p:txBody>
      </p:sp>
      <p:sp>
        <p:nvSpPr>
          <p:cNvPr id="96" name="Shape 94"/>
          <p:cNvSpPr/>
          <p:nvPr/>
        </p:nvSpPr>
        <p:spPr>
          <a:xfrm>
            <a:off x="2148840" y="6073140"/>
            <a:ext cx="9372600" cy="0"/>
          </a:xfrm>
          <a:prstGeom prst="line">
            <a:avLst/>
          </a:prstGeom>
          <a:noFill/>
          <a:ln w="5715">
            <a:solidFill>
              <a:srgbClr val="E5E7EB"/>
            </a:solidFill>
            <a:prstDash val="solid"/>
            <a:headEnd type="none"/>
            <a:tailEnd type="none"/>
          </a:ln>
        </p:spPr>
      </p:sp>
      <p:sp>
        <p:nvSpPr>
          <p:cNvPr id="97" name="Text 95"/>
          <p:cNvSpPr/>
          <p:nvPr/>
        </p:nvSpPr>
        <p:spPr>
          <a:xfrm>
            <a:off x="2194560" y="6118860"/>
            <a:ext cx="1970532" cy="4739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20" dirty="0">
                <a:solidFill>
                  <a:srgbClr val="0F172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GF20250220 极光银</a:t>
            </a:r>
            <a:endParaRPr lang="en-US" sz="620" dirty="0"/>
          </a:p>
        </p:txBody>
      </p:sp>
      <p:sp>
        <p:nvSpPr>
          <p:cNvPr id="98" name="Text 96"/>
          <p:cNvSpPr/>
          <p:nvPr/>
        </p:nvSpPr>
        <p:spPr>
          <a:xfrm>
            <a:off x="4256532" y="6118860"/>
            <a:ext cx="1595628" cy="4739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20" dirty="0">
                <a:solidFill>
                  <a:srgbClr val="64748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第13步 颜色开发收费</a:t>
            </a:r>
            <a:endParaRPr lang="en-US" sz="620" dirty="0"/>
          </a:p>
        </p:txBody>
      </p:sp>
      <p:sp>
        <p:nvSpPr>
          <p:cNvPr id="99" name="Text 97"/>
          <p:cNvSpPr/>
          <p:nvPr/>
        </p:nvSpPr>
        <p:spPr>
          <a:xfrm>
            <a:off x="5943600" y="6118860"/>
            <a:ext cx="1033272" cy="4739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20" dirty="0">
                <a:solidFill>
                  <a:srgbClr val="64748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孙丽红</a:t>
            </a:r>
            <a:endParaRPr lang="en-US" sz="620" dirty="0"/>
          </a:p>
        </p:txBody>
      </p:sp>
      <p:sp>
        <p:nvSpPr>
          <p:cNvPr id="100" name="Text 98"/>
          <p:cNvSpPr/>
          <p:nvPr/>
        </p:nvSpPr>
        <p:spPr>
          <a:xfrm>
            <a:off x="7068312" y="6118860"/>
            <a:ext cx="1126998" cy="4739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20" dirty="0">
                <a:solidFill>
                  <a:srgbClr val="64748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2025/10/31</a:t>
            </a:r>
            <a:endParaRPr lang="en-US" sz="620" dirty="0"/>
          </a:p>
        </p:txBody>
      </p:sp>
      <p:sp>
        <p:nvSpPr>
          <p:cNvPr id="101" name="Shape 99"/>
          <p:cNvSpPr/>
          <p:nvPr/>
        </p:nvSpPr>
        <p:spPr>
          <a:xfrm>
            <a:off x="8286750" y="6164580"/>
            <a:ext cx="621792" cy="182880"/>
          </a:xfrm>
          <a:prstGeom prst="roundRect">
            <a:avLst>
              <a:gd name="adj" fmla="val 60000"/>
            </a:avLst>
          </a:prstGeom>
          <a:solidFill>
            <a:srgbClr val="FEE2E2"/>
          </a:solidFill>
          <a:ln w="7620">
            <a:solidFill>
              <a:srgbClr val="FEE2E2"/>
            </a:solidFill>
            <a:prstDash val="solid"/>
          </a:ln>
        </p:spPr>
      </p:sp>
      <p:sp>
        <p:nvSpPr>
          <p:cNvPr id="102" name="Text 100"/>
          <p:cNvSpPr/>
          <p:nvPr/>
        </p:nvSpPr>
        <p:spPr>
          <a:xfrm>
            <a:off x="8286750" y="6169152"/>
            <a:ext cx="6217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20" b="1" dirty="0">
                <a:solidFill>
                  <a:srgbClr val="EF444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已逾期</a:t>
            </a:r>
            <a:endParaRPr lang="en-US" sz="620" dirty="0"/>
          </a:p>
        </p:txBody>
      </p:sp>
      <p:sp>
        <p:nvSpPr>
          <p:cNvPr id="103" name="Text 101"/>
          <p:cNvSpPr/>
          <p:nvPr/>
        </p:nvSpPr>
        <p:spPr>
          <a:xfrm>
            <a:off x="9411462" y="6118860"/>
            <a:ext cx="845820" cy="4739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20" dirty="0">
                <a:solidFill>
                  <a:srgbClr val="64748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62%</a:t>
            </a:r>
            <a:endParaRPr lang="en-US" sz="620" dirty="0"/>
          </a:p>
        </p:txBody>
      </p:sp>
      <p:sp>
        <p:nvSpPr>
          <p:cNvPr id="104" name="Text 102"/>
          <p:cNvSpPr/>
          <p:nvPr/>
        </p:nvSpPr>
        <p:spPr>
          <a:xfrm>
            <a:off x="10348722" y="6118860"/>
            <a:ext cx="1126998" cy="4739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20" dirty="0">
                <a:solidFill>
                  <a:srgbClr val="64748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详情</a:t>
            </a:r>
            <a:endParaRPr lang="en-US" sz="620" dirty="0"/>
          </a:p>
        </p:txBody>
      </p:sp>
      <p:sp>
        <p:nvSpPr>
          <p:cNvPr id="105" name="Text 103"/>
          <p:cNvSpPr/>
          <p:nvPr/>
        </p:nvSpPr>
        <p:spPr>
          <a:xfrm>
            <a:off x="2148840" y="6611112"/>
            <a:ext cx="93726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50" dirty="0">
                <a:solidFill>
                  <a:srgbClr val="64748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列表只展示核心字段；工作内容、附件、审计与评审记录进入工序详情抽屉。</a:t>
            </a:r>
            <a:endParaRPr lang="en-US" sz="650" dirty="0"/>
          </a:p>
        </p:txBody>
      </p:sp>
      <p:sp>
        <p:nvSpPr>
          <p:cNvPr id="106" name="Text 104"/>
          <p:cNvSpPr/>
          <p:nvPr/>
        </p:nvSpPr>
        <p:spPr>
          <a:xfrm>
            <a:off x="11567160" y="6492240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06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6766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06｜项目详情：概览页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02920" y="786384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单项目入口展示主数据、当前风险、流程进度与关键下一步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02920" y="1143000"/>
            <a:ext cx="11201400" cy="0"/>
          </a:xfrm>
          <a:prstGeom prst="line">
            <a:avLst/>
          </a:prstGeom>
          <a:noFill/>
          <a:ln w="8890">
            <a:solidFill>
              <a:srgbClr val="D9E2EC"/>
            </a:solidFill>
            <a:prstDash val="solid"/>
            <a:headEnd type="none"/>
            <a:tailEnd type="none"/>
          </a:ln>
        </p:spPr>
      </p:sp>
      <p:sp>
        <p:nvSpPr>
          <p:cNvPr id="5" name="Shape 3"/>
          <p:cNvSpPr/>
          <p:nvPr/>
        </p:nvSpPr>
        <p:spPr>
          <a:xfrm>
            <a:off x="502920" y="1051560"/>
            <a:ext cx="11201400" cy="5623560"/>
          </a:xfrm>
          <a:prstGeom prst="roundRect">
            <a:avLst>
              <a:gd name="adj" fmla="val 2602"/>
            </a:avLst>
          </a:prstGeom>
          <a:solidFill>
            <a:srgbClr val="FFFFFF"/>
          </a:solidFill>
          <a:ln w="7620">
            <a:solidFill>
              <a:srgbClr val="D9E2EC"/>
            </a:solidFill>
            <a:prstDash val="solid"/>
          </a:ln>
          <a:effectLst>
            <a:outerShdw sx="100000" sy="100000" kx="0" ky="0" algn="bl" rotWithShape="0" blurRad="1.598627580496509e+29" dist="2.1315034406620118e+29" dir="1.259712e+35">
              <a:srgbClr val="CBD5E1">
                <a:alpha val="2.2e+34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02920" y="1051560"/>
            <a:ext cx="11201400" cy="438912"/>
          </a:xfrm>
          <a:prstGeom prst="roundRect">
            <a:avLst>
              <a:gd name="adj" fmla="val 33333"/>
            </a:avLst>
          </a:prstGeom>
          <a:solidFill>
            <a:srgbClr val="EFF6FF"/>
          </a:solidFill>
          <a:ln w="7620">
            <a:solidFill>
              <a:srgbClr val="D9E2E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04088" y="1216152"/>
            <a:ext cx="109728" cy="109728"/>
          </a:xfrm>
          <a:prstGeom prst="ellipse">
            <a:avLst/>
          </a:prstGeom>
          <a:solidFill>
            <a:srgbClr val="F87171"/>
          </a:solidFill>
          <a:ln w="6350">
            <a:solidFill>
              <a:srgbClr val="F8717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86968" y="1216152"/>
            <a:ext cx="109728" cy="109728"/>
          </a:xfrm>
          <a:prstGeom prst="ellipse">
            <a:avLst/>
          </a:prstGeom>
          <a:solidFill>
            <a:srgbClr val="FBBF24"/>
          </a:solidFill>
          <a:ln w="6350">
            <a:solidFill>
              <a:srgbClr val="FBBF2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69848" y="1216152"/>
            <a:ext cx="109728" cy="109728"/>
          </a:xfrm>
          <a:prstGeom prst="ellipse">
            <a:avLst/>
          </a:prstGeom>
          <a:solidFill>
            <a:srgbClr val="34D399"/>
          </a:solidFill>
          <a:ln w="6350">
            <a:solidFill>
              <a:srgbClr val="34D39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344168" y="1170432"/>
            <a:ext cx="10104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项目详情 / GF20250216 深海蓝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502920" y="1490472"/>
            <a:ext cx="1417320" cy="5184648"/>
          </a:xfrm>
          <a:prstGeom prst="rect">
            <a:avLst>
              <a:gd name="adj" fmla="val 5161"/>
            </a:avLst>
          </a:prstGeom>
          <a:solidFill>
            <a:srgbClr val="0F172A"/>
          </a:solidFill>
          <a:ln w="7620">
            <a:solidFill>
              <a:srgbClr val="0F172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67512" y="1673352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颜色开发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67512" y="1929384"/>
            <a:ext cx="1143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60" dirty="0">
                <a:solidFill>
                  <a:srgbClr val="CBD5E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项目管理系统</a:t>
            </a:r>
            <a:endParaRPr lang="en-US" sz="760" dirty="0"/>
          </a:p>
        </p:txBody>
      </p:sp>
      <p:sp>
        <p:nvSpPr>
          <p:cNvPr id="14" name="Shape 12"/>
          <p:cNvSpPr/>
          <p:nvPr/>
        </p:nvSpPr>
        <p:spPr>
          <a:xfrm>
            <a:off x="621792" y="2386584"/>
            <a:ext cx="1179576" cy="301752"/>
          </a:xfrm>
          <a:prstGeom prst="roundRect">
            <a:avLst>
              <a:gd name="adj" fmla="val 24242"/>
            </a:avLst>
          </a:prstGeom>
          <a:solidFill>
            <a:srgbClr val="0F172A"/>
          </a:solidFill>
          <a:ln w="7620">
            <a:solidFill>
              <a:srgbClr val="0F172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58952" y="2450592"/>
            <a:ext cx="10058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CBD5E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工作台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621792" y="2807208"/>
            <a:ext cx="1179576" cy="301752"/>
          </a:xfrm>
          <a:prstGeom prst="roundRect">
            <a:avLst>
              <a:gd name="adj" fmla="val 24242"/>
            </a:avLst>
          </a:prstGeom>
          <a:solidFill>
            <a:srgbClr val="2563EB"/>
          </a:solidFill>
          <a:ln w="7620">
            <a:solidFill>
              <a:srgbClr val="2563E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58952" y="2871216"/>
            <a:ext cx="10058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项目管理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621792" y="3227832"/>
            <a:ext cx="1179576" cy="301752"/>
          </a:xfrm>
          <a:prstGeom prst="roundRect">
            <a:avLst>
              <a:gd name="adj" fmla="val 24242"/>
            </a:avLst>
          </a:prstGeom>
          <a:solidFill>
            <a:srgbClr val="0F172A"/>
          </a:solidFill>
          <a:ln w="7620">
            <a:solidFill>
              <a:srgbClr val="0F172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58952" y="3291840"/>
            <a:ext cx="10058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CBD5E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工序管理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621792" y="3648456"/>
            <a:ext cx="1179576" cy="301752"/>
          </a:xfrm>
          <a:prstGeom prst="roundRect">
            <a:avLst>
              <a:gd name="adj" fmla="val 24242"/>
            </a:avLst>
          </a:prstGeom>
          <a:solidFill>
            <a:srgbClr val="0F172A"/>
          </a:solidFill>
          <a:ln w="7620">
            <a:solidFill>
              <a:srgbClr val="0F172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58952" y="3712464"/>
            <a:ext cx="10058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CBD5E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材料中心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621792" y="4069080"/>
            <a:ext cx="1179576" cy="301752"/>
          </a:xfrm>
          <a:prstGeom prst="roundRect">
            <a:avLst>
              <a:gd name="adj" fmla="val 24242"/>
            </a:avLst>
          </a:prstGeom>
          <a:solidFill>
            <a:srgbClr val="0F172A"/>
          </a:solidFill>
          <a:ln w="7620">
            <a:solidFill>
              <a:srgbClr val="0F172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58952" y="4133088"/>
            <a:ext cx="10058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CBD5E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月度评审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621792" y="4489704"/>
            <a:ext cx="1179576" cy="301752"/>
          </a:xfrm>
          <a:prstGeom prst="roundRect">
            <a:avLst>
              <a:gd name="adj" fmla="val 24242"/>
            </a:avLst>
          </a:prstGeom>
          <a:solidFill>
            <a:srgbClr val="0F172A"/>
          </a:solidFill>
          <a:ln w="7620">
            <a:solidFill>
              <a:srgbClr val="0F172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58952" y="4553712"/>
            <a:ext cx="10058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CBD5E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数据中心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621792" y="4910328"/>
            <a:ext cx="1179576" cy="301752"/>
          </a:xfrm>
          <a:prstGeom prst="roundRect">
            <a:avLst>
              <a:gd name="adj" fmla="val 24242"/>
            </a:avLst>
          </a:prstGeom>
          <a:solidFill>
            <a:srgbClr val="0F172A"/>
          </a:solidFill>
          <a:ln w="7620">
            <a:solidFill>
              <a:srgbClr val="0F172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58952" y="4974336"/>
            <a:ext cx="10058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CBD5E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系统设置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1920240" y="1490472"/>
            <a:ext cx="9784080" cy="512064"/>
          </a:xfrm>
          <a:prstGeom prst="rect">
            <a:avLst>
              <a:gd name="adj" fmla="val 14286"/>
            </a:avLst>
          </a:prstGeom>
          <a:solidFill>
            <a:srgbClr val="FFFFFF"/>
          </a:solidFill>
          <a:ln w="7620">
            <a:solidFill>
              <a:srgbClr val="D9E2E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212848" y="1645920"/>
            <a:ext cx="1920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20" dirty="0">
                <a:solidFill>
                  <a:srgbClr val="94A3B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搜索项目 / 颜色 / 负责人</a:t>
            </a:r>
            <a:endParaRPr lang="en-US" sz="720" dirty="0"/>
          </a:p>
        </p:txBody>
      </p:sp>
      <p:sp>
        <p:nvSpPr>
          <p:cNvPr id="30" name="Shape 28"/>
          <p:cNvSpPr/>
          <p:nvPr/>
        </p:nvSpPr>
        <p:spPr>
          <a:xfrm>
            <a:off x="9784080" y="1600200"/>
            <a:ext cx="685800" cy="274320"/>
          </a:xfrm>
          <a:prstGeom prst="roundRect">
            <a:avLst>
              <a:gd name="adj" fmla="val 26667"/>
            </a:avLst>
          </a:prstGeom>
          <a:solidFill>
            <a:srgbClr val="DBEAFE"/>
          </a:solidFill>
          <a:ln w="7620">
            <a:solidFill>
              <a:srgbClr val="DBEAFE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9838944" y="1655064"/>
            <a:ext cx="57607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60" b="1" dirty="0">
                <a:solidFill>
                  <a:srgbClr val="2563E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立即刷新</a:t>
            </a:r>
            <a:endParaRPr lang="en-US" sz="660" dirty="0"/>
          </a:p>
        </p:txBody>
      </p:sp>
      <p:sp>
        <p:nvSpPr>
          <p:cNvPr id="32" name="Text 30"/>
          <p:cNvSpPr/>
          <p:nvPr/>
        </p:nvSpPr>
        <p:spPr>
          <a:xfrm>
            <a:off x="10561320" y="1645920"/>
            <a:ext cx="9601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80" dirty="0">
                <a:solidFill>
                  <a:srgbClr val="64748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最近更新 14:32</a:t>
            </a:r>
            <a:endParaRPr lang="en-US" sz="680" dirty="0"/>
          </a:p>
        </p:txBody>
      </p:sp>
      <p:sp>
        <p:nvSpPr>
          <p:cNvPr id="33" name="Text 31"/>
          <p:cNvSpPr/>
          <p:nvPr/>
        </p:nvSpPr>
        <p:spPr>
          <a:xfrm>
            <a:off x="2148840" y="2148840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GF20250216 深海蓝定制色开发</a:t>
            </a:r>
            <a:endParaRPr lang="en-US" sz="1400" dirty="0"/>
          </a:p>
        </p:txBody>
      </p:sp>
      <p:sp>
        <p:nvSpPr>
          <p:cNvPr id="34" name="Shape 32"/>
          <p:cNvSpPr/>
          <p:nvPr/>
        </p:nvSpPr>
        <p:spPr>
          <a:xfrm>
            <a:off x="5120640" y="2176272"/>
            <a:ext cx="566928" cy="201168"/>
          </a:xfrm>
          <a:prstGeom prst="roundRect">
            <a:avLst>
              <a:gd name="adj" fmla="val 54545"/>
            </a:avLst>
          </a:prstGeom>
          <a:solidFill>
            <a:srgbClr val="DBEAFE"/>
          </a:solidFill>
          <a:ln w="7620">
            <a:solidFill>
              <a:srgbClr val="DBEAFE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120640" y="2180844"/>
            <a:ext cx="566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2563E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进行中</a:t>
            </a:r>
            <a:endParaRPr lang="en-US" sz="650" dirty="0"/>
          </a:p>
        </p:txBody>
      </p:sp>
      <p:sp>
        <p:nvSpPr>
          <p:cNvPr id="36" name="Shape 34"/>
          <p:cNvSpPr/>
          <p:nvPr/>
        </p:nvSpPr>
        <p:spPr>
          <a:xfrm>
            <a:off x="5788152" y="2176272"/>
            <a:ext cx="877824" cy="201168"/>
          </a:xfrm>
          <a:prstGeom prst="roundRect">
            <a:avLst>
              <a:gd name="adj" fmla="val 54545"/>
            </a:avLst>
          </a:prstGeom>
          <a:solidFill>
            <a:srgbClr val="D1FAE5"/>
          </a:solidFill>
          <a:ln w="7620">
            <a:solidFill>
              <a:srgbClr val="D1FAE5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788152" y="2180844"/>
            <a:ext cx="8778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0B98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客户样板已归档</a:t>
            </a:r>
            <a:endParaRPr lang="en-US" sz="650" dirty="0"/>
          </a:p>
        </p:txBody>
      </p:sp>
      <p:sp>
        <p:nvSpPr>
          <p:cNvPr id="38" name="Shape 36"/>
          <p:cNvSpPr/>
          <p:nvPr/>
        </p:nvSpPr>
        <p:spPr>
          <a:xfrm>
            <a:off x="2148840" y="2587752"/>
            <a:ext cx="713232" cy="201168"/>
          </a:xfrm>
          <a:prstGeom prst="roundRect">
            <a:avLst>
              <a:gd name="adj" fmla="val 54545"/>
            </a:avLst>
          </a:prstGeom>
          <a:solidFill>
            <a:srgbClr val="2563EB"/>
          </a:solidFill>
          <a:ln w="7620">
            <a:solidFill>
              <a:srgbClr val="2563EB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148840" y="2592324"/>
            <a:ext cx="7132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2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项目概览</a:t>
            </a:r>
            <a:endParaRPr lang="en-US" sz="620" dirty="0"/>
          </a:p>
        </p:txBody>
      </p:sp>
      <p:sp>
        <p:nvSpPr>
          <p:cNvPr id="40" name="Shape 38"/>
          <p:cNvSpPr/>
          <p:nvPr/>
        </p:nvSpPr>
        <p:spPr>
          <a:xfrm>
            <a:off x="2971800" y="2587752"/>
            <a:ext cx="713232" cy="201168"/>
          </a:xfrm>
          <a:prstGeom prst="roundRect">
            <a:avLst>
              <a:gd name="adj" fmla="val 54545"/>
            </a:avLst>
          </a:prstGeom>
          <a:solidFill>
            <a:srgbClr val="F8FAFC"/>
          </a:solidFill>
          <a:ln w="7620">
            <a:solidFill>
              <a:srgbClr val="F8FAFC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2971800" y="2592324"/>
            <a:ext cx="7132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20" dirty="0">
                <a:solidFill>
                  <a:srgbClr val="64748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流程时间线</a:t>
            </a:r>
            <a:endParaRPr lang="en-US" sz="620" dirty="0"/>
          </a:p>
        </p:txBody>
      </p:sp>
      <p:sp>
        <p:nvSpPr>
          <p:cNvPr id="42" name="Shape 40"/>
          <p:cNvSpPr/>
          <p:nvPr/>
        </p:nvSpPr>
        <p:spPr>
          <a:xfrm>
            <a:off x="3794760" y="2587752"/>
            <a:ext cx="713232" cy="201168"/>
          </a:xfrm>
          <a:prstGeom prst="roundRect">
            <a:avLst>
              <a:gd name="adj" fmla="val 54545"/>
            </a:avLst>
          </a:prstGeom>
          <a:solidFill>
            <a:srgbClr val="F8FAFC"/>
          </a:solidFill>
          <a:ln w="7620">
            <a:solidFill>
              <a:srgbClr val="F8FAFC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794760" y="2592324"/>
            <a:ext cx="7132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20" dirty="0">
                <a:solidFill>
                  <a:srgbClr val="64748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工序清单</a:t>
            </a:r>
            <a:endParaRPr lang="en-US" sz="620" dirty="0"/>
          </a:p>
        </p:txBody>
      </p:sp>
      <p:sp>
        <p:nvSpPr>
          <p:cNvPr id="44" name="Shape 42"/>
          <p:cNvSpPr/>
          <p:nvPr/>
        </p:nvSpPr>
        <p:spPr>
          <a:xfrm>
            <a:off x="4617720" y="2587752"/>
            <a:ext cx="713232" cy="201168"/>
          </a:xfrm>
          <a:prstGeom prst="roundRect">
            <a:avLst>
              <a:gd name="adj" fmla="val 54545"/>
            </a:avLst>
          </a:prstGeom>
          <a:solidFill>
            <a:srgbClr val="F8FAFC"/>
          </a:solidFill>
          <a:ln w="7620">
            <a:solidFill>
              <a:srgbClr val="F8FAFC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617720" y="2592324"/>
            <a:ext cx="7132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20" dirty="0">
                <a:solidFill>
                  <a:srgbClr val="64748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材料提交</a:t>
            </a:r>
            <a:endParaRPr lang="en-US" sz="620" dirty="0"/>
          </a:p>
        </p:txBody>
      </p:sp>
      <p:sp>
        <p:nvSpPr>
          <p:cNvPr id="46" name="Shape 44"/>
          <p:cNvSpPr/>
          <p:nvPr/>
        </p:nvSpPr>
        <p:spPr>
          <a:xfrm>
            <a:off x="5440680" y="2587752"/>
            <a:ext cx="713232" cy="201168"/>
          </a:xfrm>
          <a:prstGeom prst="roundRect">
            <a:avLst>
              <a:gd name="adj" fmla="val 54545"/>
            </a:avLst>
          </a:prstGeom>
          <a:solidFill>
            <a:srgbClr val="F8FAFC"/>
          </a:solidFill>
          <a:ln w="7620">
            <a:solidFill>
              <a:srgbClr val="F8FAFC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5440680" y="2592324"/>
            <a:ext cx="7132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20" dirty="0">
                <a:solidFill>
                  <a:srgbClr val="64748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评审记录</a:t>
            </a:r>
            <a:endParaRPr lang="en-US" sz="620" dirty="0"/>
          </a:p>
        </p:txBody>
      </p:sp>
      <p:sp>
        <p:nvSpPr>
          <p:cNvPr id="48" name="Shape 46"/>
          <p:cNvSpPr/>
          <p:nvPr/>
        </p:nvSpPr>
        <p:spPr>
          <a:xfrm>
            <a:off x="6263640" y="2587752"/>
            <a:ext cx="713232" cy="201168"/>
          </a:xfrm>
          <a:prstGeom prst="roundRect">
            <a:avLst>
              <a:gd name="adj" fmla="val 54545"/>
            </a:avLst>
          </a:prstGeom>
          <a:solidFill>
            <a:srgbClr val="F8FAFC"/>
          </a:solidFill>
          <a:ln w="7620">
            <a:solidFill>
              <a:srgbClr val="F8FAFC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263640" y="2592324"/>
            <a:ext cx="7132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20" dirty="0">
                <a:solidFill>
                  <a:srgbClr val="64748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数据汇总</a:t>
            </a:r>
            <a:endParaRPr lang="en-US" sz="620" dirty="0"/>
          </a:p>
        </p:txBody>
      </p:sp>
      <p:sp>
        <p:nvSpPr>
          <p:cNvPr id="50" name="Shape 48"/>
          <p:cNvSpPr/>
          <p:nvPr/>
        </p:nvSpPr>
        <p:spPr>
          <a:xfrm>
            <a:off x="2148840" y="2971800"/>
            <a:ext cx="2377440" cy="3566160"/>
          </a:xfrm>
          <a:prstGeom prst="roundRect">
            <a:avLst>
              <a:gd name="adj" fmla="val 5385"/>
            </a:avLst>
          </a:prstGeom>
          <a:solidFill>
            <a:srgbClr val="FFFFFF"/>
          </a:solidFill>
          <a:ln w="7620">
            <a:solidFill>
              <a:srgbClr val="D9E2EC"/>
            </a:solidFill>
            <a:prstDash val="solid"/>
          </a:ln>
          <a:effectLst>
            <a:outerShdw sx="100000" sy="100000" kx="0" ky="0" algn="bl" rotWithShape="0" blurRad="2.6010076189287412e+123" dist="5.2020152378574823e+123" dir="9.948326387433002e+144">
              <a:srgbClr val="CBD5E1">
                <a:alpha val="1.1999999999999998e+149"/>
              </a:srgbClr>
            </a:outerShdw>
          </a:effectLst>
        </p:spPr>
      </p:sp>
      <p:sp>
        <p:nvSpPr>
          <p:cNvPr id="51" name="Text 49"/>
          <p:cNvSpPr/>
          <p:nvPr/>
        </p:nvSpPr>
        <p:spPr>
          <a:xfrm>
            <a:off x="2313432" y="3200400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项目主信息</a:t>
            </a:r>
            <a:endParaRPr lang="en-US" sz="1100" dirty="0"/>
          </a:p>
        </p:txBody>
      </p:sp>
      <p:sp>
        <p:nvSpPr>
          <p:cNvPr id="52" name="Text 50"/>
          <p:cNvSpPr/>
          <p:nvPr/>
        </p:nvSpPr>
        <p:spPr>
          <a:xfrm>
            <a:off x="2313432" y="3566160"/>
            <a:ext cx="65836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80" dirty="0">
                <a:solidFill>
                  <a:srgbClr val="64748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颜色名称</a:t>
            </a:r>
            <a:endParaRPr lang="en-US" sz="680" dirty="0"/>
          </a:p>
        </p:txBody>
      </p:sp>
      <p:sp>
        <p:nvSpPr>
          <p:cNvPr id="53" name="Text 51"/>
          <p:cNvSpPr/>
          <p:nvPr/>
        </p:nvSpPr>
        <p:spPr>
          <a:xfrm>
            <a:off x="3017520" y="3566160"/>
            <a:ext cx="118872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20" dirty="0">
                <a:solidFill>
                  <a:srgbClr val="0F172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深海蓝</a:t>
            </a:r>
            <a:endParaRPr lang="en-US" sz="720" dirty="0"/>
          </a:p>
        </p:txBody>
      </p:sp>
      <p:sp>
        <p:nvSpPr>
          <p:cNvPr id="54" name="Text 52"/>
          <p:cNvSpPr/>
          <p:nvPr/>
        </p:nvSpPr>
        <p:spPr>
          <a:xfrm>
            <a:off x="2313432" y="3886200"/>
            <a:ext cx="65836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80" dirty="0">
                <a:solidFill>
                  <a:srgbClr val="64748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客户/市场</a:t>
            </a:r>
            <a:endParaRPr lang="en-US" sz="680" dirty="0"/>
          </a:p>
        </p:txBody>
      </p:sp>
      <p:sp>
        <p:nvSpPr>
          <p:cNvPr id="55" name="Text 53"/>
          <p:cNvSpPr/>
          <p:nvPr/>
        </p:nvSpPr>
        <p:spPr>
          <a:xfrm>
            <a:off x="3017520" y="3886200"/>
            <a:ext cx="118872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20" b="1" dirty="0">
                <a:solidFill>
                  <a:srgbClr val="0F172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营销公司 / 华东</a:t>
            </a:r>
            <a:endParaRPr lang="en-US" sz="720" dirty="0"/>
          </a:p>
        </p:txBody>
      </p:sp>
      <p:sp>
        <p:nvSpPr>
          <p:cNvPr id="56" name="Text 54"/>
          <p:cNvSpPr/>
          <p:nvPr/>
        </p:nvSpPr>
        <p:spPr>
          <a:xfrm>
            <a:off x="2313432" y="4206240"/>
            <a:ext cx="65836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80" dirty="0">
                <a:solidFill>
                  <a:srgbClr val="64748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车型</a:t>
            </a:r>
            <a:endParaRPr lang="en-US" sz="680" dirty="0"/>
          </a:p>
        </p:txBody>
      </p:sp>
      <p:sp>
        <p:nvSpPr>
          <p:cNvPr id="57" name="Text 55"/>
          <p:cNvSpPr/>
          <p:nvPr/>
        </p:nvSpPr>
        <p:spPr>
          <a:xfrm>
            <a:off x="3017520" y="4206240"/>
            <a:ext cx="118872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20" dirty="0">
                <a:solidFill>
                  <a:srgbClr val="0F172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轻卡平台 A</a:t>
            </a:r>
            <a:endParaRPr lang="en-US" sz="720" dirty="0"/>
          </a:p>
        </p:txBody>
      </p:sp>
      <p:sp>
        <p:nvSpPr>
          <p:cNvPr id="58" name="Text 56"/>
          <p:cNvSpPr/>
          <p:nvPr/>
        </p:nvSpPr>
        <p:spPr>
          <a:xfrm>
            <a:off x="2313432" y="4526280"/>
            <a:ext cx="65836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80" dirty="0">
                <a:solidFill>
                  <a:srgbClr val="64748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发起部门</a:t>
            </a:r>
            <a:endParaRPr lang="en-US" sz="680" dirty="0"/>
          </a:p>
        </p:txBody>
      </p:sp>
      <p:sp>
        <p:nvSpPr>
          <p:cNvPr id="59" name="Text 57"/>
          <p:cNvSpPr/>
          <p:nvPr/>
        </p:nvSpPr>
        <p:spPr>
          <a:xfrm>
            <a:off x="3017520" y="4526280"/>
            <a:ext cx="118872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20" dirty="0">
                <a:solidFill>
                  <a:srgbClr val="0F172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营销公司</a:t>
            </a:r>
            <a:endParaRPr lang="en-US" sz="720" dirty="0"/>
          </a:p>
        </p:txBody>
      </p:sp>
      <p:sp>
        <p:nvSpPr>
          <p:cNvPr id="60" name="Text 58"/>
          <p:cNvSpPr/>
          <p:nvPr/>
        </p:nvSpPr>
        <p:spPr>
          <a:xfrm>
            <a:off x="2313432" y="4846320"/>
            <a:ext cx="65836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80" dirty="0">
                <a:solidFill>
                  <a:srgbClr val="64748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当前阶段</a:t>
            </a:r>
            <a:endParaRPr lang="en-US" sz="680" dirty="0"/>
          </a:p>
        </p:txBody>
      </p:sp>
      <p:sp>
        <p:nvSpPr>
          <p:cNvPr id="61" name="Text 59"/>
          <p:cNvSpPr/>
          <p:nvPr/>
        </p:nvSpPr>
        <p:spPr>
          <a:xfrm>
            <a:off x="3017520" y="4846320"/>
            <a:ext cx="118872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20" dirty="0">
                <a:solidFill>
                  <a:srgbClr val="0F172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涂料采购</a:t>
            </a:r>
            <a:endParaRPr lang="en-US" sz="720" dirty="0"/>
          </a:p>
        </p:txBody>
      </p:sp>
      <p:sp>
        <p:nvSpPr>
          <p:cNvPr id="62" name="Text 60"/>
          <p:cNvSpPr/>
          <p:nvPr/>
        </p:nvSpPr>
        <p:spPr>
          <a:xfrm>
            <a:off x="2313432" y="5166360"/>
            <a:ext cx="65836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80" dirty="0">
                <a:solidFill>
                  <a:srgbClr val="64748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当前负责人</a:t>
            </a:r>
            <a:endParaRPr lang="en-US" sz="680" dirty="0"/>
          </a:p>
        </p:txBody>
      </p:sp>
      <p:sp>
        <p:nvSpPr>
          <p:cNvPr id="63" name="Text 61"/>
          <p:cNvSpPr/>
          <p:nvPr/>
        </p:nvSpPr>
        <p:spPr>
          <a:xfrm>
            <a:off x="3017520" y="5166360"/>
            <a:ext cx="118872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20" dirty="0">
                <a:solidFill>
                  <a:srgbClr val="0F172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张七巧</a:t>
            </a:r>
            <a:endParaRPr lang="en-US" sz="720" dirty="0"/>
          </a:p>
        </p:txBody>
      </p:sp>
      <p:sp>
        <p:nvSpPr>
          <p:cNvPr id="64" name="Text 62"/>
          <p:cNvSpPr/>
          <p:nvPr/>
        </p:nvSpPr>
        <p:spPr>
          <a:xfrm>
            <a:off x="2313432" y="5486400"/>
            <a:ext cx="65836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80" dirty="0">
                <a:solidFill>
                  <a:srgbClr val="64748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模板版本</a:t>
            </a:r>
            <a:endParaRPr lang="en-US" sz="680" dirty="0"/>
          </a:p>
        </p:txBody>
      </p:sp>
      <p:sp>
        <p:nvSpPr>
          <p:cNvPr id="65" name="Text 63"/>
          <p:cNvSpPr/>
          <p:nvPr/>
        </p:nvSpPr>
        <p:spPr>
          <a:xfrm>
            <a:off x="3017520" y="5486400"/>
            <a:ext cx="118872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20" dirty="0">
                <a:solidFill>
                  <a:srgbClr val="0F172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V1.0</a:t>
            </a:r>
            <a:endParaRPr lang="en-US" sz="720" dirty="0"/>
          </a:p>
        </p:txBody>
      </p:sp>
      <p:sp>
        <p:nvSpPr>
          <p:cNvPr id="66" name="Shape 64"/>
          <p:cNvSpPr/>
          <p:nvPr/>
        </p:nvSpPr>
        <p:spPr>
          <a:xfrm>
            <a:off x="4754880" y="2971800"/>
            <a:ext cx="4572000" cy="1325880"/>
          </a:xfrm>
          <a:prstGeom prst="roundRect">
            <a:avLst>
              <a:gd name="adj" fmla="val 9655"/>
            </a:avLst>
          </a:prstGeom>
          <a:solidFill>
            <a:srgbClr val="FFFFFF"/>
          </a:solidFill>
          <a:ln w="7620">
            <a:solidFill>
              <a:srgbClr val="D9E2EC"/>
            </a:solidFill>
            <a:prstDash val="solid"/>
          </a:ln>
          <a:effectLst>
            <a:outerShdw sx="100000" sy="100000" kx="0" ky="0" algn="bl" rotWithShape="0" blurRad="3.303279676039501e+127" dist="6.606559352079002e+127" dir="5.968995832459801e+149">
              <a:srgbClr val="CBD5E1">
                <a:alpha val="1.1999999999999998e+154"/>
              </a:srgbClr>
            </a:outerShdw>
          </a:effectLst>
        </p:spPr>
      </p:sp>
      <p:sp>
        <p:nvSpPr>
          <p:cNvPr id="67" name="Text 65"/>
          <p:cNvSpPr/>
          <p:nvPr/>
        </p:nvSpPr>
        <p:spPr>
          <a:xfrm>
            <a:off x="4937760" y="320040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整体进度</a:t>
            </a:r>
            <a:endParaRPr lang="en-US" sz="1100" dirty="0"/>
          </a:p>
        </p:txBody>
      </p:sp>
      <p:sp>
        <p:nvSpPr>
          <p:cNvPr id="68" name="Shape 66"/>
          <p:cNvSpPr/>
          <p:nvPr/>
        </p:nvSpPr>
        <p:spPr>
          <a:xfrm>
            <a:off x="4937760" y="3566160"/>
            <a:ext cx="4023360" cy="164592"/>
          </a:xfrm>
          <a:prstGeom prst="roundRect">
            <a:avLst>
              <a:gd name="adj" fmla="val 44444"/>
            </a:avLst>
          </a:prstGeom>
          <a:solidFill>
            <a:srgbClr val="E2E8F0"/>
          </a:solidFill>
          <a:ln w="7620">
            <a:solidFill>
              <a:srgbClr val="E2E8F0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4937760" y="3566160"/>
            <a:ext cx="1737360" cy="164592"/>
          </a:xfrm>
          <a:prstGeom prst="roundRect">
            <a:avLst>
              <a:gd name="adj" fmla="val 44444"/>
            </a:avLst>
          </a:prstGeom>
          <a:solidFill>
            <a:srgbClr val="2563EB"/>
          </a:solidFill>
          <a:ln w="7620">
            <a:solidFill>
              <a:srgbClr val="2563EB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4937760" y="3867912"/>
            <a:ext cx="30175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40" b="1" dirty="0">
                <a:solidFill>
                  <a:srgbClr val="0F172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42% · 当前第6步 涂料采购</a:t>
            </a:r>
            <a:endParaRPr lang="en-US" sz="740" dirty="0"/>
          </a:p>
        </p:txBody>
      </p:sp>
      <p:sp>
        <p:nvSpPr>
          <p:cNvPr id="71" name="Text 69"/>
          <p:cNvSpPr/>
          <p:nvPr/>
        </p:nvSpPr>
        <p:spPr>
          <a:xfrm>
            <a:off x="4937760" y="4087368"/>
            <a:ext cx="384048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60" dirty="0">
                <a:solidFill>
                  <a:srgbClr val="64748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下一步：首台生产计划 / 并行支线：标准板制作、性能试验</a:t>
            </a:r>
            <a:endParaRPr lang="en-US" sz="660" dirty="0"/>
          </a:p>
        </p:txBody>
      </p:sp>
      <p:sp>
        <p:nvSpPr>
          <p:cNvPr id="72" name="Shape 70"/>
          <p:cNvSpPr/>
          <p:nvPr/>
        </p:nvSpPr>
        <p:spPr>
          <a:xfrm>
            <a:off x="4754880" y="4480560"/>
            <a:ext cx="2148840" cy="2057400"/>
          </a:xfrm>
          <a:prstGeom prst="roundRect">
            <a:avLst>
              <a:gd name="adj" fmla="val 6222"/>
            </a:avLst>
          </a:prstGeom>
          <a:solidFill>
            <a:srgbClr val="FFFFFF"/>
          </a:solidFill>
          <a:ln w="7620">
            <a:solidFill>
              <a:srgbClr val="D9E2EC"/>
            </a:solidFill>
            <a:prstDash val="solid"/>
          </a:ln>
          <a:effectLst>
            <a:outerShdw sx="100000" sy="100000" kx="0" ky="0" algn="bl" rotWithShape="0" blurRad="4.195165188570166e+131" dist="8.390330377140333e+131" dir="3.581397499475881e+154">
              <a:srgbClr val="CBD5E1">
                <a:alpha val="1.1999999999999998e+159"/>
              </a:srgbClr>
            </a:outerShdw>
          </a:effectLst>
        </p:spPr>
      </p:sp>
      <p:sp>
        <p:nvSpPr>
          <p:cNvPr id="73" name="Text 71"/>
          <p:cNvSpPr/>
          <p:nvPr/>
        </p:nvSpPr>
        <p:spPr>
          <a:xfrm>
            <a:off x="4937760" y="470916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风险提醒</a:t>
            </a:r>
            <a:endParaRPr lang="en-US" sz="1100" dirty="0"/>
          </a:p>
        </p:txBody>
      </p:sp>
      <p:sp>
        <p:nvSpPr>
          <p:cNvPr id="74" name="Shape 72"/>
          <p:cNvSpPr/>
          <p:nvPr/>
        </p:nvSpPr>
        <p:spPr>
          <a:xfrm>
            <a:off x="4937760" y="5129784"/>
            <a:ext cx="64008" cy="64008"/>
          </a:xfrm>
          <a:prstGeom prst="ellipse">
            <a:avLst/>
          </a:prstGeom>
          <a:solidFill>
            <a:srgbClr val="F59E0B"/>
          </a:solidFill>
          <a:ln w="6350">
            <a:solidFill>
              <a:srgbClr val="F59E0B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5084064" y="5074920"/>
            <a:ext cx="15910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0F172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涂料采购剩余 5 个工作日</a:t>
            </a:r>
            <a:endParaRPr lang="en-US" sz="700" dirty="0"/>
          </a:p>
        </p:txBody>
      </p:sp>
      <p:sp>
        <p:nvSpPr>
          <p:cNvPr id="76" name="Shape 74"/>
          <p:cNvSpPr/>
          <p:nvPr/>
        </p:nvSpPr>
        <p:spPr>
          <a:xfrm>
            <a:off x="4937760" y="5440680"/>
            <a:ext cx="64008" cy="64008"/>
          </a:xfrm>
          <a:prstGeom prst="ellipse">
            <a:avLst/>
          </a:prstGeom>
          <a:solidFill>
            <a:srgbClr val="F59E0B"/>
          </a:solidFill>
          <a:ln w="6350">
            <a:solidFill>
              <a:srgbClr val="F59E0B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5084064" y="5385816"/>
            <a:ext cx="15910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0F172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第9步性能试验独立跟踪中</a:t>
            </a:r>
            <a:endParaRPr lang="en-US" sz="700" dirty="0"/>
          </a:p>
        </p:txBody>
      </p:sp>
      <p:sp>
        <p:nvSpPr>
          <p:cNvPr id="78" name="Shape 76"/>
          <p:cNvSpPr/>
          <p:nvPr/>
        </p:nvSpPr>
        <p:spPr>
          <a:xfrm>
            <a:off x="4937760" y="5751576"/>
            <a:ext cx="64008" cy="64008"/>
          </a:xfrm>
          <a:prstGeom prst="ellipse">
            <a:avLst/>
          </a:prstGeom>
          <a:solidFill>
            <a:srgbClr val="F59E0B"/>
          </a:solidFill>
          <a:ln w="6350">
            <a:solidFill>
              <a:srgbClr val="F59E0B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5084064" y="5696712"/>
            <a:ext cx="15910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0F172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第17步将在批量生产后启动</a:t>
            </a:r>
            <a:endParaRPr lang="en-US" sz="700" dirty="0"/>
          </a:p>
        </p:txBody>
      </p:sp>
      <p:sp>
        <p:nvSpPr>
          <p:cNvPr id="80" name="Shape 78"/>
          <p:cNvSpPr/>
          <p:nvPr/>
        </p:nvSpPr>
        <p:spPr>
          <a:xfrm>
            <a:off x="7132320" y="4480560"/>
            <a:ext cx="2194560" cy="2057400"/>
          </a:xfrm>
          <a:prstGeom prst="roundRect">
            <a:avLst>
              <a:gd name="adj" fmla="val 6222"/>
            </a:avLst>
          </a:prstGeom>
          <a:solidFill>
            <a:srgbClr val="FFFFFF"/>
          </a:solidFill>
          <a:ln w="7620">
            <a:solidFill>
              <a:srgbClr val="D9E2EC"/>
            </a:solidFill>
            <a:prstDash val="solid"/>
          </a:ln>
          <a:effectLst>
            <a:outerShdw sx="100000" sy="100000" kx="0" ky="0" algn="bl" rotWithShape="0" blurRad="5.327859789484111e+135" dist="1.0655719578968222e+136" dir="2.1488384996855287e+159">
              <a:srgbClr val="CBD5E1">
                <a:alpha val="1.1999999999999998e+164"/>
              </a:srgbClr>
            </a:outerShdw>
          </a:effectLst>
        </p:spPr>
      </p:sp>
      <p:sp>
        <p:nvSpPr>
          <p:cNvPr id="81" name="Text 79"/>
          <p:cNvSpPr/>
          <p:nvPr/>
        </p:nvSpPr>
        <p:spPr>
          <a:xfrm>
            <a:off x="7315200" y="470916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待办动作</a:t>
            </a:r>
            <a:endParaRPr lang="en-US" sz="1100" dirty="0"/>
          </a:p>
        </p:txBody>
      </p:sp>
      <p:sp>
        <p:nvSpPr>
          <p:cNvPr id="82" name="Shape 80"/>
          <p:cNvSpPr/>
          <p:nvPr/>
        </p:nvSpPr>
        <p:spPr>
          <a:xfrm>
            <a:off x="7315200" y="5093208"/>
            <a:ext cx="914400" cy="219456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 w="7620">
            <a:solidFill>
              <a:srgbClr val="2563EB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7315200" y="5097780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提交采购记录</a:t>
            </a:r>
            <a:endParaRPr lang="en-US" sz="650" dirty="0"/>
          </a:p>
        </p:txBody>
      </p:sp>
      <p:sp>
        <p:nvSpPr>
          <p:cNvPr id="84" name="Shape 82"/>
          <p:cNvSpPr/>
          <p:nvPr/>
        </p:nvSpPr>
        <p:spPr>
          <a:xfrm>
            <a:off x="7315200" y="5458968"/>
            <a:ext cx="960120" cy="219456"/>
          </a:xfrm>
          <a:prstGeom prst="roundRect">
            <a:avLst>
              <a:gd name="adj" fmla="val 50000"/>
            </a:avLst>
          </a:prstGeom>
          <a:solidFill>
            <a:srgbClr val="F8FAFC"/>
          </a:solidFill>
          <a:ln w="7620">
            <a:solidFill>
              <a:srgbClr val="F8FAFC"/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7315200" y="5463540"/>
            <a:ext cx="960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64748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上传供应商确认</a:t>
            </a:r>
            <a:endParaRPr lang="en-US" sz="650" dirty="0"/>
          </a:p>
        </p:txBody>
      </p:sp>
      <p:sp>
        <p:nvSpPr>
          <p:cNvPr id="86" name="Shape 84"/>
          <p:cNvSpPr/>
          <p:nvPr/>
        </p:nvSpPr>
        <p:spPr>
          <a:xfrm>
            <a:off x="7315200" y="5824728"/>
            <a:ext cx="822960" cy="219456"/>
          </a:xfrm>
          <a:prstGeom prst="roundRect">
            <a:avLst>
              <a:gd name="adj" fmla="val 50000"/>
            </a:avLst>
          </a:prstGeom>
          <a:solidFill>
            <a:srgbClr val="F8FAFC"/>
          </a:solidFill>
          <a:ln w="7620">
            <a:solidFill>
              <a:srgbClr val="F8FAFC"/>
            </a:solidFill>
            <a:prstDash val="solid"/>
          </a:ln>
        </p:spPr>
      </p:sp>
      <p:sp>
        <p:nvSpPr>
          <p:cNvPr id="87" name="Text 85"/>
          <p:cNvSpPr/>
          <p:nvPr/>
        </p:nvSpPr>
        <p:spPr>
          <a:xfrm>
            <a:off x="7315200" y="5829300"/>
            <a:ext cx="822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64748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查看材料库</a:t>
            </a:r>
            <a:endParaRPr lang="en-US" sz="650" dirty="0"/>
          </a:p>
        </p:txBody>
      </p:sp>
      <p:sp>
        <p:nvSpPr>
          <p:cNvPr id="88" name="Shape 86"/>
          <p:cNvSpPr/>
          <p:nvPr/>
        </p:nvSpPr>
        <p:spPr>
          <a:xfrm>
            <a:off x="9555480" y="2971800"/>
            <a:ext cx="1645920" cy="3566160"/>
          </a:xfrm>
          <a:prstGeom prst="roundRect">
            <a:avLst>
              <a:gd name="adj" fmla="val 7778"/>
            </a:avLst>
          </a:prstGeom>
          <a:solidFill>
            <a:srgbClr val="FFFFFF"/>
          </a:solidFill>
          <a:ln w="7620">
            <a:solidFill>
              <a:srgbClr val="D9E2EC"/>
            </a:solidFill>
            <a:prstDash val="solid"/>
          </a:ln>
          <a:effectLst>
            <a:outerShdw sx="100000" sy="100000" kx="0" ky="0" algn="bl" rotWithShape="0" blurRad="6.766381932644821e+139" dist="1.3532763865289643e+140" dir="1.2893030998113172e+164">
              <a:srgbClr val="CBD5E1">
                <a:alpha val="1.1999999999999998e+169"/>
              </a:srgbClr>
            </a:outerShdw>
          </a:effectLst>
        </p:spPr>
      </p:sp>
      <p:sp>
        <p:nvSpPr>
          <p:cNvPr id="89" name="Text 87"/>
          <p:cNvSpPr/>
          <p:nvPr/>
        </p:nvSpPr>
        <p:spPr>
          <a:xfrm>
            <a:off x="9720072" y="320040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关键节点</a:t>
            </a:r>
            <a:endParaRPr lang="en-US" sz="1100" dirty="0"/>
          </a:p>
        </p:txBody>
      </p:sp>
      <p:sp>
        <p:nvSpPr>
          <p:cNvPr id="90" name="Shape 88"/>
          <p:cNvSpPr/>
          <p:nvPr/>
        </p:nvSpPr>
        <p:spPr>
          <a:xfrm>
            <a:off x="9756648" y="3611880"/>
            <a:ext cx="137160" cy="137160"/>
          </a:xfrm>
          <a:prstGeom prst="ellipse">
            <a:avLst/>
          </a:prstGeom>
          <a:solidFill>
            <a:srgbClr val="10B981"/>
          </a:solidFill>
          <a:ln w="6350">
            <a:solidFill>
              <a:srgbClr val="10B981"/>
            </a:solidFill>
            <a:prstDash val="solid"/>
          </a:ln>
        </p:spPr>
      </p:sp>
      <p:sp>
        <p:nvSpPr>
          <p:cNvPr id="91" name="Text 89"/>
          <p:cNvSpPr/>
          <p:nvPr/>
        </p:nvSpPr>
        <p:spPr>
          <a:xfrm>
            <a:off x="9966960" y="3593592"/>
            <a:ext cx="8229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40" dirty="0">
                <a:solidFill>
                  <a:srgbClr val="0F172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04 样板确认</a:t>
            </a:r>
            <a:endParaRPr lang="en-US" sz="640" dirty="0"/>
          </a:p>
        </p:txBody>
      </p:sp>
      <p:sp>
        <p:nvSpPr>
          <p:cNvPr id="92" name="Text 90"/>
          <p:cNvSpPr/>
          <p:nvPr/>
        </p:nvSpPr>
        <p:spPr>
          <a:xfrm>
            <a:off x="10698480" y="3593592"/>
            <a:ext cx="4572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20" dirty="0">
                <a:solidFill>
                  <a:srgbClr val="64748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已完成</a:t>
            </a:r>
            <a:endParaRPr lang="en-US" sz="620" dirty="0"/>
          </a:p>
        </p:txBody>
      </p:sp>
      <p:sp>
        <p:nvSpPr>
          <p:cNvPr id="93" name="Shape 91"/>
          <p:cNvSpPr/>
          <p:nvPr/>
        </p:nvSpPr>
        <p:spPr>
          <a:xfrm>
            <a:off x="9756648" y="4050792"/>
            <a:ext cx="137160" cy="137160"/>
          </a:xfrm>
          <a:prstGeom prst="ellipse">
            <a:avLst/>
          </a:prstGeom>
          <a:solidFill>
            <a:srgbClr val="2563EB"/>
          </a:solidFill>
          <a:ln w="6350">
            <a:solidFill>
              <a:srgbClr val="2563EB"/>
            </a:solidFill>
            <a:prstDash val="solid"/>
          </a:ln>
        </p:spPr>
      </p:sp>
      <p:sp>
        <p:nvSpPr>
          <p:cNvPr id="94" name="Text 92"/>
          <p:cNvSpPr/>
          <p:nvPr/>
        </p:nvSpPr>
        <p:spPr>
          <a:xfrm>
            <a:off x="9966960" y="4032504"/>
            <a:ext cx="8229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40" dirty="0">
                <a:solidFill>
                  <a:srgbClr val="0F172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06 涂料采购</a:t>
            </a:r>
            <a:endParaRPr lang="en-US" sz="640" dirty="0"/>
          </a:p>
        </p:txBody>
      </p:sp>
      <p:sp>
        <p:nvSpPr>
          <p:cNvPr id="95" name="Text 93"/>
          <p:cNvSpPr/>
          <p:nvPr/>
        </p:nvSpPr>
        <p:spPr>
          <a:xfrm>
            <a:off x="10698480" y="4032504"/>
            <a:ext cx="4572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20" dirty="0">
                <a:solidFill>
                  <a:srgbClr val="64748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进行中</a:t>
            </a:r>
            <a:endParaRPr lang="en-US" sz="620" dirty="0"/>
          </a:p>
        </p:txBody>
      </p:sp>
      <p:sp>
        <p:nvSpPr>
          <p:cNvPr id="96" name="Shape 94"/>
          <p:cNvSpPr/>
          <p:nvPr/>
        </p:nvSpPr>
        <p:spPr>
          <a:xfrm>
            <a:off x="9756648" y="4489704"/>
            <a:ext cx="137160" cy="137160"/>
          </a:xfrm>
          <a:prstGeom prst="ellipse">
            <a:avLst/>
          </a:prstGeom>
          <a:solidFill>
            <a:srgbClr val="94A3B8"/>
          </a:solidFill>
          <a:ln w="6350">
            <a:solidFill>
              <a:srgbClr val="94A3B8"/>
            </a:solidFill>
            <a:prstDash val="solid"/>
          </a:ln>
        </p:spPr>
      </p:sp>
      <p:sp>
        <p:nvSpPr>
          <p:cNvPr id="97" name="Text 95"/>
          <p:cNvSpPr/>
          <p:nvPr/>
        </p:nvSpPr>
        <p:spPr>
          <a:xfrm>
            <a:off x="9966960" y="4471416"/>
            <a:ext cx="8229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40" dirty="0">
                <a:solidFill>
                  <a:srgbClr val="0F172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12 样车评审</a:t>
            </a:r>
            <a:endParaRPr lang="en-US" sz="640" dirty="0"/>
          </a:p>
        </p:txBody>
      </p:sp>
      <p:sp>
        <p:nvSpPr>
          <p:cNvPr id="98" name="Text 96"/>
          <p:cNvSpPr/>
          <p:nvPr/>
        </p:nvSpPr>
        <p:spPr>
          <a:xfrm>
            <a:off x="10698480" y="4471416"/>
            <a:ext cx="4572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20" dirty="0">
                <a:solidFill>
                  <a:srgbClr val="64748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未开始</a:t>
            </a:r>
            <a:endParaRPr lang="en-US" sz="620" dirty="0"/>
          </a:p>
        </p:txBody>
      </p:sp>
      <p:sp>
        <p:nvSpPr>
          <p:cNvPr id="99" name="Shape 97"/>
          <p:cNvSpPr/>
          <p:nvPr/>
        </p:nvSpPr>
        <p:spPr>
          <a:xfrm>
            <a:off x="9756648" y="4928616"/>
            <a:ext cx="137160" cy="137160"/>
          </a:xfrm>
          <a:prstGeom prst="ellipse">
            <a:avLst/>
          </a:prstGeom>
          <a:solidFill>
            <a:srgbClr val="94A3B8"/>
          </a:solidFill>
          <a:ln w="6350">
            <a:solidFill>
              <a:srgbClr val="94A3B8"/>
            </a:solidFill>
            <a:prstDash val="solid"/>
          </a:ln>
        </p:spPr>
      </p:sp>
      <p:sp>
        <p:nvSpPr>
          <p:cNvPr id="100" name="Text 98"/>
          <p:cNvSpPr/>
          <p:nvPr/>
        </p:nvSpPr>
        <p:spPr>
          <a:xfrm>
            <a:off x="9966960" y="4910328"/>
            <a:ext cx="8229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40" dirty="0">
                <a:solidFill>
                  <a:srgbClr val="0F172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16 批量生产</a:t>
            </a:r>
            <a:endParaRPr lang="en-US" sz="640" dirty="0"/>
          </a:p>
        </p:txBody>
      </p:sp>
      <p:sp>
        <p:nvSpPr>
          <p:cNvPr id="101" name="Text 99"/>
          <p:cNvSpPr/>
          <p:nvPr/>
        </p:nvSpPr>
        <p:spPr>
          <a:xfrm>
            <a:off x="10698480" y="4910328"/>
            <a:ext cx="4572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20" dirty="0">
                <a:solidFill>
                  <a:srgbClr val="64748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未开始</a:t>
            </a:r>
            <a:endParaRPr lang="en-US" sz="620" dirty="0"/>
          </a:p>
        </p:txBody>
      </p:sp>
      <p:sp>
        <p:nvSpPr>
          <p:cNvPr id="102" name="Shape 100"/>
          <p:cNvSpPr/>
          <p:nvPr/>
        </p:nvSpPr>
        <p:spPr>
          <a:xfrm>
            <a:off x="9756648" y="5367528"/>
            <a:ext cx="137160" cy="137160"/>
          </a:xfrm>
          <a:prstGeom prst="ellipse">
            <a:avLst/>
          </a:prstGeom>
          <a:solidFill>
            <a:srgbClr val="94A3B8"/>
          </a:solidFill>
          <a:ln w="6350">
            <a:solidFill>
              <a:srgbClr val="94A3B8"/>
            </a:solidFill>
            <a:prstDash val="solid"/>
          </a:ln>
        </p:spPr>
      </p:sp>
      <p:sp>
        <p:nvSpPr>
          <p:cNvPr id="103" name="Text 101"/>
          <p:cNvSpPr/>
          <p:nvPr/>
        </p:nvSpPr>
        <p:spPr>
          <a:xfrm>
            <a:off x="9966960" y="5349240"/>
            <a:ext cx="8229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40" dirty="0">
                <a:solidFill>
                  <a:srgbClr val="0F172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17 月度评审</a:t>
            </a:r>
            <a:endParaRPr lang="en-US" sz="640" dirty="0"/>
          </a:p>
        </p:txBody>
      </p:sp>
      <p:sp>
        <p:nvSpPr>
          <p:cNvPr id="104" name="Text 102"/>
          <p:cNvSpPr/>
          <p:nvPr/>
        </p:nvSpPr>
        <p:spPr>
          <a:xfrm>
            <a:off x="10698480" y="5349240"/>
            <a:ext cx="4572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20" dirty="0">
                <a:solidFill>
                  <a:srgbClr val="64748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未开始</a:t>
            </a:r>
            <a:endParaRPr lang="en-US" sz="620" dirty="0"/>
          </a:p>
        </p:txBody>
      </p:sp>
      <p:sp>
        <p:nvSpPr>
          <p:cNvPr id="105" name="Shape 103"/>
          <p:cNvSpPr/>
          <p:nvPr/>
        </p:nvSpPr>
        <p:spPr>
          <a:xfrm>
            <a:off x="9756648" y="5806440"/>
            <a:ext cx="137160" cy="137160"/>
          </a:xfrm>
          <a:prstGeom prst="ellipse">
            <a:avLst/>
          </a:prstGeom>
          <a:solidFill>
            <a:srgbClr val="94A3B8"/>
          </a:solidFill>
          <a:ln w="6350">
            <a:solidFill>
              <a:srgbClr val="94A3B8"/>
            </a:solidFill>
            <a:prstDash val="solid"/>
          </a:ln>
        </p:spPr>
      </p:sp>
      <p:sp>
        <p:nvSpPr>
          <p:cNvPr id="106" name="Text 104"/>
          <p:cNvSpPr/>
          <p:nvPr/>
        </p:nvSpPr>
        <p:spPr>
          <a:xfrm>
            <a:off x="9966960" y="5788152"/>
            <a:ext cx="8229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40" dirty="0">
                <a:solidFill>
                  <a:srgbClr val="0F172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18 颜色退出</a:t>
            </a:r>
            <a:endParaRPr lang="en-US" sz="640" dirty="0"/>
          </a:p>
        </p:txBody>
      </p:sp>
      <p:sp>
        <p:nvSpPr>
          <p:cNvPr id="107" name="Text 105"/>
          <p:cNvSpPr/>
          <p:nvPr/>
        </p:nvSpPr>
        <p:spPr>
          <a:xfrm>
            <a:off x="10698480" y="5788152"/>
            <a:ext cx="4572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20" dirty="0">
                <a:solidFill>
                  <a:srgbClr val="64748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未开始</a:t>
            </a:r>
            <a:endParaRPr lang="en-US" sz="620" dirty="0"/>
          </a:p>
        </p:txBody>
      </p:sp>
      <p:sp>
        <p:nvSpPr>
          <p:cNvPr id="108" name="Text 106"/>
          <p:cNvSpPr/>
          <p:nvPr/>
        </p:nvSpPr>
        <p:spPr>
          <a:xfrm>
            <a:off x="11567160" y="6492240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07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6766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07｜单项目流程时间线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02920" y="786384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18个工序按生命周期展示；关键决策、并行支线、月度跟踪与退出治理明确标识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02920" y="1143000"/>
            <a:ext cx="11201400" cy="0"/>
          </a:xfrm>
          <a:prstGeom prst="line">
            <a:avLst/>
          </a:prstGeom>
          <a:noFill/>
          <a:ln w="8890">
            <a:solidFill>
              <a:srgbClr val="D9E2EC"/>
            </a:solidFill>
            <a:prstDash val="solid"/>
            <a:headEnd type="none"/>
            <a:tailEnd type="none"/>
          </a:ln>
        </p:spPr>
      </p:sp>
      <p:sp>
        <p:nvSpPr>
          <p:cNvPr id="5" name="Shape 3"/>
          <p:cNvSpPr/>
          <p:nvPr/>
        </p:nvSpPr>
        <p:spPr>
          <a:xfrm>
            <a:off x="502920" y="1051560"/>
            <a:ext cx="11201400" cy="5623560"/>
          </a:xfrm>
          <a:prstGeom prst="roundRect">
            <a:avLst>
              <a:gd name="adj" fmla="val 2602"/>
            </a:avLst>
          </a:prstGeom>
          <a:solidFill>
            <a:srgbClr val="FFFFFF"/>
          </a:solidFill>
          <a:ln w="7620">
            <a:solidFill>
              <a:srgbClr val="D9E2EC"/>
            </a:solidFill>
            <a:prstDash val="solid"/>
          </a:ln>
          <a:effectLst>
            <a:outerShdw sx="100000" sy="100000" kx="0" ky="0" algn="bl" rotWithShape="0" blurRad="2.0302570272305663e+33" dist="2.707009369640755e+33" dir="7.558272e+39">
              <a:srgbClr val="CBD5E1">
                <a:alpha val="2.2e+39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02920" y="1051560"/>
            <a:ext cx="11201400" cy="438912"/>
          </a:xfrm>
          <a:prstGeom prst="roundRect">
            <a:avLst>
              <a:gd name="adj" fmla="val 33333"/>
            </a:avLst>
          </a:prstGeom>
          <a:solidFill>
            <a:srgbClr val="EFF6FF"/>
          </a:solidFill>
          <a:ln w="7620">
            <a:solidFill>
              <a:srgbClr val="D9E2E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04088" y="1216152"/>
            <a:ext cx="109728" cy="109728"/>
          </a:xfrm>
          <a:prstGeom prst="ellipse">
            <a:avLst/>
          </a:prstGeom>
          <a:solidFill>
            <a:srgbClr val="F87171"/>
          </a:solidFill>
          <a:ln w="6350">
            <a:solidFill>
              <a:srgbClr val="F8717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86968" y="1216152"/>
            <a:ext cx="109728" cy="109728"/>
          </a:xfrm>
          <a:prstGeom prst="ellipse">
            <a:avLst/>
          </a:prstGeom>
          <a:solidFill>
            <a:srgbClr val="FBBF24"/>
          </a:solidFill>
          <a:ln w="6350">
            <a:solidFill>
              <a:srgbClr val="FBBF2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69848" y="1216152"/>
            <a:ext cx="109728" cy="109728"/>
          </a:xfrm>
          <a:prstGeom prst="ellipse">
            <a:avLst/>
          </a:prstGeom>
          <a:solidFill>
            <a:srgbClr val="34D399"/>
          </a:solidFill>
          <a:ln w="6350">
            <a:solidFill>
              <a:srgbClr val="34D39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344168" y="1170432"/>
            <a:ext cx="10104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项目详情 / 流程时间线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502920" y="1490472"/>
            <a:ext cx="1417320" cy="5184648"/>
          </a:xfrm>
          <a:prstGeom prst="rect">
            <a:avLst>
              <a:gd name="adj" fmla="val 5161"/>
            </a:avLst>
          </a:prstGeom>
          <a:solidFill>
            <a:srgbClr val="0F172A"/>
          </a:solidFill>
          <a:ln w="7620">
            <a:solidFill>
              <a:srgbClr val="0F172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67512" y="1673352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颜色开发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67512" y="1929384"/>
            <a:ext cx="1143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60" dirty="0">
                <a:solidFill>
                  <a:srgbClr val="CBD5E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项目管理系统</a:t>
            </a:r>
            <a:endParaRPr lang="en-US" sz="760" dirty="0"/>
          </a:p>
        </p:txBody>
      </p:sp>
      <p:sp>
        <p:nvSpPr>
          <p:cNvPr id="14" name="Shape 12"/>
          <p:cNvSpPr/>
          <p:nvPr/>
        </p:nvSpPr>
        <p:spPr>
          <a:xfrm>
            <a:off x="621792" y="2386584"/>
            <a:ext cx="1179576" cy="301752"/>
          </a:xfrm>
          <a:prstGeom prst="roundRect">
            <a:avLst>
              <a:gd name="adj" fmla="val 24242"/>
            </a:avLst>
          </a:prstGeom>
          <a:solidFill>
            <a:srgbClr val="0F172A"/>
          </a:solidFill>
          <a:ln w="7620">
            <a:solidFill>
              <a:srgbClr val="0F172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58952" y="2450592"/>
            <a:ext cx="10058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CBD5E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工作台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621792" y="2807208"/>
            <a:ext cx="1179576" cy="301752"/>
          </a:xfrm>
          <a:prstGeom prst="roundRect">
            <a:avLst>
              <a:gd name="adj" fmla="val 24242"/>
            </a:avLst>
          </a:prstGeom>
          <a:solidFill>
            <a:srgbClr val="2563EB"/>
          </a:solidFill>
          <a:ln w="7620">
            <a:solidFill>
              <a:srgbClr val="2563E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58952" y="2871216"/>
            <a:ext cx="10058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项目管理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621792" y="3227832"/>
            <a:ext cx="1179576" cy="301752"/>
          </a:xfrm>
          <a:prstGeom prst="roundRect">
            <a:avLst>
              <a:gd name="adj" fmla="val 24242"/>
            </a:avLst>
          </a:prstGeom>
          <a:solidFill>
            <a:srgbClr val="0F172A"/>
          </a:solidFill>
          <a:ln w="7620">
            <a:solidFill>
              <a:srgbClr val="0F172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58952" y="3291840"/>
            <a:ext cx="10058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CBD5E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工序管理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621792" y="3648456"/>
            <a:ext cx="1179576" cy="301752"/>
          </a:xfrm>
          <a:prstGeom prst="roundRect">
            <a:avLst>
              <a:gd name="adj" fmla="val 24242"/>
            </a:avLst>
          </a:prstGeom>
          <a:solidFill>
            <a:srgbClr val="0F172A"/>
          </a:solidFill>
          <a:ln w="7620">
            <a:solidFill>
              <a:srgbClr val="0F172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58952" y="3712464"/>
            <a:ext cx="10058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CBD5E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材料中心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621792" y="4069080"/>
            <a:ext cx="1179576" cy="301752"/>
          </a:xfrm>
          <a:prstGeom prst="roundRect">
            <a:avLst>
              <a:gd name="adj" fmla="val 24242"/>
            </a:avLst>
          </a:prstGeom>
          <a:solidFill>
            <a:srgbClr val="0F172A"/>
          </a:solidFill>
          <a:ln w="7620">
            <a:solidFill>
              <a:srgbClr val="0F172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58952" y="4133088"/>
            <a:ext cx="10058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CBD5E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月度评审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621792" y="4489704"/>
            <a:ext cx="1179576" cy="301752"/>
          </a:xfrm>
          <a:prstGeom prst="roundRect">
            <a:avLst>
              <a:gd name="adj" fmla="val 24242"/>
            </a:avLst>
          </a:prstGeom>
          <a:solidFill>
            <a:srgbClr val="0F172A"/>
          </a:solidFill>
          <a:ln w="7620">
            <a:solidFill>
              <a:srgbClr val="0F172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58952" y="4553712"/>
            <a:ext cx="10058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CBD5E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数据中心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621792" y="4910328"/>
            <a:ext cx="1179576" cy="301752"/>
          </a:xfrm>
          <a:prstGeom prst="roundRect">
            <a:avLst>
              <a:gd name="adj" fmla="val 24242"/>
            </a:avLst>
          </a:prstGeom>
          <a:solidFill>
            <a:srgbClr val="0F172A"/>
          </a:solidFill>
          <a:ln w="7620">
            <a:solidFill>
              <a:srgbClr val="0F172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58952" y="4974336"/>
            <a:ext cx="10058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CBD5E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系统设置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1920240" y="1490472"/>
            <a:ext cx="9784080" cy="512064"/>
          </a:xfrm>
          <a:prstGeom prst="rect">
            <a:avLst>
              <a:gd name="adj" fmla="val 14286"/>
            </a:avLst>
          </a:prstGeom>
          <a:solidFill>
            <a:srgbClr val="FFFFFF"/>
          </a:solidFill>
          <a:ln w="7620">
            <a:solidFill>
              <a:srgbClr val="D9E2E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212848" y="1645920"/>
            <a:ext cx="1920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20" dirty="0">
                <a:solidFill>
                  <a:srgbClr val="94A3B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搜索项目 / 颜色 / 负责人</a:t>
            </a:r>
            <a:endParaRPr lang="en-US" sz="720" dirty="0"/>
          </a:p>
        </p:txBody>
      </p:sp>
      <p:sp>
        <p:nvSpPr>
          <p:cNvPr id="30" name="Shape 28"/>
          <p:cNvSpPr/>
          <p:nvPr/>
        </p:nvSpPr>
        <p:spPr>
          <a:xfrm>
            <a:off x="9784080" y="1600200"/>
            <a:ext cx="685800" cy="274320"/>
          </a:xfrm>
          <a:prstGeom prst="roundRect">
            <a:avLst>
              <a:gd name="adj" fmla="val 26667"/>
            </a:avLst>
          </a:prstGeom>
          <a:solidFill>
            <a:srgbClr val="DBEAFE"/>
          </a:solidFill>
          <a:ln w="7620">
            <a:solidFill>
              <a:srgbClr val="DBEAFE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9838944" y="1655064"/>
            <a:ext cx="57607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60" b="1" dirty="0">
                <a:solidFill>
                  <a:srgbClr val="2563E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立即刷新</a:t>
            </a:r>
            <a:endParaRPr lang="en-US" sz="660" dirty="0"/>
          </a:p>
        </p:txBody>
      </p:sp>
      <p:sp>
        <p:nvSpPr>
          <p:cNvPr id="32" name="Text 30"/>
          <p:cNvSpPr/>
          <p:nvPr/>
        </p:nvSpPr>
        <p:spPr>
          <a:xfrm>
            <a:off x="10561320" y="1645920"/>
            <a:ext cx="9601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80" dirty="0">
                <a:solidFill>
                  <a:srgbClr val="64748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最近更新 14:32</a:t>
            </a:r>
            <a:endParaRPr lang="en-US" sz="680" dirty="0"/>
          </a:p>
        </p:txBody>
      </p:sp>
      <p:sp>
        <p:nvSpPr>
          <p:cNvPr id="33" name="Text 31"/>
          <p:cNvSpPr/>
          <p:nvPr/>
        </p:nvSpPr>
        <p:spPr>
          <a:xfrm>
            <a:off x="2148840" y="2148840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流程时间线</a:t>
            </a:r>
            <a:endParaRPr lang="en-US" sz="1400" dirty="0"/>
          </a:p>
        </p:txBody>
      </p:sp>
      <p:sp>
        <p:nvSpPr>
          <p:cNvPr id="34" name="Shape 32"/>
          <p:cNvSpPr/>
          <p:nvPr/>
        </p:nvSpPr>
        <p:spPr>
          <a:xfrm>
            <a:off x="2578608" y="2971800"/>
            <a:ext cx="0" cy="128016"/>
          </a:xfrm>
          <a:prstGeom prst="line">
            <a:avLst/>
          </a:prstGeom>
          <a:noFill/>
          <a:ln w="13970">
            <a:solidFill>
              <a:srgbClr val="10B981"/>
            </a:solidFill>
            <a:prstDash val="solid"/>
            <a:headEnd type="none"/>
            <a:tailEnd type="none"/>
          </a:ln>
        </p:spPr>
      </p:sp>
      <p:sp>
        <p:nvSpPr>
          <p:cNvPr id="35" name="Shape 33"/>
          <p:cNvSpPr/>
          <p:nvPr/>
        </p:nvSpPr>
        <p:spPr>
          <a:xfrm>
            <a:off x="2468880" y="2807208"/>
            <a:ext cx="219456" cy="219456"/>
          </a:xfrm>
          <a:prstGeom prst="ellipse">
            <a:avLst/>
          </a:prstGeom>
          <a:solidFill>
            <a:srgbClr val="10B981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468880" y="2818181"/>
            <a:ext cx="219456" cy="17556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2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</a:t>
            </a:r>
            <a:endParaRPr lang="en-US" sz="620" dirty="0"/>
          </a:p>
        </p:txBody>
      </p:sp>
      <p:sp>
        <p:nvSpPr>
          <p:cNvPr id="37" name="Text 35"/>
          <p:cNvSpPr/>
          <p:nvPr/>
        </p:nvSpPr>
        <p:spPr>
          <a:xfrm>
            <a:off x="2788920" y="2807208"/>
            <a:ext cx="10058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30" dirty="0">
                <a:solidFill>
                  <a:srgbClr val="0F172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市场需求</a:t>
            </a:r>
            <a:endParaRPr lang="en-US" sz="730" dirty="0"/>
          </a:p>
        </p:txBody>
      </p:sp>
      <p:sp>
        <p:nvSpPr>
          <p:cNvPr id="38" name="Shape 36"/>
          <p:cNvSpPr/>
          <p:nvPr/>
        </p:nvSpPr>
        <p:spPr>
          <a:xfrm>
            <a:off x="3794760" y="2807208"/>
            <a:ext cx="621792" cy="182880"/>
          </a:xfrm>
          <a:prstGeom prst="roundRect">
            <a:avLst>
              <a:gd name="adj" fmla="val 60000"/>
            </a:avLst>
          </a:prstGeom>
          <a:solidFill>
            <a:srgbClr val="D1FAE5"/>
          </a:solidFill>
          <a:ln w="7620">
            <a:solidFill>
              <a:srgbClr val="D1FAE5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794760" y="2811780"/>
            <a:ext cx="6217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20" b="1" dirty="0">
                <a:solidFill>
                  <a:srgbClr val="10B98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已完成</a:t>
            </a:r>
            <a:endParaRPr lang="en-US" sz="620" dirty="0"/>
          </a:p>
        </p:txBody>
      </p:sp>
      <p:sp>
        <p:nvSpPr>
          <p:cNvPr id="40" name="Text 38"/>
          <p:cNvSpPr/>
          <p:nvPr/>
        </p:nvSpPr>
        <p:spPr>
          <a:xfrm>
            <a:off x="4480560" y="2816352"/>
            <a:ext cx="10058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20" dirty="0">
                <a:solidFill>
                  <a:srgbClr val="64748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客户样板</a:t>
            </a:r>
            <a:endParaRPr lang="en-US" sz="620" dirty="0"/>
          </a:p>
        </p:txBody>
      </p:sp>
      <p:sp>
        <p:nvSpPr>
          <p:cNvPr id="41" name="Shape 39"/>
          <p:cNvSpPr/>
          <p:nvPr/>
        </p:nvSpPr>
        <p:spPr>
          <a:xfrm>
            <a:off x="2578608" y="3246120"/>
            <a:ext cx="0" cy="128016"/>
          </a:xfrm>
          <a:prstGeom prst="line">
            <a:avLst/>
          </a:prstGeom>
          <a:noFill/>
          <a:ln w="13970">
            <a:solidFill>
              <a:srgbClr val="10B981"/>
            </a:solidFill>
            <a:prstDash val="solid"/>
            <a:headEnd type="none"/>
            <a:tailEnd type="none"/>
          </a:ln>
        </p:spPr>
      </p:sp>
      <p:sp>
        <p:nvSpPr>
          <p:cNvPr id="42" name="Shape 40"/>
          <p:cNvSpPr/>
          <p:nvPr/>
        </p:nvSpPr>
        <p:spPr>
          <a:xfrm>
            <a:off x="2468880" y="3081528"/>
            <a:ext cx="219456" cy="219456"/>
          </a:xfrm>
          <a:prstGeom prst="ellipse">
            <a:avLst/>
          </a:prstGeom>
          <a:solidFill>
            <a:srgbClr val="10B981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2468880" y="3092501"/>
            <a:ext cx="219456" cy="17556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2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2</a:t>
            </a:r>
            <a:endParaRPr lang="en-US" sz="620" dirty="0"/>
          </a:p>
        </p:txBody>
      </p:sp>
      <p:sp>
        <p:nvSpPr>
          <p:cNvPr id="44" name="Text 42"/>
          <p:cNvSpPr/>
          <p:nvPr/>
        </p:nvSpPr>
        <p:spPr>
          <a:xfrm>
            <a:off x="2788920" y="3081528"/>
            <a:ext cx="10058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30" dirty="0">
                <a:solidFill>
                  <a:srgbClr val="0F172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开发报告</a:t>
            </a:r>
            <a:endParaRPr lang="en-US" sz="730" dirty="0"/>
          </a:p>
        </p:txBody>
      </p:sp>
      <p:sp>
        <p:nvSpPr>
          <p:cNvPr id="45" name="Shape 43"/>
          <p:cNvSpPr/>
          <p:nvPr/>
        </p:nvSpPr>
        <p:spPr>
          <a:xfrm>
            <a:off x="3794760" y="3081528"/>
            <a:ext cx="621792" cy="182880"/>
          </a:xfrm>
          <a:prstGeom prst="roundRect">
            <a:avLst>
              <a:gd name="adj" fmla="val 60000"/>
            </a:avLst>
          </a:prstGeom>
          <a:solidFill>
            <a:srgbClr val="D1FAE5"/>
          </a:solidFill>
          <a:ln w="7620">
            <a:solidFill>
              <a:srgbClr val="D1FAE5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3794760" y="3086100"/>
            <a:ext cx="6217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20" b="1" dirty="0">
                <a:solidFill>
                  <a:srgbClr val="10B98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已完成</a:t>
            </a:r>
            <a:endParaRPr lang="en-US" sz="620" dirty="0"/>
          </a:p>
        </p:txBody>
      </p:sp>
      <p:sp>
        <p:nvSpPr>
          <p:cNvPr id="47" name="Text 45"/>
          <p:cNvSpPr/>
          <p:nvPr/>
        </p:nvSpPr>
        <p:spPr>
          <a:xfrm>
            <a:off x="4480560" y="3090672"/>
            <a:ext cx="10058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20" dirty="0">
                <a:solidFill>
                  <a:srgbClr val="64748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需求报告</a:t>
            </a:r>
            <a:endParaRPr lang="en-US" sz="620" dirty="0"/>
          </a:p>
        </p:txBody>
      </p:sp>
      <p:sp>
        <p:nvSpPr>
          <p:cNvPr id="48" name="Shape 46"/>
          <p:cNvSpPr/>
          <p:nvPr/>
        </p:nvSpPr>
        <p:spPr>
          <a:xfrm>
            <a:off x="2578608" y="3520440"/>
            <a:ext cx="0" cy="128016"/>
          </a:xfrm>
          <a:prstGeom prst="line">
            <a:avLst/>
          </a:prstGeom>
          <a:noFill/>
          <a:ln w="13970">
            <a:solidFill>
              <a:srgbClr val="10B981"/>
            </a:solidFill>
            <a:prstDash val="solid"/>
            <a:headEnd type="none"/>
            <a:tailEnd type="none"/>
          </a:ln>
        </p:spPr>
      </p:sp>
      <p:sp>
        <p:nvSpPr>
          <p:cNvPr id="49" name="Shape 47"/>
          <p:cNvSpPr/>
          <p:nvPr/>
        </p:nvSpPr>
        <p:spPr>
          <a:xfrm>
            <a:off x="2468880" y="3355848"/>
            <a:ext cx="219456" cy="219456"/>
          </a:xfrm>
          <a:prstGeom prst="ellipse">
            <a:avLst/>
          </a:prstGeom>
          <a:solidFill>
            <a:srgbClr val="10B981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2468880" y="3366821"/>
            <a:ext cx="219456" cy="17556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2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3</a:t>
            </a:r>
            <a:endParaRPr lang="en-US" sz="620" dirty="0"/>
          </a:p>
        </p:txBody>
      </p:sp>
      <p:sp>
        <p:nvSpPr>
          <p:cNvPr id="51" name="Text 49"/>
          <p:cNvSpPr/>
          <p:nvPr/>
        </p:nvSpPr>
        <p:spPr>
          <a:xfrm>
            <a:off x="2788920" y="3355848"/>
            <a:ext cx="10058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30" dirty="0">
                <a:solidFill>
                  <a:srgbClr val="0F172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涂料开发</a:t>
            </a:r>
            <a:endParaRPr lang="en-US" sz="730" dirty="0"/>
          </a:p>
        </p:txBody>
      </p:sp>
      <p:sp>
        <p:nvSpPr>
          <p:cNvPr id="52" name="Shape 50"/>
          <p:cNvSpPr/>
          <p:nvPr/>
        </p:nvSpPr>
        <p:spPr>
          <a:xfrm>
            <a:off x="3794760" y="3355848"/>
            <a:ext cx="621792" cy="182880"/>
          </a:xfrm>
          <a:prstGeom prst="roundRect">
            <a:avLst>
              <a:gd name="adj" fmla="val 60000"/>
            </a:avLst>
          </a:prstGeom>
          <a:solidFill>
            <a:srgbClr val="D1FAE5"/>
          </a:solidFill>
          <a:ln w="7620">
            <a:solidFill>
              <a:srgbClr val="D1FAE5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3794760" y="3360420"/>
            <a:ext cx="6217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20" b="1" dirty="0">
                <a:solidFill>
                  <a:srgbClr val="10B98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已完成</a:t>
            </a:r>
            <a:endParaRPr lang="en-US" sz="620" dirty="0"/>
          </a:p>
        </p:txBody>
      </p:sp>
      <p:sp>
        <p:nvSpPr>
          <p:cNvPr id="54" name="Text 52"/>
          <p:cNvSpPr/>
          <p:nvPr/>
        </p:nvSpPr>
        <p:spPr>
          <a:xfrm>
            <a:off x="4480560" y="3364992"/>
            <a:ext cx="10058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20" dirty="0">
                <a:solidFill>
                  <a:srgbClr val="64748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厂家样板</a:t>
            </a:r>
            <a:endParaRPr lang="en-US" sz="620" dirty="0"/>
          </a:p>
        </p:txBody>
      </p:sp>
      <p:sp>
        <p:nvSpPr>
          <p:cNvPr id="55" name="Shape 53"/>
          <p:cNvSpPr/>
          <p:nvPr/>
        </p:nvSpPr>
        <p:spPr>
          <a:xfrm>
            <a:off x="2578608" y="3794760"/>
            <a:ext cx="0" cy="128016"/>
          </a:xfrm>
          <a:prstGeom prst="line">
            <a:avLst/>
          </a:prstGeom>
          <a:noFill/>
          <a:ln w="13970">
            <a:solidFill>
              <a:srgbClr val="10B981"/>
            </a:solidFill>
            <a:prstDash val="solid"/>
            <a:headEnd type="none"/>
            <a:tailEnd type="none"/>
          </a:ln>
        </p:spPr>
      </p:sp>
      <p:sp>
        <p:nvSpPr>
          <p:cNvPr id="56" name="Shape 54"/>
          <p:cNvSpPr/>
          <p:nvPr/>
        </p:nvSpPr>
        <p:spPr>
          <a:xfrm>
            <a:off x="2468880" y="3630168"/>
            <a:ext cx="219456" cy="219456"/>
          </a:xfrm>
          <a:prstGeom prst="ellipse">
            <a:avLst/>
          </a:prstGeom>
          <a:solidFill>
            <a:srgbClr val="10B981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2468880" y="3641141"/>
            <a:ext cx="219456" cy="17556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2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4</a:t>
            </a:r>
            <a:endParaRPr lang="en-US" sz="620" dirty="0"/>
          </a:p>
        </p:txBody>
      </p:sp>
      <p:sp>
        <p:nvSpPr>
          <p:cNvPr id="58" name="Text 56"/>
          <p:cNvSpPr/>
          <p:nvPr/>
        </p:nvSpPr>
        <p:spPr>
          <a:xfrm>
            <a:off x="2788920" y="3630168"/>
            <a:ext cx="10058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30" dirty="0">
                <a:solidFill>
                  <a:srgbClr val="0F172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样板确认</a:t>
            </a:r>
            <a:endParaRPr lang="en-US" sz="730" dirty="0"/>
          </a:p>
        </p:txBody>
      </p:sp>
      <p:sp>
        <p:nvSpPr>
          <p:cNvPr id="59" name="Shape 57"/>
          <p:cNvSpPr/>
          <p:nvPr/>
        </p:nvSpPr>
        <p:spPr>
          <a:xfrm>
            <a:off x="3794760" y="3630168"/>
            <a:ext cx="621792" cy="182880"/>
          </a:xfrm>
          <a:prstGeom prst="roundRect">
            <a:avLst>
              <a:gd name="adj" fmla="val 60000"/>
            </a:avLst>
          </a:prstGeom>
          <a:solidFill>
            <a:srgbClr val="D1FAE5"/>
          </a:solidFill>
          <a:ln w="7620">
            <a:solidFill>
              <a:srgbClr val="D1FAE5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3794760" y="3634740"/>
            <a:ext cx="6217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20" b="1" dirty="0">
                <a:solidFill>
                  <a:srgbClr val="10B98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已完成</a:t>
            </a:r>
            <a:endParaRPr lang="en-US" sz="620" dirty="0"/>
          </a:p>
        </p:txBody>
      </p:sp>
      <p:sp>
        <p:nvSpPr>
          <p:cNvPr id="61" name="Text 59"/>
          <p:cNvSpPr/>
          <p:nvPr/>
        </p:nvSpPr>
        <p:spPr>
          <a:xfrm>
            <a:off x="4480560" y="3639312"/>
            <a:ext cx="10058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20" dirty="0">
                <a:solidFill>
                  <a:srgbClr val="64748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确认单</a:t>
            </a:r>
            <a:endParaRPr lang="en-US" sz="620" dirty="0"/>
          </a:p>
        </p:txBody>
      </p:sp>
      <p:sp>
        <p:nvSpPr>
          <p:cNvPr id="62" name="Shape 60"/>
          <p:cNvSpPr/>
          <p:nvPr/>
        </p:nvSpPr>
        <p:spPr>
          <a:xfrm>
            <a:off x="2578608" y="4069080"/>
            <a:ext cx="0" cy="128016"/>
          </a:xfrm>
          <a:prstGeom prst="line">
            <a:avLst/>
          </a:prstGeom>
          <a:noFill/>
          <a:ln w="13970">
            <a:solidFill>
              <a:srgbClr val="CBD5E1"/>
            </a:solidFill>
            <a:prstDash val="solid"/>
            <a:headEnd type="none"/>
            <a:tailEnd type="none"/>
          </a:ln>
        </p:spPr>
      </p:sp>
      <p:sp>
        <p:nvSpPr>
          <p:cNvPr id="63" name="Shape 61"/>
          <p:cNvSpPr/>
          <p:nvPr/>
        </p:nvSpPr>
        <p:spPr>
          <a:xfrm>
            <a:off x="2468880" y="3904488"/>
            <a:ext cx="219456" cy="219456"/>
          </a:xfrm>
          <a:prstGeom prst="ellipse">
            <a:avLst/>
          </a:prstGeom>
          <a:solidFill>
            <a:srgbClr val="2563EB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2468880" y="3915461"/>
            <a:ext cx="219456" cy="17556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2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6</a:t>
            </a:r>
            <a:endParaRPr lang="en-US" sz="620" dirty="0"/>
          </a:p>
        </p:txBody>
      </p:sp>
      <p:sp>
        <p:nvSpPr>
          <p:cNvPr id="65" name="Text 63"/>
          <p:cNvSpPr/>
          <p:nvPr/>
        </p:nvSpPr>
        <p:spPr>
          <a:xfrm>
            <a:off x="2788920" y="3904488"/>
            <a:ext cx="10058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30" b="1" dirty="0">
                <a:solidFill>
                  <a:srgbClr val="0F172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涂料采购</a:t>
            </a:r>
            <a:endParaRPr lang="en-US" sz="730" dirty="0"/>
          </a:p>
        </p:txBody>
      </p:sp>
      <p:sp>
        <p:nvSpPr>
          <p:cNvPr id="66" name="Shape 64"/>
          <p:cNvSpPr/>
          <p:nvPr/>
        </p:nvSpPr>
        <p:spPr>
          <a:xfrm>
            <a:off x="3794760" y="3904488"/>
            <a:ext cx="621792" cy="182880"/>
          </a:xfrm>
          <a:prstGeom prst="roundRect">
            <a:avLst>
              <a:gd name="adj" fmla="val 60000"/>
            </a:avLst>
          </a:prstGeom>
          <a:solidFill>
            <a:srgbClr val="DBEAFE"/>
          </a:solidFill>
          <a:ln w="7620">
            <a:solidFill>
              <a:srgbClr val="DBEAFE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3794760" y="3909060"/>
            <a:ext cx="6217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20" b="1" dirty="0">
                <a:solidFill>
                  <a:srgbClr val="2563E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进行中</a:t>
            </a:r>
            <a:endParaRPr lang="en-US" sz="620" dirty="0"/>
          </a:p>
        </p:txBody>
      </p:sp>
      <p:sp>
        <p:nvSpPr>
          <p:cNvPr id="68" name="Text 66"/>
          <p:cNvSpPr/>
          <p:nvPr/>
        </p:nvSpPr>
        <p:spPr>
          <a:xfrm>
            <a:off x="4480560" y="3913632"/>
            <a:ext cx="10058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20" dirty="0">
                <a:solidFill>
                  <a:srgbClr val="64748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采购记录</a:t>
            </a:r>
            <a:endParaRPr lang="en-US" sz="620" dirty="0"/>
          </a:p>
        </p:txBody>
      </p:sp>
      <p:sp>
        <p:nvSpPr>
          <p:cNvPr id="69" name="Shape 67"/>
          <p:cNvSpPr/>
          <p:nvPr/>
        </p:nvSpPr>
        <p:spPr>
          <a:xfrm>
            <a:off x="2578608" y="4343400"/>
            <a:ext cx="0" cy="128016"/>
          </a:xfrm>
          <a:prstGeom prst="line">
            <a:avLst/>
          </a:prstGeom>
          <a:noFill/>
          <a:ln w="13970">
            <a:solidFill>
              <a:srgbClr val="CBD5E1"/>
            </a:solidFill>
            <a:prstDash val="solid"/>
            <a:headEnd type="none"/>
            <a:tailEnd type="none"/>
          </a:ln>
        </p:spPr>
      </p:sp>
      <p:sp>
        <p:nvSpPr>
          <p:cNvPr id="70" name="Shape 68"/>
          <p:cNvSpPr/>
          <p:nvPr/>
        </p:nvSpPr>
        <p:spPr>
          <a:xfrm>
            <a:off x="2468880" y="4178808"/>
            <a:ext cx="219456" cy="219456"/>
          </a:xfrm>
          <a:prstGeom prst="ellipse">
            <a:avLst/>
          </a:prstGeom>
          <a:solidFill>
            <a:srgbClr val="94A3B8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2468880" y="4189781"/>
            <a:ext cx="219456" cy="17556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2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10</a:t>
            </a:r>
            <a:endParaRPr lang="en-US" sz="620" dirty="0"/>
          </a:p>
        </p:txBody>
      </p:sp>
      <p:sp>
        <p:nvSpPr>
          <p:cNvPr id="72" name="Text 70"/>
          <p:cNvSpPr/>
          <p:nvPr/>
        </p:nvSpPr>
        <p:spPr>
          <a:xfrm>
            <a:off x="2788920" y="4178808"/>
            <a:ext cx="10058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30" dirty="0">
                <a:solidFill>
                  <a:srgbClr val="0F172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首台计划</a:t>
            </a:r>
            <a:endParaRPr lang="en-US" sz="730" dirty="0"/>
          </a:p>
        </p:txBody>
      </p:sp>
      <p:sp>
        <p:nvSpPr>
          <p:cNvPr id="73" name="Shape 71"/>
          <p:cNvSpPr/>
          <p:nvPr/>
        </p:nvSpPr>
        <p:spPr>
          <a:xfrm>
            <a:off x="3794760" y="4178808"/>
            <a:ext cx="621792" cy="182880"/>
          </a:xfrm>
          <a:prstGeom prst="roundRect">
            <a:avLst>
              <a:gd name="adj" fmla="val 60000"/>
            </a:avLst>
          </a:prstGeom>
          <a:solidFill>
            <a:srgbClr val="F1F5F9"/>
          </a:solidFill>
          <a:ln w="7620">
            <a:solidFill>
              <a:srgbClr val="F1F5F9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3794760" y="4183380"/>
            <a:ext cx="6217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20" b="1" dirty="0">
                <a:solidFill>
                  <a:srgbClr val="64748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未开始</a:t>
            </a:r>
            <a:endParaRPr lang="en-US" sz="620" dirty="0"/>
          </a:p>
        </p:txBody>
      </p:sp>
      <p:sp>
        <p:nvSpPr>
          <p:cNvPr id="75" name="Text 73"/>
          <p:cNvSpPr/>
          <p:nvPr/>
        </p:nvSpPr>
        <p:spPr>
          <a:xfrm>
            <a:off x="4480560" y="4187952"/>
            <a:ext cx="10058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20" dirty="0">
                <a:solidFill>
                  <a:srgbClr val="64748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—</a:t>
            </a:r>
            <a:endParaRPr lang="en-US" sz="620" dirty="0"/>
          </a:p>
        </p:txBody>
      </p:sp>
      <p:sp>
        <p:nvSpPr>
          <p:cNvPr id="76" name="Shape 74"/>
          <p:cNvSpPr/>
          <p:nvPr/>
        </p:nvSpPr>
        <p:spPr>
          <a:xfrm>
            <a:off x="2578608" y="4617720"/>
            <a:ext cx="0" cy="128016"/>
          </a:xfrm>
          <a:prstGeom prst="line">
            <a:avLst/>
          </a:prstGeom>
          <a:noFill/>
          <a:ln w="13970">
            <a:solidFill>
              <a:srgbClr val="CBD5E1"/>
            </a:solidFill>
            <a:prstDash val="solid"/>
            <a:headEnd type="none"/>
            <a:tailEnd type="none"/>
          </a:ln>
        </p:spPr>
      </p:sp>
      <p:sp>
        <p:nvSpPr>
          <p:cNvPr id="77" name="Shape 75"/>
          <p:cNvSpPr/>
          <p:nvPr/>
        </p:nvSpPr>
        <p:spPr>
          <a:xfrm>
            <a:off x="2468880" y="4453128"/>
            <a:ext cx="219456" cy="219456"/>
          </a:xfrm>
          <a:prstGeom prst="ellipse">
            <a:avLst/>
          </a:prstGeom>
          <a:solidFill>
            <a:srgbClr val="94A3B8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2468880" y="4464101"/>
            <a:ext cx="219456" cy="17556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2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11</a:t>
            </a:r>
            <a:endParaRPr lang="en-US" sz="620" dirty="0"/>
          </a:p>
        </p:txBody>
      </p:sp>
      <p:sp>
        <p:nvSpPr>
          <p:cNvPr id="79" name="Text 77"/>
          <p:cNvSpPr/>
          <p:nvPr/>
        </p:nvSpPr>
        <p:spPr>
          <a:xfrm>
            <a:off x="2788920" y="4453128"/>
            <a:ext cx="10058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30" dirty="0">
                <a:solidFill>
                  <a:srgbClr val="0F172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样车试制</a:t>
            </a:r>
            <a:endParaRPr lang="en-US" sz="730" dirty="0"/>
          </a:p>
        </p:txBody>
      </p:sp>
      <p:sp>
        <p:nvSpPr>
          <p:cNvPr id="80" name="Shape 78"/>
          <p:cNvSpPr/>
          <p:nvPr/>
        </p:nvSpPr>
        <p:spPr>
          <a:xfrm>
            <a:off x="3794760" y="4453128"/>
            <a:ext cx="621792" cy="182880"/>
          </a:xfrm>
          <a:prstGeom prst="roundRect">
            <a:avLst>
              <a:gd name="adj" fmla="val 60000"/>
            </a:avLst>
          </a:prstGeom>
          <a:solidFill>
            <a:srgbClr val="F1F5F9"/>
          </a:solidFill>
          <a:ln w="7620">
            <a:solidFill>
              <a:srgbClr val="F1F5F9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3794760" y="4457700"/>
            <a:ext cx="6217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20" b="1" dirty="0">
                <a:solidFill>
                  <a:srgbClr val="64748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未开始</a:t>
            </a:r>
            <a:endParaRPr lang="en-US" sz="620" dirty="0"/>
          </a:p>
        </p:txBody>
      </p:sp>
      <p:sp>
        <p:nvSpPr>
          <p:cNvPr id="82" name="Text 80"/>
          <p:cNvSpPr/>
          <p:nvPr/>
        </p:nvSpPr>
        <p:spPr>
          <a:xfrm>
            <a:off x="4480560" y="4462272"/>
            <a:ext cx="10058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20" dirty="0">
                <a:solidFill>
                  <a:srgbClr val="64748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—</a:t>
            </a:r>
            <a:endParaRPr lang="en-US" sz="620" dirty="0"/>
          </a:p>
        </p:txBody>
      </p:sp>
      <p:sp>
        <p:nvSpPr>
          <p:cNvPr id="83" name="Shape 81"/>
          <p:cNvSpPr/>
          <p:nvPr/>
        </p:nvSpPr>
        <p:spPr>
          <a:xfrm>
            <a:off x="2578608" y="4892040"/>
            <a:ext cx="0" cy="128016"/>
          </a:xfrm>
          <a:prstGeom prst="line">
            <a:avLst/>
          </a:prstGeom>
          <a:noFill/>
          <a:ln w="13970">
            <a:solidFill>
              <a:srgbClr val="CBD5E1"/>
            </a:solidFill>
            <a:prstDash val="solid"/>
            <a:headEnd type="none"/>
            <a:tailEnd type="none"/>
          </a:ln>
        </p:spPr>
      </p:sp>
      <p:sp>
        <p:nvSpPr>
          <p:cNvPr id="84" name="Shape 82"/>
          <p:cNvSpPr/>
          <p:nvPr/>
        </p:nvSpPr>
        <p:spPr>
          <a:xfrm>
            <a:off x="2468880" y="4727448"/>
            <a:ext cx="219456" cy="219456"/>
          </a:xfrm>
          <a:prstGeom prst="ellipse">
            <a:avLst/>
          </a:prstGeom>
          <a:solidFill>
            <a:srgbClr val="F59E0B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2468880" y="4738421"/>
            <a:ext cx="219456" cy="17556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2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12</a:t>
            </a:r>
            <a:endParaRPr lang="en-US" sz="620" dirty="0"/>
          </a:p>
        </p:txBody>
      </p:sp>
      <p:sp>
        <p:nvSpPr>
          <p:cNvPr id="86" name="Text 84"/>
          <p:cNvSpPr/>
          <p:nvPr/>
        </p:nvSpPr>
        <p:spPr>
          <a:xfrm>
            <a:off x="2788920" y="4727448"/>
            <a:ext cx="10058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30" dirty="0">
                <a:solidFill>
                  <a:srgbClr val="0F172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样车评审</a:t>
            </a:r>
            <a:endParaRPr lang="en-US" sz="730" dirty="0"/>
          </a:p>
        </p:txBody>
      </p:sp>
      <p:sp>
        <p:nvSpPr>
          <p:cNvPr id="87" name="Shape 85"/>
          <p:cNvSpPr/>
          <p:nvPr/>
        </p:nvSpPr>
        <p:spPr>
          <a:xfrm>
            <a:off x="3794760" y="4727448"/>
            <a:ext cx="621792" cy="182880"/>
          </a:xfrm>
          <a:prstGeom prst="roundRect">
            <a:avLst>
              <a:gd name="adj" fmla="val 60000"/>
            </a:avLst>
          </a:prstGeom>
          <a:solidFill>
            <a:srgbClr val="FEF3C7"/>
          </a:solidFill>
          <a:ln w="7620">
            <a:solidFill>
              <a:srgbClr val="FEF3C7"/>
            </a:solidFill>
            <a:prstDash val="solid"/>
          </a:ln>
        </p:spPr>
      </p:sp>
      <p:sp>
        <p:nvSpPr>
          <p:cNvPr id="88" name="Text 86"/>
          <p:cNvSpPr/>
          <p:nvPr/>
        </p:nvSpPr>
        <p:spPr>
          <a:xfrm>
            <a:off x="3794760" y="4732020"/>
            <a:ext cx="6217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20" b="1" dirty="0">
                <a:solidFill>
                  <a:srgbClr val="F59E0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待评审</a:t>
            </a:r>
            <a:endParaRPr lang="en-US" sz="620" dirty="0"/>
          </a:p>
        </p:txBody>
      </p:sp>
      <p:sp>
        <p:nvSpPr>
          <p:cNvPr id="89" name="Text 87"/>
          <p:cNvSpPr/>
          <p:nvPr/>
        </p:nvSpPr>
        <p:spPr>
          <a:xfrm>
            <a:off x="4480560" y="4736592"/>
            <a:ext cx="10058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20" dirty="0">
                <a:solidFill>
                  <a:srgbClr val="64748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评审报告</a:t>
            </a:r>
            <a:endParaRPr lang="en-US" sz="620" dirty="0"/>
          </a:p>
        </p:txBody>
      </p:sp>
      <p:sp>
        <p:nvSpPr>
          <p:cNvPr id="90" name="Shape 88"/>
          <p:cNvSpPr/>
          <p:nvPr/>
        </p:nvSpPr>
        <p:spPr>
          <a:xfrm>
            <a:off x="2578608" y="5166360"/>
            <a:ext cx="0" cy="128016"/>
          </a:xfrm>
          <a:prstGeom prst="line">
            <a:avLst/>
          </a:prstGeom>
          <a:noFill/>
          <a:ln w="13970">
            <a:solidFill>
              <a:srgbClr val="CBD5E1"/>
            </a:solidFill>
            <a:prstDash val="solid"/>
            <a:headEnd type="none"/>
            <a:tailEnd type="none"/>
          </a:ln>
        </p:spPr>
      </p:sp>
      <p:sp>
        <p:nvSpPr>
          <p:cNvPr id="91" name="Shape 89"/>
          <p:cNvSpPr/>
          <p:nvPr/>
        </p:nvSpPr>
        <p:spPr>
          <a:xfrm>
            <a:off x="2468880" y="5001768"/>
            <a:ext cx="219456" cy="219456"/>
          </a:xfrm>
          <a:prstGeom prst="ellipse">
            <a:avLst/>
          </a:prstGeom>
          <a:solidFill>
            <a:srgbClr val="94A3B8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92" name="Text 90"/>
          <p:cNvSpPr/>
          <p:nvPr/>
        </p:nvSpPr>
        <p:spPr>
          <a:xfrm>
            <a:off x="2468880" y="5012741"/>
            <a:ext cx="219456" cy="17556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2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14</a:t>
            </a:r>
            <a:endParaRPr lang="en-US" sz="620" dirty="0"/>
          </a:p>
        </p:txBody>
      </p:sp>
      <p:sp>
        <p:nvSpPr>
          <p:cNvPr id="93" name="Text 91"/>
          <p:cNvSpPr/>
          <p:nvPr/>
        </p:nvSpPr>
        <p:spPr>
          <a:xfrm>
            <a:off x="2788920" y="5001768"/>
            <a:ext cx="10058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30" dirty="0">
                <a:solidFill>
                  <a:srgbClr val="0F172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一致性评审</a:t>
            </a:r>
            <a:endParaRPr lang="en-US" sz="730" dirty="0"/>
          </a:p>
        </p:txBody>
      </p:sp>
      <p:sp>
        <p:nvSpPr>
          <p:cNvPr id="94" name="Shape 92"/>
          <p:cNvSpPr/>
          <p:nvPr/>
        </p:nvSpPr>
        <p:spPr>
          <a:xfrm>
            <a:off x="3794760" y="5001768"/>
            <a:ext cx="621792" cy="182880"/>
          </a:xfrm>
          <a:prstGeom prst="roundRect">
            <a:avLst>
              <a:gd name="adj" fmla="val 60000"/>
            </a:avLst>
          </a:prstGeom>
          <a:solidFill>
            <a:srgbClr val="F1F5F9"/>
          </a:solidFill>
          <a:ln w="7620">
            <a:solidFill>
              <a:srgbClr val="F1F5F9"/>
            </a:solidFill>
            <a:prstDash val="solid"/>
          </a:ln>
        </p:spPr>
      </p:sp>
      <p:sp>
        <p:nvSpPr>
          <p:cNvPr id="95" name="Text 93"/>
          <p:cNvSpPr/>
          <p:nvPr/>
        </p:nvSpPr>
        <p:spPr>
          <a:xfrm>
            <a:off x="3794760" y="5006340"/>
            <a:ext cx="6217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20" b="1" dirty="0">
                <a:solidFill>
                  <a:srgbClr val="64748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未开始</a:t>
            </a:r>
            <a:endParaRPr lang="en-US" sz="620" dirty="0"/>
          </a:p>
        </p:txBody>
      </p:sp>
      <p:sp>
        <p:nvSpPr>
          <p:cNvPr id="96" name="Text 94"/>
          <p:cNvSpPr/>
          <p:nvPr/>
        </p:nvSpPr>
        <p:spPr>
          <a:xfrm>
            <a:off x="4480560" y="5010912"/>
            <a:ext cx="10058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20" dirty="0">
                <a:solidFill>
                  <a:srgbClr val="64748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—</a:t>
            </a:r>
            <a:endParaRPr lang="en-US" sz="620" dirty="0"/>
          </a:p>
        </p:txBody>
      </p:sp>
      <p:sp>
        <p:nvSpPr>
          <p:cNvPr id="97" name="Shape 95"/>
          <p:cNvSpPr/>
          <p:nvPr/>
        </p:nvSpPr>
        <p:spPr>
          <a:xfrm>
            <a:off x="2578608" y="5440680"/>
            <a:ext cx="0" cy="128016"/>
          </a:xfrm>
          <a:prstGeom prst="line">
            <a:avLst/>
          </a:prstGeom>
          <a:noFill/>
          <a:ln w="13970">
            <a:solidFill>
              <a:srgbClr val="CBD5E1"/>
            </a:solidFill>
            <a:prstDash val="solid"/>
            <a:headEnd type="none"/>
            <a:tailEnd type="none"/>
          </a:ln>
        </p:spPr>
      </p:sp>
      <p:sp>
        <p:nvSpPr>
          <p:cNvPr id="98" name="Shape 96"/>
          <p:cNvSpPr/>
          <p:nvPr/>
        </p:nvSpPr>
        <p:spPr>
          <a:xfrm>
            <a:off x="2468880" y="5276088"/>
            <a:ext cx="219456" cy="219456"/>
          </a:xfrm>
          <a:prstGeom prst="ellipse">
            <a:avLst/>
          </a:prstGeom>
          <a:solidFill>
            <a:srgbClr val="94A3B8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99" name="Text 97"/>
          <p:cNvSpPr/>
          <p:nvPr/>
        </p:nvSpPr>
        <p:spPr>
          <a:xfrm>
            <a:off x="2468880" y="5287061"/>
            <a:ext cx="219456" cy="17556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2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15</a:t>
            </a:r>
            <a:endParaRPr lang="en-US" sz="620" dirty="0"/>
          </a:p>
        </p:txBody>
      </p:sp>
      <p:sp>
        <p:nvSpPr>
          <p:cNvPr id="100" name="Text 98"/>
          <p:cNvSpPr/>
          <p:nvPr/>
        </p:nvSpPr>
        <p:spPr>
          <a:xfrm>
            <a:off x="2788920" y="5276088"/>
            <a:ext cx="10058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30" dirty="0">
                <a:solidFill>
                  <a:srgbClr val="0F172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排产</a:t>
            </a:r>
            <a:endParaRPr lang="en-US" sz="730" dirty="0"/>
          </a:p>
        </p:txBody>
      </p:sp>
      <p:sp>
        <p:nvSpPr>
          <p:cNvPr id="101" name="Shape 99"/>
          <p:cNvSpPr/>
          <p:nvPr/>
        </p:nvSpPr>
        <p:spPr>
          <a:xfrm>
            <a:off x="3794760" y="5276088"/>
            <a:ext cx="621792" cy="182880"/>
          </a:xfrm>
          <a:prstGeom prst="roundRect">
            <a:avLst>
              <a:gd name="adj" fmla="val 60000"/>
            </a:avLst>
          </a:prstGeom>
          <a:solidFill>
            <a:srgbClr val="F1F5F9"/>
          </a:solidFill>
          <a:ln w="7620">
            <a:solidFill>
              <a:srgbClr val="F1F5F9"/>
            </a:solidFill>
            <a:prstDash val="solid"/>
          </a:ln>
        </p:spPr>
      </p:sp>
      <p:sp>
        <p:nvSpPr>
          <p:cNvPr id="102" name="Text 100"/>
          <p:cNvSpPr/>
          <p:nvPr/>
        </p:nvSpPr>
        <p:spPr>
          <a:xfrm>
            <a:off x="3794760" y="5280660"/>
            <a:ext cx="6217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20" b="1" dirty="0">
                <a:solidFill>
                  <a:srgbClr val="64748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未开始</a:t>
            </a:r>
            <a:endParaRPr lang="en-US" sz="620" dirty="0"/>
          </a:p>
        </p:txBody>
      </p:sp>
      <p:sp>
        <p:nvSpPr>
          <p:cNvPr id="103" name="Text 101"/>
          <p:cNvSpPr/>
          <p:nvPr/>
        </p:nvSpPr>
        <p:spPr>
          <a:xfrm>
            <a:off x="4480560" y="5285232"/>
            <a:ext cx="10058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20" dirty="0">
                <a:solidFill>
                  <a:srgbClr val="64748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—</a:t>
            </a:r>
            <a:endParaRPr lang="en-US" sz="620" dirty="0"/>
          </a:p>
        </p:txBody>
      </p:sp>
      <p:sp>
        <p:nvSpPr>
          <p:cNvPr id="104" name="Shape 102"/>
          <p:cNvSpPr/>
          <p:nvPr/>
        </p:nvSpPr>
        <p:spPr>
          <a:xfrm>
            <a:off x="2578608" y="5715000"/>
            <a:ext cx="0" cy="128016"/>
          </a:xfrm>
          <a:prstGeom prst="line">
            <a:avLst/>
          </a:prstGeom>
          <a:noFill/>
          <a:ln w="13970">
            <a:solidFill>
              <a:srgbClr val="CBD5E1"/>
            </a:solidFill>
            <a:prstDash val="solid"/>
            <a:headEnd type="none"/>
            <a:tailEnd type="none"/>
          </a:ln>
        </p:spPr>
      </p:sp>
      <p:sp>
        <p:nvSpPr>
          <p:cNvPr id="105" name="Shape 103"/>
          <p:cNvSpPr/>
          <p:nvPr/>
        </p:nvSpPr>
        <p:spPr>
          <a:xfrm>
            <a:off x="2468880" y="5550408"/>
            <a:ext cx="219456" cy="219456"/>
          </a:xfrm>
          <a:prstGeom prst="ellipse">
            <a:avLst/>
          </a:prstGeom>
          <a:solidFill>
            <a:srgbClr val="94A3B8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06" name="Text 104"/>
          <p:cNvSpPr/>
          <p:nvPr/>
        </p:nvSpPr>
        <p:spPr>
          <a:xfrm>
            <a:off x="2468880" y="5561381"/>
            <a:ext cx="219456" cy="17556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2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16</a:t>
            </a:r>
            <a:endParaRPr lang="en-US" sz="620" dirty="0"/>
          </a:p>
        </p:txBody>
      </p:sp>
      <p:sp>
        <p:nvSpPr>
          <p:cNvPr id="107" name="Text 105"/>
          <p:cNvSpPr/>
          <p:nvPr/>
        </p:nvSpPr>
        <p:spPr>
          <a:xfrm>
            <a:off x="2788920" y="5550408"/>
            <a:ext cx="10058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30" dirty="0">
                <a:solidFill>
                  <a:srgbClr val="0F172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批量生产</a:t>
            </a:r>
            <a:endParaRPr lang="en-US" sz="730" dirty="0"/>
          </a:p>
        </p:txBody>
      </p:sp>
      <p:sp>
        <p:nvSpPr>
          <p:cNvPr id="108" name="Shape 106"/>
          <p:cNvSpPr/>
          <p:nvPr/>
        </p:nvSpPr>
        <p:spPr>
          <a:xfrm>
            <a:off x="3794760" y="5550408"/>
            <a:ext cx="621792" cy="182880"/>
          </a:xfrm>
          <a:prstGeom prst="roundRect">
            <a:avLst>
              <a:gd name="adj" fmla="val 60000"/>
            </a:avLst>
          </a:prstGeom>
          <a:solidFill>
            <a:srgbClr val="F1F5F9"/>
          </a:solidFill>
          <a:ln w="7620">
            <a:solidFill>
              <a:srgbClr val="F1F5F9"/>
            </a:solidFill>
            <a:prstDash val="solid"/>
          </a:ln>
        </p:spPr>
      </p:sp>
      <p:sp>
        <p:nvSpPr>
          <p:cNvPr id="109" name="Text 107"/>
          <p:cNvSpPr/>
          <p:nvPr/>
        </p:nvSpPr>
        <p:spPr>
          <a:xfrm>
            <a:off x="3794760" y="5554980"/>
            <a:ext cx="6217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20" b="1" dirty="0">
                <a:solidFill>
                  <a:srgbClr val="64748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未开始</a:t>
            </a:r>
            <a:endParaRPr lang="en-US" sz="620" dirty="0"/>
          </a:p>
        </p:txBody>
      </p:sp>
      <p:sp>
        <p:nvSpPr>
          <p:cNvPr id="110" name="Text 108"/>
          <p:cNvSpPr/>
          <p:nvPr/>
        </p:nvSpPr>
        <p:spPr>
          <a:xfrm>
            <a:off x="4480560" y="5559552"/>
            <a:ext cx="10058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20" dirty="0">
                <a:solidFill>
                  <a:srgbClr val="64748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—</a:t>
            </a:r>
            <a:endParaRPr lang="en-US" sz="620" dirty="0"/>
          </a:p>
        </p:txBody>
      </p:sp>
      <p:sp>
        <p:nvSpPr>
          <p:cNvPr id="111" name="Shape 109"/>
          <p:cNvSpPr/>
          <p:nvPr/>
        </p:nvSpPr>
        <p:spPr>
          <a:xfrm>
            <a:off x="2578608" y="5989320"/>
            <a:ext cx="0" cy="128016"/>
          </a:xfrm>
          <a:prstGeom prst="line">
            <a:avLst/>
          </a:prstGeom>
          <a:noFill/>
          <a:ln w="13970">
            <a:solidFill>
              <a:srgbClr val="CBD5E1"/>
            </a:solidFill>
            <a:prstDash val="solid"/>
            <a:headEnd type="none"/>
            <a:tailEnd type="none"/>
          </a:ln>
        </p:spPr>
      </p:sp>
      <p:sp>
        <p:nvSpPr>
          <p:cNvPr id="112" name="Shape 110"/>
          <p:cNvSpPr/>
          <p:nvPr/>
        </p:nvSpPr>
        <p:spPr>
          <a:xfrm>
            <a:off x="2468880" y="5824728"/>
            <a:ext cx="219456" cy="219456"/>
          </a:xfrm>
          <a:prstGeom prst="ellipse">
            <a:avLst/>
          </a:prstGeom>
          <a:solidFill>
            <a:srgbClr val="06B6D4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13" name="Text 111"/>
          <p:cNvSpPr/>
          <p:nvPr/>
        </p:nvSpPr>
        <p:spPr>
          <a:xfrm>
            <a:off x="2468880" y="5835701"/>
            <a:ext cx="219456" cy="17556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2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17</a:t>
            </a:r>
            <a:endParaRPr lang="en-US" sz="620" dirty="0"/>
          </a:p>
        </p:txBody>
      </p:sp>
      <p:sp>
        <p:nvSpPr>
          <p:cNvPr id="114" name="Text 112"/>
          <p:cNvSpPr/>
          <p:nvPr/>
        </p:nvSpPr>
        <p:spPr>
          <a:xfrm>
            <a:off x="2788920" y="5824728"/>
            <a:ext cx="10058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30" dirty="0">
                <a:solidFill>
                  <a:srgbClr val="0F172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月度评审</a:t>
            </a:r>
            <a:endParaRPr lang="en-US" sz="730" dirty="0"/>
          </a:p>
        </p:txBody>
      </p:sp>
      <p:sp>
        <p:nvSpPr>
          <p:cNvPr id="115" name="Shape 113"/>
          <p:cNvSpPr/>
          <p:nvPr/>
        </p:nvSpPr>
        <p:spPr>
          <a:xfrm>
            <a:off x="3794760" y="5824728"/>
            <a:ext cx="621792" cy="182880"/>
          </a:xfrm>
          <a:prstGeom prst="roundRect">
            <a:avLst>
              <a:gd name="adj" fmla="val 60000"/>
            </a:avLst>
          </a:prstGeom>
          <a:solidFill>
            <a:srgbClr val="CFFAFE"/>
          </a:solidFill>
          <a:ln w="7620">
            <a:solidFill>
              <a:srgbClr val="CFFAFE"/>
            </a:solidFill>
            <a:prstDash val="solid"/>
          </a:ln>
        </p:spPr>
      </p:sp>
      <p:sp>
        <p:nvSpPr>
          <p:cNvPr id="116" name="Text 114"/>
          <p:cNvSpPr/>
          <p:nvPr/>
        </p:nvSpPr>
        <p:spPr>
          <a:xfrm>
            <a:off x="3794760" y="5829300"/>
            <a:ext cx="6217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20" b="1" dirty="0">
                <a:solidFill>
                  <a:srgbClr val="06B6D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月度跟踪</a:t>
            </a:r>
            <a:endParaRPr lang="en-US" sz="620" dirty="0"/>
          </a:p>
        </p:txBody>
      </p:sp>
      <p:sp>
        <p:nvSpPr>
          <p:cNvPr id="117" name="Text 115"/>
          <p:cNvSpPr/>
          <p:nvPr/>
        </p:nvSpPr>
        <p:spPr>
          <a:xfrm>
            <a:off x="4480560" y="5833872"/>
            <a:ext cx="10058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20" dirty="0">
                <a:solidFill>
                  <a:srgbClr val="64748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12个月台账</a:t>
            </a:r>
            <a:endParaRPr lang="en-US" sz="620" dirty="0"/>
          </a:p>
        </p:txBody>
      </p:sp>
      <p:sp>
        <p:nvSpPr>
          <p:cNvPr id="118" name="Shape 116"/>
          <p:cNvSpPr/>
          <p:nvPr/>
        </p:nvSpPr>
        <p:spPr>
          <a:xfrm>
            <a:off x="2468880" y="6099048"/>
            <a:ext cx="219456" cy="219456"/>
          </a:xfrm>
          <a:prstGeom prst="ellipse">
            <a:avLst/>
          </a:prstGeom>
          <a:solidFill>
            <a:srgbClr val="C2410C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19" name="Text 117"/>
          <p:cNvSpPr/>
          <p:nvPr/>
        </p:nvSpPr>
        <p:spPr>
          <a:xfrm>
            <a:off x="2468880" y="6110021"/>
            <a:ext cx="219456" cy="17556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2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18</a:t>
            </a:r>
            <a:endParaRPr lang="en-US" sz="620" dirty="0"/>
          </a:p>
        </p:txBody>
      </p:sp>
      <p:sp>
        <p:nvSpPr>
          <p:cNvPr id="120" name="Text 118"/>
          <p:cNvSpPr/>
          <p:nvPr/>
        </p:nvSpPr>
        <p:spPr>
          <a:xfrm>
            <a:off x="2788920" y="6099048"/>
            <a:ext cx="10058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30" dirty="0">
                <a:solidFill>
                  <a:srgbClr val="0F172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颜色退出</a:t>
            </a:r>
            <a:endParaRPr lang="en-US" sz="730" dirty="0"/>
          </a:p>
        </p:txBody>
      </p:sp>
      <p:sp>
        <p:nvSpPr>
          <p:cNvPr id="121" name="Shape 119"/>
          <p:cNvSpPr/>
          <p:nvPr/>
        </p:nvSpPr>
        <p:spPr>
          <a:xfrm>
            <a:off x="3794760" y="6099048"/>
            <a:ext cx="621792" cy="182880"/>
          </a:xfrm>
          <a:prstGeom prst="roundRect">
            <a:avLst>
              <a:gd name="adj" fmla="val 60000"/>
            </a:avLst>
          </a:prstGeom>
          <a:solidFill>
            <a:srgbClr val="FFEDD5"/>
          </a:solidFill>
          <a:ln w="7620">
            <a:solidFill>
              <a:srgbClr val="FFEDD5"/>
            </a:solidFill>
            <a:prstDash val="solid"/>
          </a:ln>
        </p:spPr>
      </p:sp>
      <p:sp>
        <p:nvSpPr>
          <p:cNvPr id="122" name="Text 120"/>
          <p:cNvSpPr/>
          <p:nvPr/>
        </p:nvSpPr>
        <p:spPr>
          <a:xfrm>
            <a:off x="3794760" y="6103620"/>
            <a:ext cx="6217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20" b="1" dirty="0">
                <a:solidFill>
                  <a:srgbClr val="C2410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待退出</a:t>
            </a:r>
            <a:endParaRPr lang="en-US" sz="620" dirty="0"/>
          </a:p>
        </p:txBody>
      </p:sp>
      <p:sp>
        <p:nvSpPr>
          <p:cNvPr id="123" name="Text 121"/>
          <p:cNvSpPr/>
          <p:nvPr/>
        </p:nvSpPr>
        <p:spPr>
          <a:xfrm>
            <a:off x="4480560" y="6108192"/>
            <a:ext cx="10058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20" dirty="0">
                <a:solidFill>
                  <a:srgbClr val="64748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—</a:t>
            </a:r>
            <a:endParaRPr lang="en-US" sz="620" dirty="0"/>
          </a:p>
        </p:txBody>
      </p:sp>
      <p:sp>
        <p:nvSpPr>
          <p:cNvPr id="124" name="Shape 122"/>
          <p:cNvSpPr/>
          <p:nvPr/>
        </p:nvSpPr>
        <p:spPr>
          <a:xfrm>
            <a:off x="6080760" y="2834640"/>
            <a:ext cx="2286000" cy="1417320"/>
          </a:xfrm>
          <a:prstGeom prst="roundRect">
            <a:avLst>
              <a:gd name="adj" fmla="val 9032"/>
            </a:avLst>
          </a:prstGeom>
          <a:solidFill>
            <a:srgbClr val="FFFFFF"/>
          </a:solidFill>
          <a:ln w="7620">
            <a:solidFill>
              <a:srgbClr val="D9E2EC"/>
            </a:solidFill>
            <a:prstDash val="solid"/>
          </a:ln>
          <a:effectLst>
            <a:outerShdw sx="100000" sy="100000" kx="0" ky="0" algn="bl" rotWithShape="0" blurRad="8.593305054458923e+143" dist="1.7186610108917847e+144" dir="7.735818598867904e+168">
              <a:srgbClr val="CBD5E1">
                <a:alpha val="1.1999999999999997e+174"/>
              </a:srgbClr>
            </a:outerShdw>
          </a:effectLst>
        </p:spPr>
      </p:sp>
      <p:sp>
        <p:nvSpPr>
          <p:cNvPr id="125" name="Text 123"/>
          <p:cNvSpPr/>
          <p:nvPr/>
        </p:nvSpPr>
        <p:spPr>
          <a:xfrm>
            <a:off x="6309360" y="3044952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第12步：样车驾驶室评审</a:t>
            </a:r>
            <a:endParaRPr lang="en-US" sz="1100" dirty="0"/>
          </a:p>
        </p:txBody>
      </p:sp>
      <p:sp>
        <p:nvSpPr>
          <p:cNvPr id="126" name="Text 124"/>
          <p:cNvSpPr/>
          <p:nvPr/>
        </p:nvSpPr>
        <p:spPr>
          <a:xfrm>
            <a:off x="6309360" y="338328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20" dirty="0">
                <a:solidFill>
                  <a:srgbClr val="64748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动作：通过 / 不通过</a:t>
            </a:r>
            <a:endParaRPr lang="en-US" sz="720" dirty="0"/>
          </a:p>
          <a:p>
            <a:pPr algn="l" indent="0" marL="0">
              <a:buNone/>
            </a:pPr>
            <a:r>
              <a:rPr lang="en-US" sz="720" dirty="0">
                <a:solidFill>
                  <a:srgbClr val="64748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不通过：退回第11步并生成新轮次</a:t>
            </a:r>
            <a:endParaRPr lang="en-US" sz="720" dirty="0"/>
          </a:p>
          <a:p>
            <a:pPr algn="l" indent="0" marL="0">
              <a:buNone/>
            </a:pPr>
            <a:r>
              <a:rPr lang="en-US" sz="720" dirty="0">
                <a:solidFill>
                  <a:srgbClr val="64748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评审通过时间：人工录入</a:t>
            </a:r>
            <a:endParaRPr lang="en-US" sz="720" dirty="0"/>
          </a:p>
        </p:txBody>
      </p:sp>
      <p:sp>
        <p:nvSpPr>
          <p:cNvPr id="127" name="Shape 125"/>
          <p:cNvSpPr/>
          <p:nvPr/>
        </p:nvSpPr>
        <p:spPr>
          <a:xfrm>
            <a:off x="6080760" y="4544568"/>
            <a:ext cx="2286000" cy="1417320"/>
          </a:xfrm>
          <a:prstGeom prst="roundRect">
            <a:avLst>
              <a:gd name="adj" fmla="val 9032"/>
            </a:avLst>
          </a:prstGeom>
          <a:solidFill>
            <a:srgbClr val="FFFFFF"/>
          </a:solidFill>
          <a:ln w="7620">
            <a:solidFill>
              <a:srgbClr val="D9E2EC"/>
            </a:solidFill>
            <a:prstDash val="solid"/>
          </a:ln>
          <a:effectLst>
            <a:outerShdw sx="100000" sy="100000" kx="0" ky="0" algn="bl" rotWithShape="0" blurRad="1.0913497419162833e+148" dist="2.1826994838325667e+148" dir="4.6414911593207425e+173">
              <a:srgbClr val="CBD5E1">
                <a:alpha val="1.1999999999999996e+179"/>
              </a:srgbClr>
            </a:outerShdw>
          </a:effectLst>
        </p:spPr>
      </p:sp>
      <p:sp>
        <p:nvSpPr>
          <p:cNvPr id="128" name="Text 126"/>
          <p:cNvSpPr/>
          <p:nvPr/>
        </p:nvSpPr>
        <p:spPr>
          <a:xfrm>
            <a:off x="6309360" y="475488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第17步：整车色差一致性评审</a:t>
            </a:r>
            <a:endParaRPr lang="en-US" sz="1100" dirty="0"/>
          </a:p>
        </p:txBody>
      </p:sp>
      <p:sp>
        <p:nvSpPr>
          <p:cNvPr id="129" name="Text 127"/>
          <p:cNvSpPr/>
          <p:nvPr/>
        </p:nvSpPr>
        <p:spPr>
          <a:xfrm>
            <a:off x="6309360" y="5093208"/>
            <a:ext cx="1828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20" dirty="0">
                <a:solidFill>
                  <a:srgbClr val="64748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批量生产完成后启动</a:t>
            </a:r>
            <a:endParaRPr lang="en-US" sz="720" dirty="0"/>
          </a:p>
          <a:p>
            <a:pPr algn="l" indent="0" marL="0">
              <a:buNone/>
            </a:pPr>
            <a:r>
              <a:rPr lang="en-US" sz="720" dirty="0">
                <a:solidFill>
                  <a:srgbClr val="64748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每月1次，共12个月</a:t>
            </a:r>
            <a:endParaRPr lang="en-US" sz="720" dirty="0"/>
          </a:p>
          <a:p>
            <a:pPr algn="l" indent="0" marL="0">
              <a:buNone/>
            </a:pPr>
            <a:r>
              <a:rPr lang="en-US" sz="720" dirty="0">
                <a:solidFill>
                  <a:srgbClr val="64748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独立月度台账，不阻塞主线</a:t>
            </a:r>
            <a:endParaRPr lang="en-US" sz="720" dirty="0"/>
          </a:p>
        </p:txBody>
      </p:sp>
      <p:sp>
        <p:nvSpPr>
          <p:cNvPr id="130" name="Shape 128"/>
          <p:cNvSpPr/>
          <p:nvPr/>
        </p:nvSpPr>
        <p:spPr>
          <a:xfrm>
            <a:off x="8549640" y="2834640"/>
            <a:ext cx="2331720" cy="3127248"/>
          </a:xfrm>
          <a:prstGeom prst="roundRect">
            <a:avLst>
              <a:gd name="adj" fmla="val 5490"/>
            </a:avLst>
          </a:prstGeom>
          <a:solidFill>
            <a:srgbClr val="FFFFFF"/>
          </a:solidFill>
          <a:ln w="7620">
            <a:solidFill>
              <a:srgbClr val="D9E2EC"/>
            </a:solidFill>
            <a:prstDash val="solid"/>
          </a:ln>
          <a:effectLst>
            <a:outerShdw sx="100000" sy="100000" kx="0" ky="0" algn="bl" rotWithShape="0" blurRad="1.38601417223368e+152" dist="2.77202834446736e+152" dir="2.7848946955924455e+178">
              <a:srgbClr val="CBD5E1">
                <a:alpha val="1.1999999999999996e+184"/>
              </a:srgbClr>
            </a:outerShdw>
          </a:effectLst>
        </p:spPr>
      </p:sp>
      <p:sp>
        <p:nvSpPr>
          <p:cNvPr id="131" name="Text 129"/>
          <p:cNvSpPr/>
          <p:nvPr/>
        </p:nvSpPr>
        <p:spPr>
          <a:xfrm>
            <a:off x="8778240" y="3044952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节点详情卡</a:t>
            </a:r>
            <a:endParaRPr lang="en-US" sz="1100" dirty="0"/>
          </a:p>
        </p:txBody>
      </p:sp>
      <p:sp>
        <p:nvSpPr>
          <p:cNvPr id="132" name="Text 130"/>
          <p:cNvSpPr/>
          <p:nvPr/>
        </p:nvSpPr>
        <p:spPr>
          <a:xfrm>
            <a:off x="8778240" y="3383280"/>
            <a:ext cx="1188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06 涂料采购</a:t>
            </a:r>
            <a:endParaRPr lang="en-US" sz="1000" dirty="0"/>
          </a:p>
        </p:txBody>
      </p:sp>
      <p:sp>
        <p:nvSpPr>
          <p:cNvPr id="133" name="Text 131"/>
          <p:cNvSpPr/>
          <p:nvPr/>
        </p:nvSpPr>
        <p:spPr>
          <a:xfrm>
            <a:off x="8778240" y="3749040"/>
            <a:ext cx="594360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20" dirty="0">
                <a:solidFill>
                  <a:srgbClr val="64748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状态</a:t>
            </a:r>
            <a:endParaRPr lang="en-US" sz="620" dirty="0"/>
          </a:p>
        </p:txBody>
      </p:sp>
      <p:sp>
        <p:nvSpPr>
          <p:cNvPr id="134" name="Text 132"/>
          <p:cNvSpPr/>
          <p:nvPr/>
        </p:nvSpPr>
        <p:spPr>
          <a:xfrm>
            <a:off x="9418320" y="3749040"/>
            <a:ext cx="1143000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30" dirty="0">
                <a:solidFill>
                  <a:srgbClr val="0F172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进行中</a:t>
            </a:r>
            <a:endParaRPr lang="en-US" sz="630" dirty="0"/>
          </a:p>
        </p:txBody>
      </p:sp>
      <p:sp>
        <p:nvSpPr>
          <p:cNvPr id="135" name="Text 133"/>
          <p:cNvSpPr/>
          <p:nvPr/>
        </p:nvSpPr>
        <p:spPr>
          <a:xfrm>
            <a:off x="8778240" y="4005072"/>
            <a:ext cx="594360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20" dirty="0">
                <a:solidFill>
                  <a:srgbClr val="64748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开始时间</a:t>
            </a:r>
            <a:endParaRPr lang="en-US" sz="620" dirty="0"/>
          </a:p>
        </p:txBody>
      </p:sp>
      <p:sp>
        <p:nvSpPr>
          <p:cNvPr id="136" name="Text 134"/>
          <p:cNvSpPr/>
          <p:nvPr/>
        </p:nvSpPr>
        <p:spPr>
          <a:xfrm>
            <a:off x="9418320" y="4005072"/>
            <a:ext cx="1143000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30" dirty="0">
                <a:solidFill>
                  <a:srgbClr val="0F172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2025/10/13</a:t>
            </a:r>
            <a:endParaRPr lang="en-US" sz="630" dirty="0"/>
          </a:p>
        </p:txBody>
      </p:sp>
      <p:sp>
        <p:nvSpPr>
          <p:cNvPr id="137" name="Text 135"/>
          <p:cNvSpPr/>
          <p:nvPr/>
        </p:nvSpPr>
        <p:spPr>
          <a:xfrm>
            <a:off x="8778240" y="4261104"/>
            <a:ext cx="594360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20" dirty="0">
                <a:solidFill>
                  <a:srgbClr val="64748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截止时间</a:t>
            </a:r>
            <a:endParaRPr lang="en-US" sz="620" dirty="0"/>
          </a:p>
        </p:txBody>
      </p:sp>
      <p:sp>
        <p:nvSpPr>
          <p:cNvPr id="138" name="Text 136"/>
          <p:cNvSpPr/>
          <p:nvPr/>
        </p:nvSpPr>
        <p:spPr>
          <a:xfrm>
            <a:off x="9418320" y="4261104"/>
            <a:ext cx="1143000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30" dirty="0">
                <a:solidFill>
                  <a:srgbClr val="0F172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2025/10/27</a:t>
            </a:r>
            <a:endParaRPr lang="en-US" sz="630" dirty="0"/>
          </a:p>
        </p:txBody>
      </p:sp>
      <p:sp>
        <p:nvSpPr>
          <p:cNvPr id="139" name="Text 137"/>
          <p:cNvSpPr/>
          <p:nvPr/>
        </p:nvSpPr>
        <p:spPr>
          <a:xfrm>
            <a:off x="8778240" y="4517136"/>
            <a:ext cx="594360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20" dirty="0">
                <a:solidFill>
                  <a:srgbClr val="64748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责任部门</a:t>
            </a:r>
            <a:endParaRPr lang="en-US" sz="620" dirty="0"/>
          </a:p>
        </p:txBody>
      </p:sp>
      <p:sp>
        <p:nvSpPr>
          <p:cNvPr id="140" name="Text 138"/>
          <p:cNvSpPr/>
          <p:nvPr/>
        </p:nvSpPr>
        <p:spPr>
          <a:xfrm>
            <a:off x="9418320" y="4517136"/>
            <a:ext cx="1143000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30" dirty="0">
                <a:solidFill>
                  <a:srgbClr val="0F172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采购部</a:t>
            </a:r>
            <a:endParaRPr lang="en-US" sz="630" dirty="0"/>
          </a:p>
        </p:txBody>
      </p:sp>
      <p:sp>
        <p:nvSpPr>
          <p:cNvPr id="141" name="Text 139"/>
          <p:cNvSpPr/>
          <p:nvPr/>
        </p:nvSpPr>
        <p:spPr>
          <a:xfrm>
            <a:off x="8778240" y="4773168"/>
            <a:ext cx="594360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20" dirty="0">
                <a:solidFill>
                  <a:srgbClr val="64748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负责人</a:t>
            </a:r>
            <a:endParaRPr lang="en-US" sz="620" dirty="0"/>
          </a:p>
        </p:txBody>
      </p:sp>
      <p:sp>
        <p:nvSpPr>
          <p:cNvPr id="142" name="Text 140"/>
          <p:cNvSpPr/>
          <p:nvPr/>
        </p:nvSpPr>
        <p:spPr>
          <a:xfrm>
            <a:off x="9418320" y="4773168"/>
            <a:ext cx="1143000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30" dirty="0">
                <a:solidFill>
                  <a:srgbClr val="0F172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张七巧</a:t>
            </a:r>
            <a:endParaRPr lang="en-US" sz="630" dirty="0"/>
          </a:p>
        </p:txBody>
      </p:sp>
      <p:sp>
        <p:nvSpPr>
          <p:cNvPr id="143" name="Text 141"/>
          <p:cNvSpPr/>
          <p:nvPr/>
        </p:nvSpPr>
        <p:spPr>
          <a:xfrm>
            <a:off x="8778240" y="5029200"/>
            <a:ext cx="594360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20" dirty="0">
                <a:solidFill>
                  <a:srgbClr val="64748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输出物</a:t>
            </a:r>
            <a:endParaRPr lang="en-US" sz="620" dirty="0"/>
          </a:p>
        </p:txBody>
      </p:sp>
      <p:sp>
        <p:nvSpPr>
          <p:cNvPr id="144" name="Text 142"/>
          <p:cNvSpPr/>
          <p:nvPr/>
        </p:nvSpPr>
        <p:spPr>
          <a:xfrm>
            <a:off x="9418320" y="5029200"/>
            <a:ext cx="1143000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30" dirty="0">
                <a:solidFill>
                  <a:srgbClr val="0F172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涂料采购记录</a:t>
            </a:r>
            <a:endParaRPr lang="en-US" sz="630" dirty="0"/>
          </a:p>
        </p:txBody>
      </p:sp>
      <p:sp>
        <p:nvSpPr>
          <p:cNvPr id="145" name="Text 143"/>
          <p:cNvSpPr/>
          <p:nvPr/>
        </p:nvSpPr>
        <p:spPr>
          <a:xfrm>
            <a:off x="8778240" y="5285232"/>
            <a:ext cx="594360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20" dirty="0">
                <a:solidFill>
                  <a:srgbClr val="64748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附件</a:t>
            </a:r>
            <a:endParaRPr lang="en-US" sz="620" dirty="0"/>
          </a:p>
        </p:txBody>
      </p:sp>
      <p:sp>
        <p:nvSpPr>
          <p:cNvPr id="146" name="Text 144"/>
          <p:cNvSpPr/>
          <p:nvPr/>
        </p:nvSpPr>
        <p:spPr>
          <a:xfrm>
            <a:off x="9418320" y="5285232"/>
            <a:ext cx="1143000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30" dirty="0">
                <a:solidFill>
                  <a:srgbClr val="0F172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2个</a:t>
            </a:r>
            <a:endParaRPr lang="en-US" sz="630" dirty="0"/>
          </a:p>
        </p:txBody>
      </p:sp>
      <p:sp>
        <p:nvSpPr>
          <p:cNvPr id="147" name="Text 145"/>
          <p:cNvSpPr/>
          <p:nvPr/>
        </p:nvSpPr>
        <p:spPr>
          <a:xfrm>
            <a:off x="11567160" y="6492240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08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6766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08｜工序清单与详情抽屉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02920" y="786384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列表显示核心字段，长文本、附件、审批与日志进入右侧详情抽屉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02920" y="1143000"/>
            <a:ext cx="11201400" cy="0"/>
          </a:xfrm>
          <a:prstGeom prst="line">
            <a:avLst/>
          </a:prstGeom>
          <a:noFill/>
          <a:ln w="8890">
            <a:solidFill>
              <a:srgbClr val="D9E2EC"/>
            </a:solidFill>
            <a:prstDash val="solid"/>
            <a:headEnd type="none"/>
            <a:tailEnd type="none"/>
          </a:ln>
        </p:spPr>
      </p:sp>
      <p:sp>
        <p:nvSpPr>
          <p:cNvPr id="5" name="Shape 3"/>
          <p:cNvSpPr/>
          <p:nvPr/>
        </p:nvSpPr>
        <p:spPr>
          <a:xfrm>
            <a:off x="502920" y="1051560"/>
            <a:ext cx="11201400" cy="5623560"/>
          </a:xfrm>
          <a:prstGeom prst="roundRect">
            <a:avLst>
              <a:gd name="adj" fmla="val 2602"/>
            </a:avLst>
          </a:prstGeom>
          <a:solidFill>
            <a:srgbClr val="FFFFFF"/>
          </a:solidFill>
          <a:ln w="7620">
            <a:solidFill>
              <a:srgbClr val="D9E2EC"/>
            </a:solidFill>
            <a:prstDash val="solid"/>
          </a:ln>
          <a:effectLst>
            <a:outerShdw sx="100000" sy="100000" kx="0" ky="0" algn="bl" rotWithShape="0" blurRad="2.578426424582819e+37" dist="3.437901899443759e+37" dir="4.5349632000000006e+44">
              <a:srgbClr val="CBD5E1">
                <a:alpha val="2.2e+44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02920" y="1051560"/>
            <a:ext cx="11201400" cy="438912"/>
          </a:xfrm>
          <a:prstGeom prst="roundRect">
            <a:avLst>
              <a:gd name="adj" fmla="val 33333"/>
            </a:avLst>
          </a:prstGeom>
          <a:solidFill>
            <a:srgbClr val="EFF6FF"/>
          </a:solidFill>
          <a:ln w="7620">
            <a:solidFill>
              <a:srgbClr val="D9E2E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04088" y="1216152"/>
            <a:ext cx="109728" cy="109728"/>
          </a:xfrm>
          <a:prstGeom prst="ellipse">
            <a:avLst/>
          </a:prstGeom>
          <a:solidFill>
            <a:srgbClr val="F87171"/>
          </a:solidFill>
          <a:ln w="6350">
            <a:solidFill>
              <a:srgbClr val="F8717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86968" y="1216152"/>
            <a:ext cx="109728" cy="109728"/>
          </a:xfrm>
          <a:prstGeom prst="ellipse">
            <a:avLst/>
          </a:prstGeom>
          <a:solidFill>
            <a:srgbClr val="FBBF24"/>
          </a:solidFill>
          <a:ln w="6350">
            <a:solidFill>
              <a:srgbClr val="FBBF2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69848" y="1216152"/>
            <a:ext cx="109728" cy="109728"/>
          </a:xfrm>
          <a:prstGeom prst="ellipse">
            <a:avLst/>
          </a:prstGeom>
          <a:solidFill>
            <a:srgbClr val="34D399"/>
          </a:solidFill>
          <a:ln w="6350">
            <a:solidFill>
              <a:srgbClr val="34D39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344168" y="1170432"/>
            <a:ext cx="10104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项目详情 / 工序清单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502920" y="1490472"/>
            <a:ext cx="1417320" cy="5184648"/>
          </a:xfrm>
          <a:prstGeom prst="rect">
            <a:avLst>
              <a:gd name="adj" fmla="val 5161"/>
            </a:avLst>
          </a:prstGeom>
          <a:solidFill>
            <a:srgbClr val="0F172A"/>
          </a:solidFill>
          <a:ln w="7620">
            <a:solidFill>
              <a:srgbClr val="0F172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67512" y="1673352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颜色开发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67512" y="1929384"/>
            <a:ext cx="1143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60" dirty="0">
                <a:solidFill>
                  <a:srgbClr val="CBD5E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项目管理系统</a:t>
            </a:r>
            <a:endParaRPr lang="en-US" sz="760" dirty="0"/>
          </a:p>
        </p:txBody>
      </p:sp>
      <p:sp>
        <p:nvSpPr>
          <p:cNvPr id="14" name="Shape 12"/>
          <p:cNvSpPr/>
          <p:nvPr/>
        </p:nvSpPr>
        <p:spPr>
          <a:xfrm>
            <a:off x="621792" y="2386584"/>
            <a:ext cx="1179576" cy="301752"/>
          </a:xfrm>
          <a:prstGeom prst="roundRect">
            <a:avLst>
              <a:gd name="adj" fmla="val 24242"/>
            </a:avLst>
          </a:prstGeom>
          <a:solidFill>
            <a:srgbClr val="0F172A"/>
          </a:solidFill>
          <a:ln w="7620">
            <a:solidFill>
              <a:srgbClr val="0F172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58952" y="2450592"/>
            <a:ext cx="10058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CBD5E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工作台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621792" y="2807208"/>
            <a:ext cx="1179576" cy="301752"/>
          </a:xfrm>
          <a:prstGeom prst="roundRect">
            <a:avLst>
              <a:gd name="adj" fmla="val 24242"/>
            </a:avLst>
          </a:prstGeom>
          <a:solidFill>
            <a:srgbClr val="0F172A"/>
          </a:solidFill>
          <a:ln w="7620">
            <a:solidFill>
              <a:srgbClr val="0F172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58952" y="2871216"/>
            <a:ext cx="10058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CBD5E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项目管理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621792" y="3227832"/>
            <a:ext cx="1179576" cy="301752"/>
          </a:xfrm>
          <a:prstGeom prst="roundRect">
            <a:avLst>
              <a:gd name="adj" fmla="val 24242"/>
            </a:avLst>
          </a:prstGeom>
          <a:solidFill>
            <a:srgbClr val="2563EB"/>
          </a:solidFill>
          <a:ln w="7620">
            <a:solidFill>
              <a:srgbClr val="2563E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58952" y="3291840"/>
            <a:ext cx="10058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工序管理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621792" y="3648456"/>
            <a:ext cx="1179576" cy="301752"/>
          </a:xfrm>
          <a:prstGeom prst="roundRect">
            <a:avLst>
              <a:gd name="adj" fmla="val 24242"/>
            </a:avLst>
          </a:prstGeom>
          <a:solidFill>
            <a:srgbClr val="0F172A"/>
          </a:solidFill>
          <a:ln w="7620">
            <a:solidFill>
              <a:srgbClr val="0F172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58952" y="3712464"/>
            <a:ext cx="10058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CBD5E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材料中心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621792" y="4069080"/>
            <a:ext cx="1179576" cy="301752"/>
          </a:xfrm>
          <a:prstGeom prst="roundRect">
            <a:avLst>
              <a:gd name="adj" fmla="val 24242"/>
            </a:avLst>
          </a:prstGeom>
          <a:solidFill>
            <a:srgbClr val="0F172A"/>
          </a:solidFill>
          <a:ln w="7620">
            <a:solidFill>
              <a:srgbClr val="0F172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58952" y="4133088"/>
            <a:ext cx="10058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CBD5E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月度评审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621792" y="4489704"/>
            <a:ext cx="1179576" cy="301752"/>
          </a:xfrm>
          <a:prstGeom prst="roundRect">
            <a:avLst>
              <a:gd name="adj" fmla="val 24242"/>
            </a:avLst>
          </a:prstGeom>
          <a:solidFill>
            <a:srgbClr val="0F172A"/>
          </a:solidFill>
          <a:ln w="7620">
            <a:solidFill>
              <a:srgbClr val="0F172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58952" y="4553712"/>
            <a:ext cx="10058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CBD5E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数据中心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621792" y="4910328"/>
            <a:ext cx="1179576" cy="301752"/>
          </a:xfrm>
          <a:prstGeom prst="roundRect">
            <a:avLst>
              <a:gd name="adj" fmla="val 24242"/>
            </a:avLst>
          </a:prstGeom>
          <a:solidFill>
            <a:srgbClr val="0F172A"/>
          </a:solidFill>
          <a:ln w="7620">
            <a:solidFill>
              <a:srgbClr val="0F172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58952" y="4974336"/>
            <a:ext cx="10058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CBD5E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系统设置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1920240" y="1490472"/>
            <a:ext cx="9784080" cy="512064"/>
          </a:xfrm>
          <a:prstGeom prst="rect">
            <a:avLst>
              <a:gd name="adj" fmla="val 14286"/>
            </a:avLst>
          </a:prstGeom>
          <a:solidFill>
            <a:srgbClr val="FFFFFF"/>
          </a:solidFill>
          <a:ln w="7620">
            <a:solidFill>
              <a:srgbClr val="D9E2E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212848" y="1645920"/>
            <a:ext cx="1920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20" dirty="0">
                <a:solidFill>
                  <a:srgbClr val="94A3B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搜索项目 / 颜色 / 负责人</a:t>
            </a:r>
            <a:endParaRPr lang="en-US" sz="720" dirty="0"/>
          </a:p>
        </p:txBody>
      </p:sp>
      <p:sp>
        <p:nvSpPr>
          <p:cNvPr id="30" name="Shape 28"/>
          <p:cNvSpPr/>
          <p:nvPr/>
        </p:nvSpPr>
        <p:spPr>
          <a:xfrm>
            <a:off x="9784080" y="1600200"/>
            <a:ext cx="685800" cy="274320"/>
          </a:xfrm>
          <a:prstGeom prst="roundRect">
            <a:avLst>
              <a:gd name="adj" fmla="val 26667"/>
            </a:avLst>
          </a:prstGeom>
          <a:solidFill>
            <a:srgbClr val="DBEAFE"/>
          </a:solidFill>
          <a:ln w="7620">
            <a:solidFill>
              <a:srgbClr val="DBEAFE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9838944" y="1655064"/>
            <a:ext cx="57607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60" b="1" dirty="0">
                <a:solidFill>
                  <a:srgbClr val="2563E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立即刷新</a:t>
            </a:r>
            <a:endParaRPr lang="en-US" sz="660" dirty="0"/>
          </a:p>
        </p:txBody>
      </p:sp>
      <p:sp>
        <p:nvSpPr>
          <p:cNvPr id="32" name="Text 30"/>
          <p:cNvSpPr/>
          <p:nvPr/>
        </p:nvSpPr>
        <p:spPr>
          <a:xfrm>
            <a:off x="10561320" y="1645920"/>
            <a:ext cx="9601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80" dirty="0">
                <a:solidFill>
                  <a:srgbClr val="64748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最近更新 14:32</a:t>
            </a:r>
            <a:endParaRPr lang="en-US" sz="680" dirty="0"/>
          </a:p>
        </p:txBody>
      </p:sp>
      <p:sp>
        <p:nvSpPr>
          <p:cNvPr id="33" name="Text 31"/>
          <p:cNvSpPr/>
          <p:nvPr/>
        </p:nvSpPr>
        <p:spPr>
          <a:xfrm>
            <a:off x="2148840" y="2148840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工序清单</a:t>
            </a:r>
            <a:endParaRPr lang="en-US" sz="1400" dirty="0"/>
          </a:p>
        </p:txBody>
      </p:sp>
      <p:sp>
        <p:nvSpPr>
          <p:cNvPr id="34" name="Shape 32"/>
          <p:cNvSpPr/>
          <p:nvPr/>
        </p:nvSpPr>
        <p:spPr>
          <a:xfrm>
            <a:off x="2148840" y="2743200"/>
            <a:ext cx="6035040" cy="3246120"/>
          </a:xfrm>
          <a:prstGeom prst="roundRect">
            <a:avLst>
              <a:gd name="adj" fmla="val 2817"/>
            </a:avLst>
          </a:prstGeom>
          <a:solidFill>
            <a:srgbClr val="FFFFFF"/>
          </a:solidFill>
          <a:ln w="7620">
            <a:solidFill>
              <a:srgbClr val="D9E2EC"/>
            </a:solidFill>
            <a:prstDash val="solid"/>
          </a:ln>
          <a:effectLst>
            <a:outerShdw sx="100000" sy="100000" kx="0" ky="0" algn="bl" rotWithShape="0" blurRad="1.7602379987367734e+156" dist="3.520475997473547e+156" dir="1.6709368173554673e+183">
              <a:srgbClr val="CBD5E1">
                <a:alpha val="1.1999999999999995e+189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2148840" y="2743200"/>
            <a:ext cx="6035040" cy="541020"/>
          </a:xfrm>
          <a:prstGeom prst="rect">
            <a:avLst>
              <a:gd name="adj" fmla="val 13521"/>
            </a:avLst>
          </a:prstGeom>
          <a:solidFill>
            <a:srgbClr val="F1F5F9"/>
          </a:solidFill>
          <a:ln w="7620">
            <a:solidFill>
              <a:srgbClr val="F1F5F9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194560" y="2798064"/>
            <a:ext cx="331013" cy="4678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40" b="1" dirty="0">
                <a:solidFill>
                  <a:srgbClr val="64748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步骤</a:t>
            </a:r>
            <a:endParaRPr lang="en-US" sz="640" dirty="0"/>
          </a:p>
        </p:txBody>
      </p:sp>
      <p:sp>
        <p:nvSpPr>
          <p:cNvPr id="37" name="Text 35"/>
          <p:cNvSpPr/>
          <p:nvPr/>
        </p:nvSpPr>
        <p:spPr>
          <a:xfrm>
            <a:off x="2617013" y="2798064"/>
            <a:ext cx="934517" cy="4678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40" b="1" dirty="0">
                <a:solidFill>
                  <a:srgbClr val="64748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工序</a:t>
            </a:r>
            <a:endParaRPr lang="en-US" sz="640" dirty="0"/>
          </a:p>
        </p:txBody>
      </p:sp>
      <p:sp>
        <p:nvSpPr>
          <p:cNvPr id="38" name="Text 36"/>
          <p:cNvSpPr/>
          <p:nvPr/>
        </p:nvSpPr>
        <p:spPr>
          <a:xfrm>
            <a:off x="3642970" y="2798064"/>
            <a:ext cx="572414" cy="4678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40" b="1" dirty="0">
                <a:solidFill>
                  <a:srgbClr val="64748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状态</a:t>
            </a:r>
            <a:endParaRPr lang="en-US" sz="640" dirty="0"/>
          </a:p>
        </p:txBody>
      </p:sp>
      <p:sp>
        <p:nvSpPr>
          <p:cNvPr id="39" name="Text 37"/>
          <p:cNvSpPr/>
          <p:nvPr/>
        </p:nvSpPr>
        <p:spPr>
          <a:xfrm>
            <a:off x="4306824" y="2798064"/>
            <a:ext cx="632765" cy="4678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40" b="1" dirty="0">
                <a:solidFill>
                  <a:srgbClr val="64748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期限</a:t>
            </a:r>
            <a:endParaRPr lang="en-US" sz="640" dirty="0"/>
          </a:p>
        </p:txBody>
      </p:sp>
      <p:sp>
        <p:nvSpPr>
          <p:cNvPr id="40" name="Text 38"/>
          <p:cNvSpPr/>
          <p:nvPr/>
        </p:nvSpPr>
        <p:spPr>
          <a:xfrm>
            <a:off x="5031029" y="2798064"/>
            <a:ext cx="512064" cy="4678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40" b="1" dirty="0">
                <a:solidFill>
                  <a:srgbClr val="64748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开始</a:t>
            </a:r>
            <a:endParaRPr lang="en-US" sz="640" dirty="0"/>
          </a:p>
        </p:txBody>
      </p:sp>
      <p:sp>
        <p:nvSpPr>
          <p:cNvPr id="41" name="Text 39"/>
          <p:cNvSpPr/>
          <p:nvPr/>
        </p:nvSpPr>
        <p:spPr>
          <a:xfrm>
            <a:off x="5634533" y="2798064"/>
            <a:ext cx="512064" cy="4678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40" b="1" dirty="0">
                <a:solidFill>
                  <a:srgbClr val="64748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截止</a:t>
            </a:r>
            <a:endParaRPr lang="en-US" sz="640" dirty="0"/>
          </a:p>
        </p:txBody>
      </p:sp>
      <p:sp>
        <p:nvSpPr>
          <p:cNvPr id="42" name="Text 40"/>
          <p:cNvSpPr/>
          <p:nvPr/>
        </p:nvSpPr>
        <p:spPr>
          <a:xfrm>
            <a:off x="6238037" y="2798064"/>
            <a:ext cx="512064" cy="4678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40" b="1" dirty="0">
                <a:solidFill>
                  <a:srgbClr val="64748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完成</a:t>
            </a:r>
            <a:endParaRPr lang="en-US" sz="640" dirty="0"/>
          </a:p>
        </p:txBody>
      </p:sp>
      <p:sp>
        <p:nvSpPr>
          <p:cNvPr id="43" name="Text 41"/>
          <p:cNvSpPr/>
          <p:nvPr/>
        </p:nvSpPr>
        <p:spPr>
          <a:xfrm>
            <a:off x="6841541" y="2798064"/>
            <a:ext cx="693115" cy="4678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40" b="1" dirty="0">
                <a:solidFill>
                  <a:srgbClr val="64748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部门</a:t>
            </a:r>
            <a:endParaRPr lang="en-US" sz="640" dirty="0"/>
          </a:p>
        </p:txBody>
      </p:sp>
      <p:sp>
        <p:nvSpPr>
          <p:cNvPr id="44" name="Text 42"/>
          <p:cNvSpPr/>
          <p:nvPr/>
        </p:nvSpPr>
        <p:spPr>
          <a:xfrm>
            <a:off x="7626096" y="2798064"/>
            <a:ext cx="512064" cy="4678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40" b="1" dirty="0">
                <a:solidFill>
                  <a:srgbClr val="64748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负责人</a:t>
            </a:r>
            <a:endParaRPr lang="en-US" sz="640" dirty="0"/>
          </a:p>
        </p:txBody>
      </p:sp>
      <p:sp>
        <p:nvSpPr>
          <p:cNvPr id="45" name="Text 43"/>
          <p:cNvSpPr/>
          <p:nvPr/>
        </p:nvSpPr>
        <p:spPr>
          <a:xfrm>
            <a:off x="8229600" y="2798064"/>
            <a:ext cx="512064" cy="4678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40" b="1" dirty="0">
                <a:solidFill>
                  <a:srgbClr val="64748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材料</a:t>
            </a:r>
            <a:endParaRPr lang="en-US" sz="640" dirty="0"/>
          </a:p>
        </p:txBody>
      </p:sp>
      <p:sp>
        <p:nvSpPr>
          <p:cNvPr id="46" name="Shape 44"/>
          <p:cNvSpPr/>
          <p:nvPr/>
        </p:nvSpPr>
        <p:spPr>
          <a:xfrm>
            <a:off x="2148840" y="3284220"/>
            <a:ext cx="6035040" cy="0"/>
          </a:xfrm>
          <a:prstGeom prst="line">
            <a:avLst/>
          </a:prstGeom>
          <a:noFill/>
          <a:ln w="5715">
            <a:solidFill>
              <a:srgbClr val="E5E7EB"/>
            </a:solidFill>
            <a:prstDash val="solid"/>
            <a:headEnd type="none"/>
            <a:tailEnd type="none"/>
          </a:ln>
        </p:spPr>
      </p:sp>
      <p:sp>
        <p:nvSpPr>
          <p:cNvPr id="47" name="Text 45"/>
          <p:cNvSpPr/>
          <p:nvPr/>
        </p:nvSpPr>
        <p:spPr>
          <a:xfrm>
            <a:off x="2194560" y="3329940"/>
            <a:ext cx="331013" cy="4587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20" dirty="0">
                <a:solidFill>
                  <a:srgbClr val="0F172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01</a:t>
            </a:r>
            <a:endParaRPr lang="en-US" sz="620" dirty="0"/>
          </a:p>
        </p:txBody>
      </p:sp>
      <p:sp>
        <p:nvSpPr>
          <p:cNvPr id="48" name="Text 46"/>
          <p:cNvSpPr/>
          <p:nvPr/>
        </p:nvSpPr>
        <p:spPr>
          <a:xfrm>
            <a:off x="2617013" y="3329940"/>
            <a:ext cx="934517" cy="4587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20" dirty="0">
                <a:solidFill>
                  <a:srgbClr val="64748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反映市场需求</a:t>
            </a:r>
            <a:endParaRPr lang="en-US" sz="620" dirty="0"/>
          </a:p>
        </p:txBody>
      </p:sp>
      <p:sp>
        <p:nvSpPr>
          <p:cNvPr id="49" name="Shape 47"/>
          <p:cNvSpPr/>
          <p:nvPr/>
        </p:nvSpPr>
        <p:spPr>
          <a:xfrm>
            <a:off x="3642970" y="3375660"/>
            <a:ext cx="621792" cy="182880"/>
          </a:xfrm>
          <a:prstGeom prst="roundRect">
            <a:avLst>
              <a:gd name="adj" fmla="val 60000"/>
            </a:avLst>
          </a:prstGeom>
          <a:solidFill>
            <a:srgbClr val="D1FAE5"/>
          </a:solidFill>
          <a:ln w="7620">
            <a:solidFill>
              <a:srgbClr val="D1FAE5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3642970" y="3380232"/>
            <a:ext cx="6217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20" b="1" dirty="0">
                <a:solidFill>
                  <a:srgbClr val="10B98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已完成</a:t>
            </a:r>
            <a:endParaRPr lang="en-US" sz="620" dirty="0"/>
          </a:p>
        </p:txBody>
      </p:sp>
      <p:sp>
        <p:nvSpPr>
          <p:cNvPr id="51" name="Text 49"/>
          <p:cNvSpPr/>
          <p:nvPr/>
        </p:nvSpPr>
        <p:spPr>
          <a:xfrm>
            <a:off x="4306824" y="3329940"/>
            <a:ext cx="632765" cy="4587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20" dirty="0">
                <a:solidFill>
                  <a:srgbClr val="64748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4工作日</a:t>
            </a:r>
            <a:endParaRPr lang="en-US" sz="620" dirty="0"/>
          </a:p>
        </p:txBody>
      </p:sp>
      <p:sp>
        <p:nvSpPr>
          <p:cNvPr id="52" name="Text 50"/>
          <p:cNvSpPr/>
          <p:nvPr/>
        </p:nvSpPr>
        <p:spPr>
          <a:xfrm>
            <a:off x="5031029" y="3329940"/>
            <a:ext cx="512064" cy="4587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20" dirty="0">
                <a:solidFill>
                  <a:srgbClr val="64748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07/07</a:t>
            </a:r>
            <a:endParaRPr lang="en-US" sz="620" dirty="0"/>
          </a:p>
        </p:txBody>
      </p:sp>
      <p:sp>
        <p:nvSpPr>
          <p:cNvPr id="53" name="Text 51"/>
          <p:cNvSpPr/>
          <p:nvPr/>
        </p:nvSpPr>
        <p:spPr>
          <a:xfrm>
            <a:off x="5634533" y="3329940"/>
            <a:ext cx="512064" cy="4587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20" dirty="0">
                <a:solidFill>
                  <a:srgbClr val="64748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07/11</a:t>
            </a:r>
            <a:endParaRPr lang="en-US" sz="620" dirty="0"/>
          </a:p>
        </p:txBody>
      </p:sp>
      <p:sp>
        <p:nvSpPr>
          <p:cNvPr id="54" name="Text 52"/>
          <p:cNvSpPr/>
          <p:nvPr/>
        </p:nvSpPr>
        <p:spPr>
          <a:xfrm>
            <a:off x="6238037" y="3329940"/>
            <a:ext cx="512064" cy="4587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20" dirty="0">
                <a:solidFill>
                  <a:srgbClr val="64748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07/11</a:t>
            </a:r>
            <a:endParaRPr lang="en-US" sz="620" dirty="0"/>
          </a:p>
        </p:txBody>
      </p:sp>
      <p:sp>
        <p:nvSpPr>
          <p:cNvPr id="55" name="Text 53"/>
          <p:cNvSpPr/>
          <p:nvPr/>
        </p:nvSpPr>
        <p:spPr>
          <a:xfrm>
            <a:off x="6841541" y="3329940"/>
            <a:ext cx="693115" cy="4587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20" dirty="0">
                <a:solidFill>
                  <a:srgbClr val="64748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营销公司</a:t>
            </a:r>
            <a:endParaRPr lang="en-US" sz="620" dirty="0"/>
          </a:p>
        </p:txBody>
      </p:sp>
      <p:sp>
        <p:nvSpPr>
          <p:cNvPr id="56" name="Text 54"/>
          <p:cNvSpPr/>
          <p:nvPr/>
        </p:nvSpPr>
        <p:spPr>
          <a:xfrm>
            <a:off x="7626096" y="3329940"/>
            <a:ext cx="512064" cy="4587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20" dirty="0">
                <a:solidFill>
                  <a:srgbClr val="64748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刘中伍</a:t>
            </a:r>
            <a:endParaRPr lang="en-US" sz="620" dirty="0"/>
          </a:p>
        </p:txBody>
      </p:sp>
      <p:sp>
        <p:nvSpPr>
          <p:cNvPr id="57" name="Text 55"/>
          <p:cNvSpPr/>
          <p:nvPr/>
        </p:nvSpPr>
        <p:spPr>
          <a:xfrm>
            <a:off x="8229600" y="3329940"/>
            <a:ext cx="512064" cy="4587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20" dirty="0">
                <a:solidFill>
                  <a:srgbClr val="64748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</a:t>
            </a:r>
            <a:endParaRPr lang="en-US" sz="620" dirty="0"/>
          </a:p>
        </p:txBody>
      </p:sp>
      <p:sp>
        <p:nvSpPr>
          <p:cNvPr id="58" name="Shape 56"/>
          <p:cNvSpPr/>
          <p:nvPr/>
        </p:nvSpPr>
        <p:spPr>
          <a:xfrm>
            <a:off x="2148840" y="3825240"/>
            <a:ext cx="6035040" cy="541020"/>
          </a:xfrm>
          <a:prstGeom prst="rect">
            <a:avLst>
              <a:gd name="adj" fmla="val 13521"/>
            </a:avLst>
          </a:prstGeom>
          <a:solidFill>
            <a:srgbClr val="FAFBFC"/>
          </a:solidFill>
          <a:ln w="7620">
            <a:solidFill>
              <a:srgbClr val="FAFBFC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2148840" y="3825240"/>
            <a:ext cx="6035040" cy="0"/>
          </a:xfrm>
          <a:prstGeom prst="line">
            <a:avLst/>
          </a:prstGeom>
          <a:noFill/>
          <a:ln w="5715">
            <a:solidFill>
              <a:srgbClr val="E5E7EB"/>
            </a:solidFill>
            <a:prstDash val="solid"/>
            <a:headEnd type="none"/>
            <a:tailEnd type="none"/>
          </a:ln>
        </p:spPr>
      </p:sp>
      <p:sp>
        <p:nvSpPr>
          <p:cNvPr id="60" name="Text 58"/>
          <p:cNvSpPr/>
          <p:nvPr/>
        </p:nvSpPr>
        <p:spPr>
          <a:xfrm>
            <a:off x="2194560" y="3870960"/>
            <a:ext cx="331013" cy="4587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20" dirty="0">
                <a:solidFill>
                  <a:srgbClr val="0F172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02</a:t>
            </a:r>
            <a:endParaRPr lang="en-US" sz="620" dirty="0"/>
          </a:p>
        </p:txBody>
      </p:sp>
      <p:sp>
        <p:nvSpPr>
          <p:cNvPr id="61" name="Text 59"/>
          <p:cNvSpPr/>
          <p:nvPr/>
        </p:nvSpPr>
        <p:spPr>
          <a:xfrm>
            <a:off x="2617013" y="3870960"/>
            <a:ext cx="934517" cy="4587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20" dirty="0">
                <a:solidFill>
                  <a:srgbClr val="64748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新颜色开发报告</a:t>
            </a:r>
            <a:endParaRPr lang="en-US" sz="620" dirty="0"/>
          </a:p>
        </p:txBody>
      </p:sp>
      <p:sp>
        <p:nvSpPr>
          <p:cNvPr id="62" name="Shape 60"/>
          <p:cNvSpPr/>
          <p:nvPr/>
        </p:nvSpPr>
        <p:spPr>
          <a:xfrm>
            <a:off x="3642970" y="3916680"/>
            <a:ext cx="621792" cy="182880"/>
          </a:xfrm>
          <a:prstGeom prst="roundRect">
            <a:avLst>
              <a:gd name="adj" fmla="val 60000"/>
            </a:avLst>
          </a:prstGeom>
          <a:solidFill>
            <a:srgbClr val="D1FAE5"/>
          </a:solidFill>
          <a:ln w="7620">
            <a:solidFill>
              <a:srgbClr val="D1FAE5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3642970" y="3921252"/>
            <a:ext cx="6217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20" b="1" dirty="0">
                <a:solidFill>
                  <a:srgbClr val="10B98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已完成</a:t>
            </a:r>
            <a:endParaRPr lang="en-US" sz="620" dirty="0"/>
          </a:p>
        </p:txBody>
      </p:sp>
      <p:sp>
        <p:nvSpPr>
          <p:cNvPr id="64" name="Text 62"/>
          <p:cNvSpPr/>
          <p:nvPr/>
        </p:nvSpPr>
        <p:spPr>
          <a:xfrm>
            <a:off x="4306824" y="3870960"/>
            <a:ext cx="632765" cy="4587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20" dirty="0">
                <a:solidFill>
                  <a:srgbClr val="64748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5工作日</a:t>
            </a:r>
            <a:endParaRPr lang="en-US" sz="620" dirty="0"/>
          </a:p>
        </p:txBody>
      </p:sp>
      <p:sp>
        <p:nvSpPr>
          <p:cNvPr id="65" name="Text 63"/>
          <p:cNvSpPr/>
          <p:nvPr/>
        </p:nvSpPr>
        <p:spPr>
          <a:xfrm>
            <a:off x="5031029" y="3870960"/>
            <a:ext cx="512064" cy="4587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20" dirty="0">
                <a:solidFill>
                  <a:srgbClr val="64748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07/11</a:t>
            </a:r>
            <a:endParaRPr lang="en-US" sz="620" dirty="0"/>
          </a:p>
        </p:txBody>
      </p:sp>
      <p:sp>
        <p:nvSpPr>
          <p:cNvPr id="66" name="Text 64"/>
          <p:cNvSpPr/>
          <p:nvPr/>
        </p:nvSpPr>
        <p:spPr>
          <a:xfrm>
            <a:off x="5634533" y="3870960"/>
            <a:ext cx="512064" cy="4587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20" dirty="0">
                <a:solidFill>
                  <a:srgbClr val="64748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07/18</a:t>
            </a:r>
            <a:endParaRPr lang="en-US" sz="620" dirty="0"/>
          </a:p>
        </p:txBody>
      </p:sp>
      <p:sp>
        <p:nvSpPr>
          <p:cNvPr id="67" name="Text 65"/>
          <p:cNvSpPr/>
          <p:nvPr/>
        </p:nvSpPr>
        <p:spPr>
          <a:xfrm>
            <a:off x="6238037" y="3870960"/>
            <a:ext cx="512064" cy="4587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20" dirty="0">
                <a:solidFill>
                  <a:srgbClr val="64748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07/18</a:t>
            </a:r>
            <a:endParaRPr lang="en-US" sz="620" dirty="0"/>
          </a:p>
        </p:txBody>
      </p:sp>
      <p:sp>
        <p:nvSpPr>
          <p:cNvPr id="68" name="Text 66"/>
          <p:cNvSpPr/>
          <p:nvPr/>
        </p:nvSpPr>
        <p:spPr>
          <a:xfrm>
            <a:off x="6841541" y="3870960"/>
            <a:ext cx="693115" cy="4587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20" dirty="0">
                <a:solidFill>
                  <a:srgbClr val="64748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营销公司</a:t>
            </a:r>
            <a:endParaRPr lang="en-US" sz="620" dirty="0"/>
          </a:p>
        </p:txBody>
      </p:sp>
      <p:sp>
        <p:nvSpPr>
          <p:cNvPr id="69" name="Text 67"/>
          <p:cNvSpPr/>
          <p:nvPr/>
        </p:nvSpPr>
        <p:spPr>
          <a:xfrm>
            <a:off x="7626096" y="3870960"/>
            <a:ext cx="512064" cy="4587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20" dirty="0">
                <a:solidFill>
                  <a:srgbClr val="64748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刘中伍</a:t>
            </a:r>
            <a:endParaRPr lang="en-US" sz="620" dirty="0"/>
          </a:p>
        </p:txBody>
      </p:sp>
      <p:sp>
        <p:nvSpPr>
          <p:cNvPr id="70" name="Text 68"/>
          <p:cNvSpPr/>
          <p:nvPr/>
        </p:nvSpPr>
        <p:spPr>
          <a:xfrm>
            <a:off x="8229600" y="3870960"/>
            <a:ext cx="512064" cy="4587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20" dirty="0">
                <a:solidFill>
                  <a:srgbClr val="64748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2</a:t>
            </a:r>
            <a:endParaRPr lang="en-US" sz="620" dirty="0"/>
          </a:p>
        </p:txBody>
      </p:sp>
      <p:sp>
        <p:nvSpPr>
          <p:cNvPr id="71" name="Shape 69"/>
          <p:cNvSpPr/>
          <p:nvPr/>
        </p:nvSpPr>
        <p:spPr>
          <a:xfrm>
            <a:off x="2148840" y="4366260"/>
            <a:ext cx="6035040" cy="0"/>
          </a:xfrm>
          <a:prstGeom prst="line">
            <a:avLst/>
          </a:prstGeom>
          <a:noFill/>
          <a:ln w="5715">
            <a:solidFill>
              <a:srgbClr val="E5E7EB"/>
            </a:solidFill>
            <a:prstDash val="solid"/>
            <a:headEnd type="none"/>
            <a:tailEnd type="none"/>
          </a:ln>
        </p:spPr>
      </p:sp>
      <p:sp>
        <p:nvSpPr>
          <p:cNvPr id="72" name="Text 70"/>
          <p:cNvSpPr/>
          <p:nvPr/>
        </p:nvSpPr>
        <p:spPr>
          <a:xfrm>
            <a:off x="2194560" y="4411980"/>
            <a:ext cx="331013" cy="4587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20" dirty="0">
                <a:solidFill>
                  <a:srgbClr val="0F172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06</a:t>
            </a:r>
            <a:endParaRPr lang="en-US" sz="620" dirty="0"/>
          </a:p>
        </p:txBody>
      </p:sp>
      <p:sp>
        <p:nvSpPr>
          <p:cNvPr id="73" name="Text 71"/>
          <p:cNvSpPr/>
          <p:nvPr/>
        </p:nvSpPr>
        <p:spPr>
          <a:xfrm>
            <a:off x="2617013" y="4411980"/>
            <a:ext cx="934517" cy="4587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20" dirty="0">
                <a:solidFill>
                  <a:srgbClr val="64748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涂料采购</a:t>
            </a:r>
            <a:endParaRPr lang="en-US" sz="620" dirty="0"/>
          </a:p>
        </p:txBody>
      </p:sp>
      <p:sp>
        <p:nvSpPr>
          <p:cNvPr id="74" name="Shape 72"/>
          <p:cNvSpPr/>
          <p:nvPr/>
        </p:nvSpPr>
        <p:spPr>
          <a:xfrm>
            <a:off x="3642970" y="4457700"/>
            <a:ext cx="621792" cy="182880"/>
          </a:xfrm>
          <a:prstGeom prst="roundRect">
            <a:avLst>
              <a:gd name="adj" fmla="val 60000"/>
            </a:avLst>
          </a:prstGeom>
          <a:solidFill>
            <a:srgbClr val="DBEAFE"/>
          </a:solidFill>
          <a:ln w="7620">
            <a:solidFill>
              <a:srgbClr val="DBEAFE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3642970" y="4462272"/>
            <a:ext cx="6217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20" b="1" dirty="0">
                <a:solidFill>
                  <a:srgbClr val="2563E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进行中</a:t>
            </a:r>
            <a:endParaRPr lang="en-US" sz="620" dirty="0"/>
          </a:p>
        </p:txBody>
      </p:sp>
      <p:sp>
        <p:nvSpPr>
          <p:cNvPr id="76" name="Text 74"/>
          <p:cNvSpPr/>
          <p:nvPr/>
        </p:nvSpPr>
        <p:spPr>
          <a:xfrm>
            <a:off x="4306824" y="4411980"/>
            <a:ext cx="632765" cy="4587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20" dirty="0">
                <a:solidFill>
                  <a:srgbClr val="64748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10工作日</a:t>
            </a:r>
            <a:endParaRPr lang="en-US" sz="620" dirty="0"/>
          </a:p>
        </p:txBody>
      </p:sp>
      <p:sp>
        <p:nvSpPr>
          <p:cNvPr id="77" name="Text 75"/>
          <p:cNvSpPr/>
          <p:nvPr/>
        </p:nvSpPr>
        <p:spPr>
          <a:xfrm>
            <a:off x="5031029" y="4411980"/>
            <a:ext cx="512064" cy="4587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20" dirty="0">
                <a:solidFill>
                  <a:srgbClr val="64748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10/13</a:t>
            </a:r>
            <a:endParaRPr lang="en-US" sz="620" dirty="0"/>
          </a:p>
        </p:txBody>
      </p:sp>
      <p:sp>
        <p:nvSpPr>
          <p:cNvPr id="78" name="Text 76"/>
          <p:cNvSpPr/>
          <p:nvPr/>
        </p:nvSpPr>
        <p:spPr>
          <a:xfrm>
            <a:off x="5634533" y="4411980"/>
            <a:ext cx="512064" cy="4587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20" dirty="0">
                <a:solidFill>
                  <a:srgbClr val="64748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10/27</a:t>
            </a:r>
            <a:endParaRPr lang="en-US" sz="620" dirty="0"/>
          </a:p>
        </p:txBody>
      </p:sp>
      <p:sp>
        <p:nvSpPr>
          <p:cNvPr id="79" name="Text 77"/>
          <p:cNvSpPr/>
          <p:nvPr/>
        </p:nvSpPr>
        <p:spPr>
          <a:xfrm>
            <a:off x="6238037" y="4411980"/>
            <a:ext cx="512064" cy="4587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20" dirty="0">
                <a:solidFill>
                  <a:srgbClr val="64748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—</a:t>
            </a:r>
            <a:endParaRPr lang="en-US" sz="620" dirty="0"/>
          </a:p>
        </p:txBody>
      </p:sp>
      <p:sp>
        <p:nvSpPr>
          <p:cNvPr id="80" name="Text 78"/>
          <p:cNvSpPr/>
          <p:nvPr/>
        </p:nvSpPr>
        <p:spPr>
          <a:xfrm>
            <a:off x="6841541" y="4411980"/>
            <a:ext cx="693115" cy="4587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20" dirty="0">
                <a:solidFill>
                  <a:srgbClr val="64748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采购部</a:t>
            </a:r>
            <a:endParaRPr lang="en-US" sz="620" dirty="0"/>
          </a:p>
        </p:txBody>
      </p:sp>
      <p:sp>
        <p:nvSpPr>
          <p:cNvPr id="81" name="Text 79"/>
          <p:cNvSpPr/>
          <p:nvPr/>
        </p:nvSpPr>
        <p:spPr>
          <a:xfrm>
            <a:off x="7626096" y="4411980"/>
            <a:ext cx="512064" cy="4587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20" dirty="0">
                <a:solidFill>
                  <a:srgbClr val="64748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张七巧</a:t>
            </a:r>
            <a:endParaRPr lang="en-US" sz="620" dirty="0"/>
          </a:p>
        </p:txBody>
      </p:sp>
      <p:sp>
        <p:nvSpPr>
          <p:cNvPr id="82" name="Text 80"/>
          <p:cNvSpPr/>
          <p:nvPr/>
        </p:nvSpPr>
        <p:spPr>
          <a:xfrm>
            <a:off x="8229600" y="4411980"/>
            <a:ext cx="512064" cy="4587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20" dirty="0">
                <a:solidFill>
                  <a:srgbClr val="64748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0/2</a:t>
            </a:r>
            <a:endParaRPr lang="en-US" sz="620" dirty="0"/>
          </a:p>
        </p:txBody>
      </p:sp>
      <p:sp>
        <p:nvSpPr>
          <p:cNvPr id="83" name="Shape 81"/>
          <p:cNvSpPr/>
          <p:nvPr/>
        </p:nvSpPr>
        <p:spPr>
          <a:xfrm>
            <a:off x="2148840" y="4907280"/>
            <a:ext cx="6035040" cy="541020"/>
          </a:xfrm>
          <a:prstGeom prst="rect">
            <a:avLst>
              <a:gd name="adj" fmla="val 13521"/>
            </a:avLst>
          </a:prstGeom>
          <a:solidFill>
            <a:srgbClr val="FAFBFC"/>
          </a:solidFill>
          <a:ln w="7620">
            <a:solidFill>
              <a:srgbClr val="FAFBFC"/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2148840" y="4907280"/>
            <a:ext cx="6035040" cy="0"/>
          </a:xfrm>
          <a:prstGeom prst="line">
            <a:avLst/>
          </a:prstGeom>
          <a:noFill/>
          <a:ln w="5715">
            <a:solidFill>
              <a:srgbClr val="E5E7EB"/>
            </a:solidFill>
            <a:prstDash val="solid"/>
            <a:headEnd type="none"/>
            <a:tailEnd type="none"/>
          </a:ln>
        </p:spPr>
      </p:sp>
      <p:sp>
        <p:nvSpPr>
          <p:cNvPr id="85" name="Text 83"/>
          <p:cNvSpPr/>
          <p:nvPr/>
        </p:nvSpPr>
        <p:spPr>
          <a:xfrm>
            <a:off x="2194560" y="4953000"/>
            <a:ext cx="331013" cy="4587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20" dirty="0">
                <a:solidFill>
                  <a:srgbClr val="0F172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09</a:t>
            </a:r>
            <a:endParaRPr lang="en-US" sz="620" dirty="0"/>
          </a:p>
        </p:txBody>
      </p:sp>
      <p:sp>
        <p:nvSpPr>
          <p:cNvPr id="86" name="Text 84"/>
          <p:cNvSpPr/>
          <p:nvPr/>
        </p:nvSpPr>
        <p:spPr>
          <a:xfrm>
            <a:off x="2617013" y="4953000"/>
            <a:ext cx="934517" cy="4587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20" dirty="0">
                <a:solidFill>
                  <a:srgbClr val="64748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涂料性能试验</a:t>
            </a:r>
            <a:endParaRPr lang="en-US" sz="620" dirty="0"/>
          </a:p>
        </p:txBody>
      </p:sp>
      <p:sp>
        <p:nvSpPr>
          <p:cNvPr id="87" name="Shape 85"/>
          <p:cNvSpPr/>
          <p:nvPr/>
        </p:nvSpPr>
        <p:spPr>
          <a:xfrm>
            <a:off x="3642970" y="4998720"/>
            <a:ext cx="621792" cy="182880"/>
          </a:xfrm>
          <a:prstGeom prst="roundRect">
            <a:avLst>
              <a:gd name="adj" fmla="val 60000"/>
            </a:avLst>
          </a:prstGeom>
          <a:solidFill>
            <a:srgbClr val="CFFAFE"/>
          </a:solidFill>
          <a:ln w="7620">
            <a:solidFill>
              <a:srgbClr val="CFFAFE"/>
            </a:solidFill>
            <a:prstDash val="solid"/>
          </a:ln>
        </p:spPr>
      </p:sp>
      <p:sp>
        <p:nvSpPr>
          <p:cNvPr id="88" name="Text 86"/>
          <p:cNvSpPr/>
          <p:nvPr/>
        </p:nvSpPr>
        <p:spPr>
          <a:xfrm>
            <a:off x="3642970" y="5003292"/>
            <a:ext cx="6217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20" b="1" dirty="0">
                <a:solidFill>
                  <a:srgbClr val="06B6D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月度跟踪</a:t>
            </a:r>
            <a:endParaRPr lang="en-US" sz="620" dirty="0"/>
          </a:p>
        </p:txBody>
      </p:sp>
      <p:sp>
        <p:nvSpPr>
          <p:cNvPr id="89" name="Text 87"/>
          <p:cNvSpPr/>
          <p:nvPr/>
        </p:nvSpPr>
        <p:spPr>
          <a:xfrm>
            <a:off x="4306824" y="4953000"/>
            <a:ext cx="632765" cy="4587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20" dirty="0">
                <a:solidFill>
                  <a:srgbClr val="64748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4个月</a:t>
            </a:r>
            <a:endParaRPr lang="en-US" sz="620" dirty="0"/>
          </a:p>
        </p:txBody>
      </p:sp>
      <p:sp>
        <p:nvSpPr>
          <p:cNvPr id="90" name="Text 88"/>
          <p:cNvSpPr/>
          <p:nvPr/>
        </p:nvSpPr>
        <p:spPr>
          <a:xfrm>
            <a:off x="5031029" y="4953000"/>
            <a:ext cx="512064" cy="4587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20" dirty="0">
                <a:solidFill>
                  <a:srgbClr val="64748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10/15</a:t>
            </a:r>
            <a:endParaRPr lang="en-US" sz="620" dirty="0"/>
          </a:p>
        </p:txBody>
      </p:sp>
      <p:sp>
        <p:nvSpPr>
          <p:cNvPr id="91" name="Text 89"/>
          <p:cNvSpPr/>
          <p:nvPr/>
        </p:nvSpPr>
        <p:spPr>
          <a:xfrm>
            <a:off x="5634533" y="4953000"/>
            <a:ext cx="512064" cy="4587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20" dirty="0">
                <a:solidFill>
                  <a:srgbClr val="64748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02/16</a:t>
            </a:r>
            <a:endParaRPr lang="en-US" sz="620" dirty="0"/>
          </a:p>
        </p:txBody>
      </p:sp>
      <p:sp>
        <p:nvSpPr>
          <p:cNvPr id="92" name="Text 90"/>
          <p:cNvSpPr/>
          <p:nvPr/>
        </p:nvSpPr>
        <p:spPr>
          <a:xfrm>
            <a:off x="6238037" y="4953000"/>
            <a:ext cx="512064" cy="4587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20" dirty="0">
                <a:solidFill>
                  <a:srgbClr val="64748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—</a:t>
            </a:r>
            <a:endParaRPr lang="en-US" sz="620" dirty="0"/>
          </a:p>
        </p:txBody>
      </p:sp>
      <p:sp>
        <p:nvSpPr>
          <p:cNvPr id="93" name="Text 91"/>
          <p:cNvSpPr/>
          <p:nvPr/>
        </p:nvSpPr>
        <p:spPr>
          <a:xfrm>
            <a:off x="6841541" y="4953000"/>
            <a:ext cx="693115" cy="4587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20" dirty="0">
                <a:solidFill>
                  <a:srgbClr val="64748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质量管理部</a:t>
            </a:r>
            <a:endParaRPr lang="en-US" sz="620" dirty="0"/>
          </a:p>
        </p:txBody>
      </p:sp>
      <p:sp>
        <p:nvSpPr>
          <p:cNvPr id="94" name="Text 92"/>
          <p:cNvSpPr/>
          <p:nvPr/>
        </p:nvSpPr>
        <p:spPr>
          <a:xfrm>
            <a:off x="7626096" y="4953000"/>
            <a:ext cx="512064" cy="4587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20" dirty="0">
                <a:solidFill>
                  <a:srgbClr val="64748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田强</a:t>
            </a:r>
            <a:endParaRPr lang="en-US" sz="620" dirty="0"/>
          </a:p>
        </p:txBody>
      </p:sp>
      <p:sp>
        <p:nvSpPr>
          <p:cNvPr id="95" name="Text 93"/>
          <p:cNvSpPr/>
          <p:nvPr/>
        </p:nvSpPr>
        <p:spPr>
          <a:xfrm>
            <a:off x="8229600" y="4953000"/>
            <a:ext cx="512064" cy="4587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20" dirty="0">
                <a:solidFill>
                  <a:srgbClr val="64748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1/1</a:t>
            </a:r>
            <a:endParaRPr lang="en-US" sz="620" dirty="0"/>
          </a:p>
        </p:txBody>
      </p:sp>
      <p:sp>
        <p:nvSpPr>
          <p:cNvPr id="96" name="Shape 94"/>
          <p:cNvSpPr/>
          <p:nvPr/>
        </p:nvSpPr>
        <p:spPr>
          <a:xfrm>
            <a:off x="2148840" y="5448300"/>
            <a:ext cx="6035040" cy="0"/>
          </a:xfrm>
          <a:prstGeom prst="line">
            <a:avLst/>
          </a:prstGeom>
          <a:noFill/>
          <a:ln w="5715">
            <a:solidFill>
              <a:srgbClr val="E5E7EB"/>
            </a:solidFill>
            <a:prstDash val="solid"/>
            <a:headEnd type="none"/>
            <a:tailEnd type="none"/>
          </a:ln>
        </p:spPr>
      </p:sp>
      <p:sp>
        <p:nvSpPr>
          <p:cNvPr id="97" name="Text 95"/>
          <p:cNvSpPr/>
          <p:nvPr/>
        </p:nvSpPr>
        <p:spPr>
          <a:xfrm>
            <a:off x="2194560" y="5494020"/>
            <a:ext cx="331013" cy="4587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20" dirty="0">
                <a:solidFill>
                  <a:srgbClr val="0F172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12</a:t>
            </a:r>
            <a:endParaRPr lang="en-US" sz="620" dirty="0"/>
          </a:p>
        </p:txBody>
      </p:sp>
      <p:sp>
        <p:nvSpPr>
          <p:cNvPr id="98" name="Text 96"/>
          <p:cNvSpPr/>
          <p:nvPr/>
        </p:nvSpPr>
        <p:spPr>
          <a:xfrm>
            <a:off x="2617013" y="5494020"/>
            <a:ext cx="934517" cy="4587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20" dirty="0">
                <a:solidFill>
                  <a:srgbClr val="64748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样车驾驶室评审</a:t>
            </a:r>
            <a:endParaRPr lang="en-US" sz="620" dirty="0"/>
          </a:p>
        </p:txBody>
      </p:sp>
      <p:sp>
        <p:nvSpPr>
          <p:cNvPr id="99" name="Shape 97"/>
          <p:cNvSpPr/>
          <p:nvPr/>
        </p:nvSpPr>
        <p:spPr>
          <a:xfrm>
            <a:off x="3642970" y="5539740"/>
            <a:ext cx="621792" cy="182880"/>
          </a:xfrm>
          <a:prstGeom prst="roundRect">
            <a:avLst>
              <a:gd name="adj" fmla="val 60000"/>
            </a:avLst>
          </a:prstGeom>
          <a:solidFill>
            <a:srgbClr val="FEF3C7"/>
          </a:solidFill>
          <a:ln w="7620">
            <a:solidFill>
              <a:srgbClr val="FEF3C7"/>
            </a:solidFill>
            <a:prstDash val="solid"/>
          </a:ln>
        </p:spPr>
      </p:sp>
      <p:sp>
        <p:nvSpPr>
          <p:cNvPr id="100" name="Text 98"/>
          <p:cNvSpPr/>
          <p:nvPr/>
        </p:nvSpPr>
        <p:spPr>
          <a:xfrm>
            <a:off x="3642970" y="5544312"/>
            <a:ext cx="6217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20" b="1" dirty="0">
                <a:solidFill>
                  <a:srgbClr val="F59E0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待评审</a:t>
            </a:r>
            <a:endParaRPr lang="en-US" sz="620" dirty="0"/>
          </a:p>
        </p:txBody>
      </p:sp>
      <p:sp>
        <p:nvSpPr>
          <p:cNvPr id="101" name="Text 99"/>
          <p:cNvSpPr/>
          <p:nvPr/>
        </p:nvSpPr>
        <p:spPr>
          <a:xfrm>
            <a:off x="4306824" y="5494020"/>
            <a:ext cx="632765" cy="4587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20" dirty="0">
                <a:solidFill>
                  <a:srgbClr val="64748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人工录入</a:t>
            </a:r>
            <a:endParaRPr lang="en-US" sz="620" dirty="0"/>
          </a:p>
        </p:txBody>
      </p:sp>
      <p:sp>
        <p:nvSpPr>
          <p:cNvPr id="102" name="Text 100"/>
          <p:cNvSpPr/>
          <p:nvPr/>
        </p:nvSpPr>
        <p:spPr>
          <a:xfrm>
            <a:off x="5031029" y="5494020"/>
            <a:ext cx="512064" cy="4587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20" dirty="0">
                <a:solidFill>
                  <a:srgbClr val="64748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10/14</a:t>
            </a:r>
            <a:endParaRPr lang="en-US" sz="620" dirty="0"/>
          </a:p>
        </p:txBody>
      </p:sp>
      <p:sp>
        <p:nvSpPr>
          <p:cNvPr id="103" name="Text 101"/>
          <p:cNvSpPr/>
          <p:nvPr/>
        </p:nvSpPr>
        <p:spPr>
          <a:xfrm>
            <a:off x="5634533" y="5494020"/>
            <a:ext cx="512064" cy="4587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20" dirty="0">
                <a:solidFill>
                  <a:srgbClr val="64748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—</a:t>
            </a:r>
            <a:endParaRPr lang="en-US" sz="620" dirty="0"/>
          </a:p>
        </p:txBody>
      </p:sp>
      <p:sp>
        <p:nvSpPr>
          <p:cNvPr id="104" name="Text 102"/>
          <p:cNvSpPr/>
          <p:nvPr/>
        </p:nvSpPr>
        <p:spPr>
          <a:xfrm>
            <a:off x="6238037" y="5494020"/>
            <a:ext cx="512064" cy="4587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20" dirty="0">
                <a:solidFill>
                  <a:srgbClr val="64748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—</a:t>
            </a:r>
            <a:endParaRPr lang="en-US" sz="620" dirty="0"/>
          </a:p>
        </p:txBody>
      </p:sp>
      <p:sp>
        <p:nvSpPr>
          <p:cNvPr id="105" name="Text 103"/>
          <p:cNvSpPr/>
          <p:nvPr/>
        </p:nvSpPr>
        <p:spPr>
          <a:xfrm>
            <a:off x="6841541" y="5494020"/>
            <a:ext cx="693115" cy="4587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20" dirty="0">
                <a:solidFill>
                  <a:srgbClr val="64748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质量管理部</a:t>
            </a:r>
            <a:endParaRPr lang="en-US" sz="620" dirty="0"/>
          </a:p>
        </p:txBody>
      </p:sp>
      <p:sp>
        <p:nvSpPr>
          <p:cNvPr id="106" name="Text 104"/>
          <p:cNvSpPr/>
          <p:nvPr/>
        </p:nvSpPr>
        <p:spPr>
          <a:xfrm>
            <a:off x="7626096" y="5494020"/>
            <a:ext cx="512064" cy="4587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20" dirty="0">
                <a:solidFill>
                  <a:srgbClr val="64748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田强</a:t>
            </a:r>
            <a:endParaRPr lang="en-US" sz="620" dirty="0"/>
          </a:p>
        </p:txBody>
      </p:sp>
      <p:sp>
        <p:nvSpPr>
          <p:cNvPr id="107" name="Text 105"/>
          <p:cNvSpPr/>
          <p:nvPr/>
        </p:nvSpPr>
        <p:spPr>
          <a:xfrm>
            <a:off x="8229600" y="5494020"/>
            <a:ext cx="512064" cy="4587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20" dirty="0">
                <a:solidFill>
                  <a:srgbClr val="64748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0/2</a:t>
            </a:r>
            <a:endParaRPr lang="en-US" sz="620" dirty="0"/>
          </a:p>
        </p:txBody>
      </p:sp>
      <p:sp>
        <p:nvSpPr>
          <p:cNvPr id="108" name="Shape 106"/>
          <p:cNvSpPr/>
          <p:nvPr/>
        </p:nvSpPr>
        <p:spPr>
          <a:xfrm>
            <a:off x="8412480" y="2743200"/>
            <a:ext cx="2651760" cy="3931920"/>
          </a:xfrm>
          <a:prstGeom prst="roundRect">
            <a:avLst>
              <a:gd name="adj" fmla="val 4828"/>
            </a:avLst>
          </a:prstGeom>
          <a:solidFill>
            <a:srgbClr val="FFFFFF"/>
          </a:solidFill>
          <a:ln w="7620">
            <a:solidFill>
              <a:srgbClr val="D9E2EC"/>
            </a:solidFill>
            <a:prstDash val="solid"/>
          </a:ln>
          <a:effectLst>
            <a:outerShdw sx="100000" sy="100000" kx="0" ky="0" algn="bl" rotWithShape="0" blurRad="2.235502258395702e+160" dist="4.471004516791404e+160" dir="1.0025620904132804e+188">
              <a:srgbClr val="CBD5E1">
                <a:alpha val="1.1999999999999995e+194"/>
              </a:srgbClr>
            </a:outerShdw>
          </a:effectLst>
        </p:spPr>
      </p:sp>
      <p:sp>
        <p:nvSpPr>
          <p:cNvPr id="109" name="Text 107"/>
          <p:cNvSpPr/>
          <p:nvPr/>
        </p:nvSpPr>
        <p:spPr>
          <a:xfrm>
            <a:off x="8641080" y="2971800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工序详情</a:t>
            </a:r>
            <a:endParaRPr lang="en-US" sz="1200" dirty="0"/>
          </a:p>
        </p:txBody>
      </p:sp>
      <p:sp>
        <p:nvSpPr>
          <p:cNvPr id="110" name="Shape 108"/>
          <p:cNvSpPr/>
          <p:nvPr/>
        </p:nvSpPr>
        <p:spPr>
          <a:xfrm>
            <a:off x="9692640" y="2990088"/>
            <a:ext cx="493776" cy="182880"/>
          </a:xfrm>
          <a:prstGeom prst="roundRect">
            <a:avLst>
              <a:gd name="adj" fmla="val 60000"/>
            </a:avLst>
          </a:prstGeom>
          <a:solidFill>
            <a:srgbClr val="DBEAFE"/>
          </a:solidFill>
          <a:ln w="7620">
            <a:solidFill>
              <a:srgbClr val="DBEAFE"/>
            </a:solidFill>
            <a:prstDash val="solid"/>
          </a:ln>
        </p:spPr>
      </p:sp>
      <p:sp>
        <p:nvSpPr>
          <p:cNvPr id="111" name="Text 109"/>
          <p:cNvSpPr/>
          <p:nvPr/>
        </p:nvSpPr>
        <p:spPr>
          <a:xfrm>
            <a:off x="9692640" y="2994660"/>
            <a:ext cx="4937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20" b="1" dirty="0">
                <a:solidFill>
                  <a:srgbClr val="2563E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第06步</a:t>
            </a:r>
            <a:endParaRPr lang="en-US" sz="620" dirty="0"/>
          </a:p>
        </p:txBody>
      </p:sp>
      <p:sp>
        <p:nvSpPr>
          <p:cNvPr id="112" name="Text 110"/>
          <p:cNvSpPr/>
          <p:nvPr/>
        </p:nvSpPr>
        <p:spPr>
          <a:xfrm>
            <a:off x="8641080" y="3319272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涂料采购</a:t>
            </a:r>
            <a:endParaRPr lang="en-US" sz="1000" dirty="0"/>
          </a:p>
        </p:txBody>
      </p:sp>
      <p:sp>
        <p:nvSpPr>
          <p:cNvPr id="113" name="Text 111"/>
          <p:cNvSpPr/>
          <p:nvPr/>
        </p:nvSpPr>
        <p:spPr>
          <a:xfrm>
            <a:off x="8641080" y="3630168"/>
            <a:ext cx="7315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20" b="1" dirty="0">
                <a:solidFill>
                  <a:srgbClr val="0F172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工作内容</a:t>
            </a:r>
            <a:endParaRPr lang="en-US" sz="720" dirty="0"/>
          </a:p>
        </p:txBody>
      </p:sp>
      <p:sp>
        <p:nvSpPr>
          <p:cNvPr id="114" name="Text 112"/>
          <p:cNvSpPr/>
          <p:nvPr/>
        </p:nvSpPr>
        <p:spPr>
          <a:xfrm>
            <a:off x="8641080" y="3849624"/>
            <a:ext cx="224028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60" dirty="0">
                <a:solidFill>
                  <a:srgbClr val="64748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根据样板颜色在10个工作日内完成涂料采购，提交供应商确认记录。</a:t>
            </a:r>
            <a:endParaRPr lang="en-US" sz="660" dirty="0"/>
          </a:p>
        </p:txBody>
      </p:sp>
      <p:sp>
        <p:nvSpPr>
          <p:cNvPr id="115" name="Text 113"/>
          <p:cNvSpPr/>
          <p:nvPr/>
        </p:nvSpPr>
        <p:spPr>
          <a:xfrm>
            <a:off x="8641080" y="4361688"/>
            <a:ext cx="7315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20" b="1" dirty="0">
                <a:solidFill>
                  <a:srgbClr val="0F172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必交材料</a:t>
            </a:r>
            <a:endParaRPr lang="en-US" sz="720" dirty="0"/>
          </a:p>
        </p:txBody>
      </p:sp>
      <p:sp>
        <p:nvSpPr>
          <p:cNvPr id="116" name="Shape 114"/>
          <p:cNvSpPr/>
          <p:nvPr/>
        </p:nvSpPr>
        <p:spPr>
          <a:xfrm>
            <a:off x="8641080" y="4654296"/>
            <a:ext cx="64008" cy="64008"/>
          </a:xfrm>
          <a:prstGeom prst="ellipse">
            <a:avLst/>
          </a:prstGeom>
          <a:solidFill>
            <a:srgbClr val="F59E0B"/>
          </a:solidFill>
          <a:ln w="6350">
            <a:solidFill>
              <a:srgbClr val="F59E0B"/>
            </a:solidFill>
            <a:prstDash val="solid"/>
          </a:ln>
        </p:spPr>
      </p:sp>
      <p:sp>
        <p:nvSpPr>
          <p:cNvPr id="117" name="Text 115"/>
          <p:cNvSpPr/>
          <p:nvPr/>
        </p:nvSpPr>
        <p:spPr>
          <a:xfrm>
            <a:off x="8787384" y="4599432"/>
            <a:ext cx="18653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70" dirty="0">
                <a:solidFill>
                  <a:srgbClr val="0F172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采购申请单</a:t>
            </a:r>
            <a:endParaRPr lang="en-US" sz="670" dirty="0"/>
          </a:p>
        </p:txBody>
      </p:sp>
      <p:sp>
        <p:nvSpPr>
          <p:cNvPr id="118" name="Shape 116"/>
          <p:cNvSpPr/>
          <p:nvPr/>
        </p:nvSpPr>
        <p:spPr>
          <a:xfrm>
            <a:off x="8641080" y="4910328"/>
            <a:ext cx="64008" cy="64008"/>
          </a:xfrm>
          <a:prstGeom prst="ellipse">
            <a:avLst/>
          </a:prstGeom>
          <a:solidFill>
            <a:srgbClr val="F59E0B"/>
          </a:solidFill>
          <a:ln w="6350">
            <a:solidFill>
              <a:srgbClr val="F59E0B"/>
            </a:solidFill>
            <a:prstDash val="solid"/>
          </a:ln>
        </p:spPr>
      </p:sp>
      <p:sp>
        <p:nvSpPr>
          <p:cNvPr id="119" name="Text 117"/>
          <p:cNvSpPr/>
          <p:nvPr/>
        </p:nvSpPr>
        <p:spPr>
          <a:xfrm>
            <a:off x="8787384" y="4855464"/>
            <a:ext cx="18653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70" dirty="0">
                <a:solidFill>
                  <a:srgbClr val="0F172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供应商确认单</a:t>
            </a:r>
            <a:endParaRPr lang="en-US" sz="670" dirty="0"/>
          </a:p>
        </p:txBody>
      </p:sp>
      <p:sp>
        <p:nvSpPr>
          <p:cNvPr id="120" name="Text 118"/>
          <p:cNvSpPr/>
          <p:nvPr/>
        </p:nvSpPr>
        <p:spPr>
          <a:xfrm>
            <a:off x="8641080" y="5212080"/>
            <a:ext cx="7315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20" b="1" dirty="0">
                <a:solidFill>
                  <a:srgbClr val="0F172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操作日志</a:t>
            </a:r>
            <a:endParaRPr lang="en-US" sz="720" dirty="0"/>
          </a:p>
        </p:txBody>
      </p:sp>
      <p:sp>
        <p:nvSpPr>
          <p:cNvPr id="121" name="Text 119"/>
          <p:cNvSpPr/>
          <p:nvPr/>
        </p:nvSpPr>
        <p:spPr>
          <a:xfrm>
            <a:off x="8641080" y="544068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20" dirty="0">
                <a:solidFill>
                  <a:srgbClr val="64748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10/13 系统自动创建</a:t>
            </a:r>
            <a:endParaRPr lang="en-US" sz="620" dirty="0"/>
          </a:p>
          <a:p>
            <a:pPr algn="l" indent="0" marL="0">
              <a:buNone/>
            </a:pPr>
            <a:r>
              <a:rPr lang="en-US" sz="620" dirty="0">
                <a:solidFill>
                  <a:srgbClr val="64748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10/14 张七巧上传采购申请单</a:t>
            </a:r>
            <a:endParaRPr lang="en-US" sz="620" dirty="0"/>
          </a:p>
          <a:p>
            <a:pPr algn="l" indent="0" marL="0">
              <a:buNone/>
            </a:pPr>
            <a:r>
              <a:rPr lang="en-US" sz="620" dirty="0">
                <a:solidFill>
                  <a:srgbClr val="64748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10/15 采购部确认供应商</a:t>
            </a:r>
            <a:endParaRPr lang="en-US" sz="620" dirty="0"/>
          </a:p>
        </p:txBody>
      </p:sp>
      <p:sp>
        <p:nvSpPr>
          <p:cNvPr id="122" name="Shape 120"/>
          <p:cNvSpPr/>
          <p:nvPr/>
        </p:nvSpPr>
        <p:spPr>
          <a:xfrm>
            <a:off x="8641080" y="6126480"/>
            <a:ext cx="658368" cy="219456"/>
          </a:xfrm>
          <a:prstGeom prst="roundRect">
            <a:avLst>
              <a:gd name="adj" fmla="val 50000"/>
            </a:avLst>
          </a:prstGeom>
          <a:solidFill>
            <a:srgbClr val="F8FAFC"/>
          </a:solidFill>
          <a:ln w="7620">
            <a:solidFill>
              <a:srgbClr val="F8FAFC"/>
            </a:solidFill>
            <a:prstDash val="solid"/>
          </a:ln>
        </p:spPr>
      </p:sp>
      <p:sp>
        <p:nvSpPr>
          <p:cNvPr id="123" name="Text 121"/>
          <p:cNvSpPr/>
          <p:nvPr/>
        </p:nvSpPr>
        <p:spPr>
          <a:xfrm>
            <a:off x="8641080" y="6131052"/>
            <a:ext cx="6583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20" b="1" dirty="0">
                <a:solidFill>
                  <a:srgbClr val="64748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保存草稿</a:t>
            </a:r>
            <a:endParaRPr lang="en-US" sz="620" dirty="0"/>
          </a:p>
        </p:txBody>
      </p:sp>
      <p:sp>
        <p:nvSpPr>
          <p:cNvPr id="124" name="Shape 122"/>
          <p:cNvSpPr/>
          <p:nvPr/>
        </p:nvSpPr>
        <p:spPr>
          <a:xfrm>
            <a:off x="9390888" y="6126480"/>
            <a:ext cx="658368" cy="219456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 w="7620">
            <a:solidFill>
              <a:srgbClr val="2563EB"/>
            </a:solidFill>
            <a:prstDash val="solid"/>
          </a:ln>
        </p:spPr>
      </p:sp>
      <p:sp>
        <p:nvSpPr>
          <p:cNvPr id="125" name="Text 123"/>
          <p:cNvSpPr/>
          <p:nvPr/>
        </p:nvSpPr>
        <p:spPr>
          <a:xfrm>
            <a:off x="9390888" y="6131052"/>
            <a:ext cx="6583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2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完成工序</a:t>
            </a:r>
            <a:endParaRPr lang="en-US" sz="620" dirty="0"/>
          </a:p>
        </p:txBody>
      </p:sp>
      <p:sp>
        <p:nvSpPr>
          <p:cNvPr id="126" name="Text 124"/>
          <p:cNvSpPr/>
          <p:nvPr/>
        </p:nvSpPr>
        <p:spPr>
          <a:xfrm>
            <a:off x="11567160" y="6492240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09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6766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09｜材料提交平台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02920" y="786384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材料按项目、工序、材料类型归档；每份材料具备版本、审核状态与上传记录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02920" y="1143000"/>
            <a:ext cx="11201400" cy="0"/>
          </a:xfrm>
          <a:prstGeom prst="line">
            <a:avLst/>
          </a:prstGeom>
          <a:noFill/>
          <a:ln w="8890">
            <a:solidFill>
              <a:srgbClr val="D9E2EC"/>
            </a:solidFill>
            <a:prstDash val="solid"/>
            <a:headEnd type="none"/>
            <a:tailEnd type="none"/>
          </a:ln>
        </p:spPr>
      </p:sp>
      <p:sp>
        <p:nvSpPr>
          <p:cNvPr id="5" name="Shape 3"/>
          <p:cNvSpPr/>
          <p:nvPr/>
        </p:nvSpPr>
        <p:spPr>
          <a:xfrm>
            <a:off x="502920" y="1051560"/>
            <a:ext cx="11201400" cy="5623560"/>
          </a:xfrm>
          <a:prstGeom prst="roundRect">
            <a:avLst>
              <a:gd name="adj" fmla="val 2602"/>
            </a:avLst>
          </a:prstGeom>
          <a:solidFill>
            <a:srgbClr val="FFFFFF"/>
          </a:solidFill>
          <a:ln w="7620">
            <a:solidFill>
              <a:srgbClr val="D9E2EC"/>
            </a:solidFill>
            <a:prstDash val="solid"/>
          </a:ln>
          <a:effectLst>
            <a:outerShdw sx="100000" sy="100000" kx="0" ky="0" algn="bl" rotWithShape="0" blurRad="3.2746015592201804e+41" dist="4.366135412293574e+41" dir="2.72097792e+49">
              <a:srgbClr val="CBD5E1">
                <a:alpha val="2.2e+49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02920" y="1051560"/>
            <a:ext cx="11201400" cy="438912"/>
          </a:xfrm>
          <a:prstGeom prst="roundRect">
            <a:avLst>
              <a:gd name="adj" fmla="val 33333"/>
            </a:avLst>
          </a:prstGeom>
          <a:solidFill>
            <a:srgbClr val="EFF6FF"/>
          </a:solidFill>
          <a:ln w="7620">
            <a:solidFill>
              <a:srgbClr val="D9E2E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04088" y="1216152"/>
            <a:ext cx="109728" cy="109728"/>
          </a:xfrm>
          <a:prstGeom prst="ellipse">
            <a:avLst/>
          </a:prstGeom>
          <a:solidFill>
            <a:srgbClr val="F87171"/>
          </a:solidFill>
          <a:ln w="6350">
            <a:solidFill>
              <a:srgbClr val="F8717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86968" y="1216152"/>
            <a:ext cx="109728" cy="109728"/>
          </a:xfrm>
          <a:prstGeom prst="ellipse">
            <a:avLst/>
          </a:prstGeom>
          <a:solidFill>
            <a:srgbClr val="FBBF24"/>
          </a:solidFill>
          <a:ln w="6350">
            <a:solidFill>
              <a:srgbClr val="FBBF2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69848" y="1216152"/>
            <a:ext cx="109728" cy="109728"/>
          </a:xfrm>
          <a:prstGeom prst="ellipse">
            <a:avLst/>
          </a:prstGeom>
          <a:solidFill>
            <a:srgbClr val="34D399"/>
          </a:solidFill>
          <a:ln w="6350">
            <a:solidFill>
              <a:srgbClr val="34D39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344168" y="1170432"/>
            <a:ext cx="10104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材料中心 / 项目材料库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502920" y="1490472"/>
            <a:ext cx="1417320" cy="5184648"/>
          </a:xfrm>
          <a:prstGeom prst="rect">
            <a:avLst>
              <a:gd name="adj" fmla="val 5161"/>
            </a:avLst>
          </a:prstGeom>
          <a:solidFill>
            <a:srgbClr val="0F172A"/>
          </a:solidFill>
          <a:ln w="7620">
            <a:solidFill>
              <a:srgbClr val="0F172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67512" y="1673352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颜色开发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67512" y="1929384"/>
            <a:ext cx="1143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60" dirty="0">
                <a:solidFill>
                  <a:srgbClr val="CBD5E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项目管理系统</a:t>
            </a:r>
            <a:endParaRPr lang="en-US" sz="760" dirty="0"/>
          </a:p>
        </p:txBody>
      </p:sp>
      <p:sp>
        <p:nvSpPr>
          <p:cNvPr id="14" name="Shape 12"/>
          <p:cNvSpPr/>
          <p:nvPr/>
        </p:nvSpPr>
        <p:spPr>
          <a:xfrm>
            <a:off x="621792" y="2386584"/>
            <a:ext cx="1179576" cy="301752"/>
          </a:xfrm>
          <a:prstGeom prst="roundRect">
            <a:avLst>
              <a:gd name="adj" fmla="val 24242"/>
            </a:avLst>
          </a:prstGeom>
          <a:solidFill>
            <a:srgbClr val="0F172A"/>
          </a:solidFill>
          <a:ln w="7620">
            <a:solidFill>
              <a:srgbClr val="0F172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58952" y="2450592"/>
            <a:ext cx="10058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CBD5E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工作台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621792" y="2807208"/>
            <a:ext cx="1179576" cy="301752"/>
          </a:xfrm>
          <a:prstGeom prst="roundRect">
            <a:avLst>
              <a:gd name="adj" fmla="val 24242"/>
            </a:avLst>
          </a:prstGeom>
          <a:solidFill>
            <a:srgbClr val="0F172A"/>
          </a:solidFill>
          <a:ln w="7620">
            <a:solidFill>
              <a:srgbClr val="0F172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58952" y="2871216"/>
            <a:ext cx="10058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CBD5E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项目管理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621792" y="3227832"/>
            <a:ext cx="1179576" cy="301752"/>
          </a:xfrm>
          <a:prstGeom prst="roundRect">
            <a:avLst>
              <a:gd name="adj" fmla="val 24242"/>
            </a:avLst>
          </a:prstGeom>
          <a:solidFill>
            <a:srgbClr val="0F172A"/>
          </a:solidFill>
          <a:ln w="7620">
            <a:solidFill>
              <a:srgbClr val="0F172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58952" y="3291840"/>
            <a:ext cx="10058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CBD5E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工序管理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621792" y="3648456"/>
            <a:ext cx="1179576" cy="301752"/>
          </a:xfrm>
          <a:prstGeom prst="roundRect">
            <a:avLst>
              <a:gd name="adj" fmla="val 24242"/>
            </a:avLst>
          </a:prstGeom>
          <a:solidFill>
            <a:srgbClr val="2563EB"/>
          </a:solidFill>
          <a:ln w="7620">
            <a:solidFill>
              <a:srgbClr val="2563E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58952" y="3712464"/>
            <a:ext cx="10058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材料中心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621792" y="4069080"/>
            <a:ext cx="1179576" cy="301752"/>
          </a:xfrm>
          <a:prstGeom prst="roundRect">
            <a:avLst>
              <a:gd name="adj" fmla="val 24242"/>
            </a:avLst>
          </a:prstGeom>
          <a:solidFill>
            <a:srgbClr val="0F172A"/>
          </a:solidFill>
          <a:ln w="7620">
            <a:solidFill>
              <a:srgbClr val="0F172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58952" y="4133088"/>
            <a:ext cx="10058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CBD5E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月度评审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621792" y="4489704"/>
            <a:ext cx="1179576" cy="301752"/>
          </a:xfrm>
          <a:prstGeom prst="roundRect">
            <a:avLst>
              <a:gd name="adj" fmla="val 24242"/>
            </a:avLst>
          </a:prstGeom>
          <a:solidFill>
            <a:srgbClr val="0F172A"/>
          </a:solidFill>
          <a:ln w="7620">
            <a:solidFill>
              <a:srgbClr val="0F172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58952" y="4553712"/>
            <a:ext cx="10058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CBD5E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数据中心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621792" y="4910328"/>
            <a:ext cx="1179576" cy="301752"/>
          </a:xfrm>
          <a:prstGeom prst="roundRect">
            <a:avLst>
              <a:gd name="adj" fmla="val 24242"/>
            </a:avLst>
          </a:prstGeom>
          <a:solidFill>
            <a:srgbClr val="0F172A"/>
          </a:solidFill>
          <a:ln w="7620">
            <a:solidFill>
              <a:srgbClr val="0F172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58952" y="4974336"/>
            <a:ext cx="10058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CBD5E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系统设置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1920240" y="1490472"/>
            <a:ext cx="9784080" cy="512064"/>
          </a:xfrm>
          <a:prstGeom prst="rect">
            <a:avLst>
              <a:gd name="adj" fmla="val 14286"/>
            </a:avLst>
          </a:prstGeom>
          <a:solidFill>
            <a:srgbClr val="FFFFFF"/>
          </a:solidFill>
          <a:ln w="7620">
            <a:solidFill>
              <a:srgbClr val="D9E2E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212848" y="1645920"/>
            <a:ext cx="1920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20" dirty="0">
                <a:solidFill>
                  <a:srgbClr val="94A3B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搜索项目 / 颜色 / 负责人</a:t>
            </a:r>
            <a:endParaRPr lang="en-US" sz="720" dirty="0"/>
          </a:p>
        </p:txBody>
      </p:sp>
      <p:sp>
        <p:nvSpPr>
          <p:cNvPr id="30" name="Shape 28"/>
          <p:cNvSpPr/>
          <p:nvPr/>
        </p:nvSpPr>
        <p:spPr>
          <a:xfrm>
            <a:off x="9784080" y="1600200"/>
            <a:ext cx="685800" cy="274320"/>
          </a:xfrm>
          <a:prstGeom prst="roundRect">
            <a:avLst>
              <a:gd name="adj" fmla="val 26667"/>
            </a:avLst>
          </a:prstGeom>
          <a:solidFill>
            <a:srgbClr val="DBEAFE"/>
          </a:solidFill>
          <a:ln w="7620">
            <a:solidFill>
              <a:srgbClr val="DBEAFE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9838944" y="1655064"/>
            <a:ext cx="57607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60" b="1" dirty="0">
                <a:solidFill>
                  <a:srgbClr val="2563E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立即刷新</a:t>
            </a:r>
            <a:endParaRPr lang="en-US" sz="660" dirty="0"/>
          </a:p>
        </p:txBody>
      </p:sp>
      <p:sp>
        <p:nvSpPr>
          <p:cNvPr id="32" name="Text 30"/>
          <p:cNvSpPr/>
          <p:nvPr/>
        </p:nvSpPr>
        <p:spPr>
          <a:xfrm>
            <a:off x="10561320" y="1645920"/>
            <a:ext cx="9601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80" dirty="0">
                <a:solidFill>
                  <a:srgbClr val="64748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最近更新 14:32</a:t>
            </a:r>
            <a:endParaRPr lang="en-US" sz="680" dirty="0"/>
          </a:p>
        </p:txBody>
      </p:sp>
      <p:sp>
        <p:nvSpPr>
          <p:cNvPr id="33" name="Text 31"/>
          <p:cNvSpPr/>
          <p:nvPr/>
        </p:nvSpPr>
        <p:spPr>
          <a:xfrm>
            <a:off x="2148840" y="214884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材料提交平台</a:t>
            </a:r>
            <a:endParaRPr lang="en-US" sz="1400" dirty="0"/>
          </a:p>
        </p:txBody>
      </p:sp>
      <p:sp>
        <p:nvSpPr>
          <p:cNvPr id="34" name="Shape 32"/>
          <p:cNvSpPr/>
          <p:nvPr/>
        </p:nvSpPr>
        <p:spPr>
          <a:xfrm>
            <a:off x="2148840" y="2697480"/>
            <a:ext cx="2148840" cy="3931920"/>
          </a:xfrm>
          <a:prstGeom prst="roundRect">
            <a:avLst>
              <a:gd name="adj" fmla="val 5957"/>
            </a:avLst>
          </a:prstGeom>
          <a:solidFill>
            <a:srgbClr val="FFFFFF"/>
          </a:solidFill>
          <a:ln w="7620">
            <a:solidFill>
              <a:srgbClr val="D9E2EC"/>
            </a:solidFill>
            <a:prstDash val="solid"/>
          </a:ln>
          <a:effectLst>
            <a:outerShdw sx="100000" sy="100000" kx="0" ky="0" algn="bl" rotWithShape="0" blurRad="2.8390878681625417e+164" dist="5.678175736325083e+164" dir="6.015372542479682e+192">
              <a:srgbClr val="CBD5E1">
                <a:alpha val="1.1999999999999994e+199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2331720" y="2935224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当前工序必交材料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2331720" y="3337560"/>
            <a:ext cx="1783080" cy="384048"/>
          </a:xfrm>
          <a:prstGeom prst="roundRect">
            <a:avLst>
              <a:gd name="adj" fmla="val 19048"/>
            </a:avLst>
          </a:prstGeom>
          <a:solidFill>
            <a:srgbClr val="F8FAFC"/>
          </a:solidFill>
          <a:ln w="7620">
            <a:solidFill>
              <a:srgbClr val="D9E2EC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441448" y="3447288"/>
            <a:ext cx="9601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50" dirty="0">
                <a:solidFill>
                  <a:srgbClr val="0F172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客户颜色样板</a:t>
            </a:r>
            <a:endParaRPr lang="en-US" sz="650" dirty="0"/>
          </a:p>
        </p:txBody>
      </p:sp>
      <p:sp>
        <p:nvSpPr>
          <p:cNvPr id="38" name="Shape 36"/>
          <p:cNvSpPr/>
          <p:nvPr/>
        </p:nvSpPr>
        <p:spPr>
          <a:xfrm>
            <a:off x="3502152" y="3429000"/>
            <a:ext cx="502920" cy="164592"/>
          </a:xfrm>
          <a:prstGeom prst="roundRect">
            <a:avLst>
              <a:gd name="adj" fmla="val 66667"/>
            </a:avLst>
          </a:prstGeom>
          <a:solidFill>
            <a:srgbClr val="D1FAE5"/>
          </a:solidFill>
          <a:ln w="7620">
            <a:solidFill>
              <a:srgbClr val="D1FAE5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502152" y="3433572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560" b="1" dirty="0">
                <a:solidFill>
                  <a:srgbClr val="10B98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已归档</a:t>
            </a:r>
            <a:endParaRPr lang="en-US" sz="560" dirty="0"/>
          </a:p>
        </p:txBody>
      </p:sp>
      <p:sp>
        <p:nvSpPr>
          <p:cNvPr id="40" name="Shape 38"/>
          <p:cNvSpPr/>
          <p:nvPr/>
        </p:nvSpPr>
        <p:spPr>
          <a:xfrm>
            <a:off x="2331720" y="3867912"/>
            <a:ext cx="1783080" cy="384048"/>
          </a:xfrm>
          <a:prstGeom prst="roundRect">
            <a:avLst>
              <a:gd name="adj" fmla="val 19048"/>
            </a:avLst>
          </a:prstGeom>
          <a:solidFill>
            <a:srgbClr val="F8FAFC"/>
          </a:solidFill>
          <a:ln w="7620">
            <a:solidFill>
              <a:srgbClr val="D9E2EC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2441448" y="3977640"/>
            <a:ext cx="9601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50" dirty="0">
                <a:solidFill>
                  <a:srgbClr val="0F172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新颜色开发报告</a:t>
            </a:r>
            <a:endParaRPr lang="en-US" sz="650" dirty="0"/>
          </a:p>
        </p:txBody>
      </p:sp>
      <p:sp>
        <p:nvSpPr>
          <p:cNvPr id="42" name="Shape 40"/>
          <p:cNvSpPr/>
          <p:nvPr/>
        </p:nvSpPr>
        <p:spPr>
          <a:xfrm>
            <a:off x="3502152" y="3959352"/>
            <a:ext cx="502920" cy="164592"/>
          </a:xfrm>
          <a:prstGeom prst="roundRect">
            <a:avLst>
              <a:gd name="adj" fmla="val 66667"/>
            </a:avLst>
          </a:prstGeom>
          <a:solidFill>
            <a:srgbClr val="D1FAE5"/>
          </a:solidFill>
          <a:ln w="7620">
            <a:solidFill>
              <a:srgbClr val="D1FAE5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502152" y="3963924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560" b="1" dirty="0">
                <a:solidFill>
                  <a:srgbClr val="10B98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已归档</a:t>
            </a:r>
            <a:endParaRPr lang="en-US" sz="560" dirty="0"/>
          </a:p>
        </p:txBody>
      </p:sp>
      <p:sp>
        <p:nvSpPr>
          <p:cNvPr id="44" name="Shape 42"/>
          <p:cNvSpPr/>
          <p:nvPr/>
        </p:nvSpPr>
        <p:spPr>
          <a:xfrm>
            <a:off x="2331720" y="4398264"/>
            <a:ext cx="1783080" cy="384048"/>
          </a:xfrm>
          <a:prstGeom prst="roundRect">
            <a:avLst>
              <a:gd name="adj" fmla="val 19048"/>
            </a:avLst>
          </a:prstGeom>
          <a:solidFill>
            <a:srgbClr val="F8FAFC"/>
          </a:solidFill>
          <a:ln w="7620">
            <a:solidFill>
              <a:srgbClr val="D9E2EC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2441448" y="4507992"/>
            <a:ext cx="9601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50" dirty="0">
                <a:solidFill>
                  <a:srgbClr val="0F172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面漆颜色确认单</a:t>
            </a:r>
            <a:endParaRPr lang="en-US" sz="650" dirty="0"/>
          </a:p>
        </p:txBody>
      </p:sp>
      <p:sp>
        <p:nvSpPr>
          <p:cNvPr id="46" name="Shape 44"/>
          <p:cNvSpPr/>
          <p:nvPr/>
        </p:nvSpPr>
        <p:spPr>
          <a:xfrm>
            <a:off x="3502152" y="4489704"/>
            <a:ext cx="502920" cy="164592"/>
          </a:xfrm>
          <a:prstGeom prst="roundRect">
            <a:avLst>
              <a:gd name="adj" fmla="val 66667"/>
            </a:avLst>
          </a:prstGeom>
          <a:solidFill>
            <a:srgbClr val="D1FAE5"/>
          </a:solidFill>
          <a:ln w="7620">
            <a:solidFill>
              <a:srgbClr val="D1FAE5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3502152" y="4494276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560" b="1" dirty="0">
                <a:solidFill>
                  <a:srgbClr val="10B98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已归档</a:t>
            </a:r>
            <a:endParaRPr lang="en-US" sz="560" dirty="0"/>
          </a:p>
        </p:txBody>
      </p:sp>
      <p:sp>
        <p:nvSpPr>
          <p:cNvPr id="48" name="Shape 46"/>
          <p:cNvSpPr/>
          <p:nvPr/>
        </p:nvSpPr>
        <p:spPr>
          <a:xfrm>
            <a:off x="2331720" y="4928616"/>
            <a:ext cx="1783080" cy="384048"/>
          </a:xfrm>
          <a:prstGeom prst="roundRect">
            <a:avLst>
              <a:gd name="adj" fmla="val 19048"/>
            </a:avLst>
          </a:prstGeom>
          <a:solidFill>
            <a:srgbClr val="F8FAFC"/>
          </a:solidFill>
          <a:ln w="7620">
            <a:solidFill>
              <a:srgbClr val="D9E2EC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2441448" y="5038344"/>
            <a:ext cx="9601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50" dirty="0">
                <a:solidFill>
                  <a:srgbClr val="0F172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采购申请单</a:t>
            </a:r>
            <a:endParaRPr lang="en-US" sz="650" dirty="0"/>
          </a:p>
        </p:txBody>
      </p:sp>
      <p:sp>
        <p:nvSpPr>
          <p:cNvPr id="50" name="Shape 48"/>
          <p:cNvSpPr/>
          <p:nvPr/>
        </p:nvSpPr>
        <p:spPr>
          <a:xfrm>
            <a:off x="3502152" y="5020056"/>
            <a:ext cx="502920" cy="164592"/>
          </a:xfrm>
          <a:prstGeom prst="roundRect">
            <a:avLst>
              <a:gd name="adj" fmla="val 66667"/>
            </a:avLst>
          </a:prstGeom>
          <a:solidFill>
            <a:srgbClr val="DBEAFE"/>
          </a:solidFill>
          <a:ln w="7620">
            <a:solidFill>
              <a:srgbClr val="DBEAFE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3502152" y="5024628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560" b="1" dirty="0">
                <a:solidFill>
                  <a:srgbClr val="2563E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已提交</a:t>
            </a:r>
            <a:endParaRPr lang="en-US" sz="560" dirty="0"/>
          </a:p>
        </p:txBody>
      </p:sp>
      <p:sp>
        <p:nvSpPr>
          <p:cNvPr id="52" name="Shape 50"/>
          <p:cNvSpPr/>
          <p:nvPr/>
        </p:nvSpPr>
        <p:spPr>
          <a:xfrm>
            <a:off x="2331720" y="5458968"/>
            <a:ext cx="1783080" cy="384048"/>
          </a:xfrm>
          <a:prstGeom prst="roundRect">
            <a:avLst>
              <a:gd name="adj" fmla="val 19048"/>
            </a:avLst>
          </a:prstGeom>
          <a:solidFill>
            <a:srgbClr val="F8FAFC"/>
          </a:solidFill>
          <a:ln w="7620">
            <a:solidFill>
              <a:srgbClr val="D9E2EC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2441448" y="5568696"/>
            <a:ext cx="9601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50" dirty="0">
                <a:solidFill>
                  <a:srgbClr val="0F172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供应商确认单</a:t>
            </a:r>
            <a:endParaRPr lang="en-US" sz="650" dirty="0"/>
          </a:p>
        </p:txBody>
      </p:sp>
      <p:sp>
        <p:nvSpPr>
          <p:cNvPr id="54" name="Shape 52"/>
          <p:cNvSpPr/>
          <p:nvPr/>
        </p:nvSpPr>
        <p:spPr>
          <a:xfrm>
            <a:off x="3502152" y="5550408"/>
            <a:ext cx="502920" cy="164592"/>
          </a:xfrm>
          <a:prstGeom prst="roundRect">
            <a:avLst>
              <a:gd name="adj" fmla="val 66667"/>
            </a:avLst>
          </a:prstGeom>
          <a:solidFill>
            <a:srgbClr val="FEE2E2"/>
          </a:solidFill>
          <a:ln w="7620">
            <a:solidFill>
              <a:srgbClr val="FEE2E2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3502152" y="5554980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560" b="1" dirty="0">
                <a:solidFill>
                  <a:srgbClr val="EF444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未提交</a:t>
            </a:r>
            <a:endParaRPr lang="en-US" sz="560" dirty="0"/>
          </a:p>
        </p:txBody>
      </p:sp>
      <p:sp>
        <p:nvSpPr>
          <p:cNvPr id="56" name="Shape 54"/>
          <p:cNvSpPr/>
          <p:nvPr/>
        </p:nvSpPr>
        <p:spPr>
          <a:xfrm>
            <a:off x="4526280" y="2697480"/>
            <a:ext cx="2743200" cy="1325880"/>
          </a:xfrm>
          <a:prstGeom prst="roundRect">
            <a:avLst>
              <a:gd name="adj" fmla="val 9655"/>
            </a:avLst>
          </a:prstGeom>
          <a:solidFill>
            <a:srgbClr val="FFFFFF"/>
          </a:solidFill>
          <a:ln w="7620">
            <a:solidFill>
              <a:srgbClr val="D9E2EC"/>
            </a:solidFill>
            <a:prstDash val="solid"/>
          </a:ln>
          <a:effectLst>
            <a:outerShdw sx="100000" sy="100000" kx="0" ky="0" algn="bl" rotWithShape="0" blurRad="3.605641592566428e+168" dist="7.211283185132856e+168" dir="3.6092235254878095e+197">
              <a:srgbClr val="CBD5E1">
                <a:alpha val="1.1999999999999994e+204"/>
              </a:srgbClr>
            </a:outerShdw>
          </a:effectLst>
        </p:spPr>
      </p:sp>
      <p:sp>
        <p:nvSpPr>
          <p:cNvPr id="57" name="Text 55"/>
          <p:cNvSpPr/>
          <p:nvPr/>
        </p:nvSpPr>
        <p:spPr>
          <a:xfrm>
            <a:off x="4754880" y="2935224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上传材料</a:t>
            </a:r>
            <a:endParaRPr lang="en-US" sz="1100" dirty="0"/>
          </a:p>
        </p:txBody>
      </p:sp>
      <p:sp>
        <p:nvSpPr>
          <p:cNvPr id="58" name="Shape 56"/>
          <p:cNvSpPr/>
          <p:nvPr/>
        </p:nvSpPr>
        <p:spPr>
          <a:xfrm>
            <a:off x="4754880" y="3227832"/>
            <a:ext cx="2240280" cy="502920"/>
          </a:xfrm>
          <a:prstGeom prst="roundRect">
            <a:avLst>
              <a:gd name="adj" fmla="val 21818"/>
            </a:avLst>
          </a:prstGeom>
          <a:solidFill>
            <a:srgbClr val="F8FAFC"/>
          </a:solidFill>
          <a:ln w="7620">
            <a:solidFill>
              <a:srgbClr val="D9E2EC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5056632" y="3392424"/>
            <a:ext cx="16459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60" dirty="0">
                <a:solidFill>
                  <a:srgbClr val="64748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拖拽文件到此处，或点击选择文件</a:t>
            </a:r>
            <a:endParaRPr lang="en-US" sz="660" dirty="0"/>
          </a:p>
        </p:txBody>
      </p:sp>
      <p:sp>
        <p:nvSpPr>
          <p:cNvPr id="60" name="Shape 58"/>
          <p:cNvSpPr/>
          <p:nvPr/>
        </p:nvSpPr>
        <p:spPr>
          <a:xfrm>
            <a:off x="4526280" y="4206240"/>
            <a:ext cx="5577840" cy="2331720"/>
          </a:xfrm>
          <a:prstGeom prst="roundRect">
            <a:avLst>
              <a:gd name="adj" fmla="val 3922"/>
            </a:avLst>
          </a:prstGeom>
          <a:solidFill>
            <a:srgbClr val="FFFFFF"/>
          </a:solidFill>
          <a:ln w="7620">
            <a:solidFill>
              <a:srgbClr val="D9E2EC"/>
            </a:solidFill>
            <a:prstDash val="solid"/>
          </a:ln>
          <a:effectLst>
            <a:outerShdw sx="100000" sy="100000" kx="0" ky="0" algn="bl" rotWithShape="0" blurRad="4.579164822559364e+172" dist="9.158329645118728e+172" dir="2.1655341152926858e+202">
              <a:srgbClr val="CBD5E1">
                <a:alpha val="1.1999999999999994e+209"/>
              </a:srgbClr>
            </a:outerShdw>
          </a:effectLst>
        </p:spPr>
      </p:sp>
      <p:sp>
        <p:nvSpPr>
          <p:cNvPr id="61" name="Shape 59"/>
          <p:cNvSpPr/>
          <p:nvPr/>
        </p:nvSpPr>
        <p:spPr>
          <a:xfrm>
            <a:off x="4526280" y="4206240"/>
            <a:ext cx="5577840" cy="388620"/>
          </a:xfrm>
          <a:prstGeom prst="rect">
            <a:avLst>
              <a:gd name="adj" fmla="val 18824"/>
            </a:avLst>
          </a:prstGeom>
          <a:solidFill>
            <a:srgbClr val="F1F5F9"/>
          </a:solidFill>
          <a:ln w="7620">
            <a:solidFill>
              <a:srgbClr val="F1F5F9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4572000" y="4261104"/>
            <a:ext cx="1135685" cy="3154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40" b="1" dirty="0">
                <a:solidFill>
                  <a:srgbClr val="64748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材料名称</a:t>
            </a:r>
            <a:endParaRPr lang="en-US" sz="640" dirty="0"/>
          </a:p>
        </p:txBody>
      </p:sp>
      <p:sp>
        <p:nvSpPr>
          <p:cNvPr id="63" name="Text 61"/>
          <p:cNvSpPr/>
          <p:nvPr/>
        </p:nvSpPr>
        <p:spPr>
          <a:xfrm>
            <a:off x="5799125" y="4261104"/>
            <a:ext cx="689458" cy="3154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40" b="1" dirty="0">
                <a:solidFill>
                  <a:srgbClr val="64748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工序</a:t>
            </a:r>
            <a:endParaRPr lang="en-US" sz="640" dirty="0"/>
          </a:p>
        </p:txBody>
      </p:sp>
      <p:sp>
        <p:nvSpPr>
          <p:cNvPr id="64" name="Text 62"/>
          <p:cNvSpPr/>
          <p:nvPr/>
        </p:nvSpPr>
        <p:spPr>
          <a:xfrm>
            <a:off x="6580022" y="4261104"/>
            <a:ext cx="466344" cy="3154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40" b="1" dirty="0">
                <a:solidFill>
                  <a:srgbClr val="64748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版本</a:t>
            </a:r>
            <a:endParaRPr lang="en-US" sz="640" dirty="0"/>
          </a:p>
        </p:txBody>
      </p:sp>
      <p:sp>
        <p:nvSpPr>
          <p:cNvPr id="65" name="Text 63"/>
          <p:cNvSpPr/>
          <p:nvPr/>
        </p:nvSpPr>
        <p:spPr>
          <a:xfrm>
            <a:off x="7137806" y="4261104"/>
            <a:ext cx="689458" cy="3154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40" b="1" dirty="0">
                <a:solidFill>
                  <a:srgbClr val="64748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上传人</a:t>
            </a:r>
            <a:endParaRPr lang="en-US" sz="640" dirty="0"/>
          </a:p>
        </p:txBody>
      </p:sp>
      <p:sp>
        <p:nvSpPr>
          <p:cNvPr id="66" name="Text 64"/>
          <p:cNvSpPr/>
          <p:nvPr/>
        </p:nvSpPr>
        <p:spPr>
          <a:xfrm>
            <a:off x="7918704" y="4261104"/>
            <a:ext cx="856793" cy="3154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40" b="1" dirty="0">
                <a:solidFill>
                  <a:srgbClr val="64748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审核状态</a:t>
            </a:r>
            <a:endParaRPr lang="en-US" sz="640" dirty="0"/>
          </a:p>
        </p:txBody>
      </p:sp>
      <p:sp>
        <p:nvSpPr>
          <p:cNvPr id="67" name="Text 65"/>
          <p:cNvSpPr/>
          <p:nvPr/>
        </p:nvSpPr>
        <p:spPr>
          <a:xfrm>
            <a:off x="8866937" y="4261104"/>
            <a:ext cx="633679" cy="3154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40" b="1" dirty="0">
                <a:solidFill>
                  <a:srgbClr val="64748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时间</a:t>
            </a:r>
            <a:endParaRPr lang="en-US" sz="640" dirty="0"/>
          </a:p>
        </p:txBody>
      </p:sp>
      <p:sp>
        <p:nvSpPr>
          <p:cNvPr id="68" name="Shape 66"/>
          <p:cNvSpPr/>
          <p:nvPr/>
        </p:nvSpPr>
        <p:spPr>
          <a:xfrm>
            <a:off x="4526280" y="4594860"/>
            <a:ext cx="5577840" cy="0"/>
          </a:xfrm>
          <a:prstGeom prst="line">
            <a:avLst/>
          </a:prstGeom>
          <a:noFill/>
          <a:ln w="5715">
            <a:solidFill>
              <a:srgbClr val="E5E7EB"/>
            </a:solidFill>
            <a:prstDash val="solid"/>
            <a:headEnd type="none"/>
            <a:tailEnd type="none"/>
          </a:ln>
        </p:spPr>
      </p:sp>
      <p:sp>
        <p:nvSpPr>
          <p:cNvPr id="69" name="Text 67"/>
          <p:cNvSpPr/>
          <p:nvPr/>
        </p:nvSpPr>
        <p:spPr>
          <a:xfrm>
            <a:off x="4572000" y="4640580"/>
            <a:ext cx="1135685" cy="3063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20" dirty="0">
                <a:solidFill>
                  <a:srgbClr val="0F172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客户颜色样板</a:t>
            </a:r>
            <a:endParaRPr lang="en-US" sz="620" dirty="0"/>
          </a:p>
        </p:txBody>
      </p:sp>
      <p:sp>
        <p:nvSpPr>
          <p:cNvPr id="70" name="Text 68"/>
          <p:cNvSpPr/>
          <p:nvPr/>
        </p:nvSpPr>
        <p:spPr>
          <a:xfrm>
            <a:off x="5799125" y="4640580"/>
            <a:ext cx="689458" cy="3063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20" dirty="0">
                <a:solidFill>
                  <a:srgbClr val="64748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01</a:t>
            </a:r>
            <a:endParaRPr lang="en-US" sz="620" dirty="0"/>
          </a:p>
        </p:txBody>
      </p:sp>
      <p:sp>
        <p:nvSpPr>
          <p:cNvPr id="71" name="Text 69"/>
          <p:cNvSpPr/>
          <p:nvPr/>
        </p:nvSpPr>
        <p:spPr>
          <a:xfrm>
            <a:off x="6580022" y="4640580"/>
            <a:ext cx="466344" cy="3063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20" dirty="0">
                <a:solidFill>
                  <a:srgbClr val="64748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v1</a:t>
            </a:r>
            <a:endParaRPr lang="en-US" sz="620" dirty="0"/>
          </a:p>
        </p:txBody>
      </p:sp>
      <p:sp>
        <p:nvSpPr>
          <p:cNvPr id="72" name="Text 70"/>
          <p:cNvSpPr/>
          <p:nvPr/>
        </p:nvSpPr>
        <p:spPr>
          <a:xfrm>
            <a:off x="7137806" y="4640580"/>
            <a:ext cx="689458" cy="3063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20" dirty="0">
                <a:solidFill>
                  <a:srgbClr val="64748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刘中伍</a:t>
            </a:r>
            <a:endParaRPr lang="en-US" sz="620" dirty="0"/>
          </a:p>
        </p:txBody>
      </p:sp>
      <p:sp>
        <p:nvSpPr>
          <p:cNvPr id="73" name="Shape 71"/>
          <p:cNvSpPr/>
          <p:nvPr/>
        </p:nvSpPr>
        <p:spPr>
          <a:xfrm>
            <a:off x="7918704" y="4686300"/>
            <a:ext cx="621792" cy="182880"/>
          </a:xfrm>
          <a:prstGeom prst="roundRect">
            <a:avLst>
              <a:gd name="adj" fmla="val 60000"/>
            </a:avLst>
          </a:prstGeom>
          <a:solidFill>
            <a:srgbClr val="D1FAE5"/>
          </a:solidFill>
          <a:ln w="7620">
            <a:solidFill>
              <a:srgbClr val="D1FAE5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7918704" y="4690872"/>
            <a:ext cx="6217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20" b="1" dirty="0">
                <a:solidFill>
                  <a:srgbClr val="10B98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已归档</a:t>
            </a:r>
            <a:endParaRPr lang="en-US" sz="620" dirty="0"/>
          </a:p>
        </p:txBody>
      </p:sp>
      <p:sp>
        <p:nvSpPr>
          <p:cNvPr id="75" name="Text 73"/>
          <p:cNvSpPr/>
          <p:nvPr/>
        </p:nvSpPr>
        <p:spPr>
          <a:xfrm>
            <a:off x="8866937" y="4640580"/>
            <a:ext cx="633679" cy="3063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20" dirty="0">
                <a:solidFill>
                  <a:srgbClr val="64748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07/07</a:t>
            </a:r>
            <a:endParaRPr lang="en-US" sz="620" dirty="0"/>
          </a:p>
        </p:txBody>
      </p:sp>
      <p:sp>
        <p:nvSpPr>
          <p:cNvPr id="76" name="Shape 74"/>
          <p:cNvSpPr/>
          <p:nvPr/>
        </p:nvSpPr>
        <p:spPr>
          <a:xfrm>
            <a:off x="4526280" y="4983480"/>
            <a:ext cx="5577840" cy="388620"/>
          </a:xfrm>
          <a:prstGeom prst="rect">
            <a:avLst>
              <a:gd name="adj" fmla="val 18824"/>
            </a:avLst>
          </a:prstGeom>
          <a:solidFill>
            <a:srgbClr val="FAFBFC"/>
          </a:solidFill>
          <a:ln w="7620">
            <a:solidFill>
              <a:srgbClr val="FAFBFC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4526280" y="4983480"/>
            <a:ext cx="5577840" cy="0"/>
          </a:xfrm>
          <a:prstGeom prst="line">
            <a:avLst/>
          </a:prstGeom>
          <a:noFill/>
          <a:ln w="5715">
            <a:solidFill>
              <a:srgbClr val="E5E7EB"/>
            </a:solidFill>
            <a:prstDash val="solid"/>
            <a:headEnd type="none"/>
            <a:tailEnd type="none"/>
          </a:ln>
        </p:spPr>
      </p:sp>
      <p:sp>
        <p:nvSpPr>
          <p:cNvPr id="78" name="Text 76"/>
          <p:cNvSpPr/>
          <p:nvPr/>
        </p:nvSpPr>
        <p:spPr>
          <a:xfrm>
            <a:off x="4572000" y="5029200"/>
            <a:ext cx="1135685" cy="3063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20" dirty="0">
                <a:solidFill>
                  <a:srgbClr val="0F172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新颜色开发报告</a:t>
            </a:r>
            <a:endParaRPr lang="en-US" sz="620" dirty="0"/>
          </a:p>
        </p:txBody>
      </p:sp>
      <p:sp>
        <p:nvSpPr>
          <p:cNvPr id="79" name="Text 77"/>
          <p:cNvSpPr/>
          <p:nvPr/>
        </p:nvSpPr>
        <p:spPr>
          <a:xfrm>
            <a:off x="5799125" y="5029200"/>
            <a:ext cx="689458" cy="3063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20" dirty="0">
                <a:solidFill>
                  <a:srgbClr val="64748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02</a:t>
            </a:r>
            <a:endParaRPr lang="en-US" sz="620" dirty="0"/>
          </a:p>
        </p:txBody>
      </p:sp>
      <p:sp>
        <p:nvSpPr>
          <p:cNvPr id="80" name="Text 78"/>
          <p:cNvSpPr/>
          <p:nvPr/>
        </p:nvSpPr>
        <p:spPr>
          <a:xfrm>
            <a:off x="6580022" y="5029200"/>
            <a:ext cx="466344" cy="3063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20" dirty="0">
                <a:solidFill>
                  <a:srgbClr val="64748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v2</a:t>
            </a:r>
            <a:endParaRPr lang="en-US" sz="620" dirty="0"/>
          </a:p>
        </p:txBody>
      </p:sp>
      <p:sp>
        <p:nvSpPr>
          <p:cNvPr id="81" name="Text 79"/>
          <p:cNvSpPr/>
          <p:nvPr/>
        </p:nvSpPr>
        <p:spPr>
          <a:xfrm>
            <a:off x="7137806" y="5029200"/>
            <a:ext cx="689458" cy="3063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20" dirty="0">
                <a:solidFill>
                  <a:srgbClr val="64748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刘中伍</a:t>
            </a:r>
            <a:endParaRPr lang="en-US" sz="620" dirty="0"/>
          </a:p>
        </p:txBody>
      </p:sp>
      <p:sp>
        <p:nvSpPr>
          <p:cNvPr id="82" name="Shape 80"/>
          <p:cNvSpPr/>
          <p:nvPr/>
        </p:nvSpPr>
        <p:spPr>
          <a:xfrm>
            <a:off x="7918704" y="5074920"/>
            <a:ext cx="621792" cy="182880"/>
          </a:xfrm>
          <a:prstGeom prst="roundRect">
            <a:avLst>
              <a:gd name="adj" fmla="val 60000"/>
            </a:avLst>
          </a:prstGeom>
          <a:solidFill>
            <a:srgbClr val="D1FAE5"/>
          </a:solidFill>
          <a:ln w="7620">
            <a:solidFill>
              <a:srgbClr val="D1FAE5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7918704" y="5079492"/>
            <a:ext cx="6217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20" b="1" dirty="0">
                <a:solidFill>
                  <a:srgbClr val="10B98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审核通过</a:t>
            </a:r>
            <a:endParaRPr lang="en-US" sz="620" dirty="0"/>
          </a:p>
        </p:txBody>
      </p:sp>
      <p:sp>
        <p:nvSpPr>
          <p:cNvPr id="84" name="Text 82"/>
          <p:cNvSpPr/>
          <p:nvPr/>
        </p:nvSpPr>
        <p:spPr>
          <a:xfrm>
            <a:off x="8866937" y="5029200"/>
            <a:ext cx="633679" cy="3063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20" dirty="0">
                <a:solidFill>
                  <a:srgbClr val="64748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07/18</a:t>
            </a:r>
            <a:endParaRPr lang="en-US" sz="620" dirty="0"/>
          </a:p>
        </p:txBody>
      </p:sp>
      <p:sp>
        <p:nvSpPr>
          <p:cNvPr id="85" name="Shape 83"/>
          <p:cNvSpPr/>
          <p:nvPr/>
        </p:nvSpPr>
        <p:spPr>
          <a:xfrm>
            <a:off x="4526280" y="5372100"/>
            <a:ext cx="5577840" cy="0"/>
          </a:xfrm>
          <a:prstGeom prst="line">
            <a:avLst/>
          </a:prstGeom>
          <a:noFill/>
          <a:ln w="5715">
            <a:solidFill>
              <a:srgbClr val="E5E7EB"/>
            </a:solidFill>
            <a:prstDash val="solid"/>
            <a:headEnd type="none"/>
            <a:tailEnd type="none"/>
          </a:ln>
        </p:spPr>
      </p:sp>
      <p:sp>
        <p:nvSpPr>
          <p:cNvPr id="86" name="Text 84"/>
          <p:cNvSpPr/>
          <p:nvPr/>
        </p:nvSpPr>
        <p:spPr>
          <a:xfrm>
            <a:off x="4572000" y="5417820"/>
            <a:ext cx="1135685" cy="3063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20" dirty="0">
                <a:solidFill>
                  <a:srgbClr val="0F172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采购申请单</a:t>
            </a:r>
            <a:endParaRPr lang="en-US" sz="620" dirty="0"/>
          </a:p>
        </p:txBody>
      </p:sp>
      <p:sp>
        <p:nvSpPr>
          <p:cNvPr id="87" name="Text 85"/>
          <p:cNvSpPr/>
          <p:nvPr/>
        </p:nvSpPr>
        <p:spPr>
          <a:xfrm>
            <a:off x="5799125" y="5417820"/>
            <a:ext cx="689458" cy="3063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20" dirty="0">
                <a:solidFill>
                  <a:srgbClr val="64748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06</a:t>
            </a:r>
            <a:endParaRPr lang="en-US" sz="620" dirty="0"/>
          </a:p>
        </p:txBody>
      </p:sp>
      <p:sp>
        <p:nvSpPr>
          <p:cNvPr id="88" name="Text 86"/>
          <p:cNvSpPr/>
          <p:nvPr/>
        </p:nvSpPr>
        <p:spPr>
          <a:xfrm>
            <a:off x="6580022" y="5417820"/>
            <a:ext cx="466344" cy="3063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20" dirty="0">
                <a:solidFill>
                  <a:srgbClr val="64748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v1</a:t>
            </a:r>
            <a:endParaRPr lang="en-US" sz="620" dirty="0"/>
          </a:p>
        </p:txBody>
      </p:sp>
      <p:sp>
        <p:nvSpPr>
          <p:cNvPr id="89" name="Text 87"/>
          <p:cNvSpPr/>
          <p:nvPr/>
        </p:nvSpPr>
        <p:spPr>
          <a:xfrm>
            <a:off x="7137806" y="5417820"/>
            <a:ext cx="689458" cy="3063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20" dirty="0">
                <a:solidFill>
                  <a:srgbClr val="64748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张七巧</a:t>
            </a:r>
            <a:endParaRPr lang="en-US" sz="620" dirty="0"/>
          </a:p>
        </p:txBody>
      </p:sp>
      <p:sp>
        <p:nvSpPr>
          <p:cNvPr id="90" name="Shape 88"/>
          <p:cNvSpPr/>
          <p:nvPr/>
        </p:nvSpPr>
        <p:spPr>
          <a:xfrm>
            <a:off x="7918704" y="5463540"/>
            <a:ext cx="621792" cy="182880"/>
          </a:xfrm>
          <a:prstGeom prst="roundRect">
            <a:avLst>
              <a:gd name="adj" fmla="val 60000"/>
            </a:avLst>
          </a:prstGeom>
          <a:solidFill>
            <a:srgbClr val="DBEAFE"/>
          </a:solidFill>
          <a:ln w="7620">
            <a:solidFill>
              <a:srgbClr val="DBEAFE"/>
            </a:solidFill>
            <a:prstDash val="solid"/>
          </a:ln>
        </p:spPr>
      </p:sp>
      <p:sp>
        <p:nvSpPr>
          <p:cNvPr id="91" name="Text 89"/>
          <p:cNvSpPr/>
          <p:nvPr/>
        </p:nvSpPr>
        <p:spPr>
          <a:xfrm>
            <a:off x="7918704" y="5468112"/>
            <a:ext cx="6217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20" b="1" dirty="0">
                <a:solidFill>
                  <a:srgbClr val="2563E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已提交</a:t>
            </a:r>
            <a:endParaRPr lang="en-US" sz="620" dirty="0"/>
          </a:p>
        </p:txBody>
      </p:sp>
      <p:sp>
        <p:nvSpPr>
          <p:cNvPr id="92" name="Text 90"/>
          <p:cNvSpPr/>
          <p:nvPr/>
        </p:nvSpPr>
        <p:spPr>
          <a:xfrm>
            <a:off x="8866937" y="5417820"/>
            <a:ext cx="633679" cy="3063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20" dirty="0">
                <a:solidFill>
                  <a:srgbClr val="64748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10/14</a:t>
            </a:r>
            <a:endParaRPr lang="en-US" sz="620" dirty="0"/>
          </a:p>
        </p:txBody>
      </p:sp>
      <p:sp>
        <p:nvSpPr>
          <p:cNvPr id="93" name="Shape 91"/>
          <p:cNvSpPr/>
          <p:nvPr/>
        </p:nvSpPr>
        <p:spPr>
          <a:xfrm>
            <a:off x="4526280" y="5760720"/>
            <a:ext cx="5577840" cy="388620"/>
          </a:xfrm>
          <a:prstGeom prst="rect">
            <a:avLst>
              <a:gd name="adj" fmla="val 18824"/>
            </a:avLst>
          </a:prstGeom>
          <a:solidFill>
            <a:srgbClr val="FAFBFC"/>
          </a:solidFill>
          <a:ln w="7620">
            <a:solidFill>
              <a:srgbClr val="FAFBFC"/>
            </a:solidFill>
            <a:prstDash val="solid"/>
          </a:ln>
        </p:spPr>
      </p:sp>
      <p:sp>
        <p:nvSpPr>
          <p:cNvPr id="94" name="Shape 92"/>
          <p:cNvSpPr/>
          <p:nvPr/>
        </p:nvSpPr>
        <p:spPr>
          <a:xfrm>
            <a:off x="4526280" y="5760720"/>
            <a:ext cx="5577840" cy="0"/>
          </a:xfrm>
          <a:prstGeom prst="line">
            <a:avLst/>
          </a:prstGeom>
          <a:noFill/>
          <a:ln w="5715">
            <a:solidFill>
              <a:srgbClr val="E5E7EB"/>
            </a:solidFill>
            <a:prstDash val="solid"/>
            <a:headEnd type="none"/>
            <a:tailEnd type="none"/>
          </a:ln>
        </p:spPr>
      </p:sp>
      <p:sp>
        <p:nvSpPr>
          <p:cNvPr id="95" name="Text 93"/>
          <p:cNvSpPr/>
          <p:nvPr/>
        </p:nvSpPr>
        <p:spPr>
          <a:xfrm>
            <a:off x="4572000" y="5806440"/>
            <a:ext cx="1135685" cy="3063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20" dirty="0">
                <a:solidFill>
                  <a:srgbClr val="0F172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性能试验报告</a:t>
            </a:r>
            <a:endParaRPr lang="en-US" sz="620" dirty="0"/>
          </a:p>
        </p:txBody>
      </p:sp>
      <p:sp>
        <p:nvSpPr>
          <p:cNvPr id="96" name="Text 94"/>
          <p:cNvSpPr/>
          <p:nvPr/>
        </p:nvSpPr>
        <p:spPr>
          <a:xfrm>
            <a:off x="5799125" y="5806440"/>
            <a:ext cx="689458" cy="3063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20" dirty="0">
                <a:solidFill>
                  <a:srgbClr val="64748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09</a:t>
            </a:r>
            <a:endParaRPr lang="en-US" sz="620" dirty="0"/>
          </a:p>
        </p:txBody>
      </p:sp>
      <p:sp>
        <p:nvSpPr>
          <p:cNvPr id="97" name="Text 95"/>
          <p:cNvSpPr/>
          <p:nvPr/>
        </p:nvSpPr>
        <p:spPr>
          <a:xfrm>
            <a:off x="6580022" y="5806440"/>
            <a:ext cx="466344" cy="3063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20" dirty="0">
                <a:solidFill>
                  <a:srgbClr val="64748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v1</a:t>
            </a:r>
            <a:endParaRPr lang="en-US" sz="620" dirty="0"/>
          </a:p>
        </p:txBody>
      </p:sp>
      <p:sp>
        <p:nvSpPr>
          <p:cNvPr id="98" name="Text 96"/>
          <p:cNvSpPr/>
          <p:nvPr/>
        </p:nvSpPr>
        <p:spPr>
          <a:xfrm>
            <a:off x="7137806" y="5806440"/>
            <a:ext cx="689458" cy="3063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20" dirty="0">
                <a:solidFill>
                  <a:srgbClr val="64748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田强</a:t>
            </a:r>
            <a:endParaRPr lang="en-US" sz="620" dirty="0"/>
          </a:p>
        </p:txBody>
      </p:sp>
      <p:sp>
        <p:nvSpPr>
          <p:cNvPr id="99" name="Shape 97"/>
          <p:cNvSpPr/>
          <p:nvPr/>
        </p:nvSpPr>
        <p:spPr>
          <a:xfrm>
            <a:off x="7918704" y="5852160"/>
            <a:ext cx="621792" cy="182880"/>
          </a:xfrm>
          <a:prstGeom prst="roundRect">
            <a:avLst>
              <a:gd name="adj" fmla="val 60000"/>
            </a:avLst>
          </a:prstGeom>
          <a:solidFill>
            <a:srgbClr val="FEF3C7"/>
          </a:solidFill>
          <a:ln w="7620">
            <a:solidFill>
              <a:srgbClr val="FEF3C7"/>
            </a:solidFill>
            <a:prstDash val="solid"/>
          </a:ln>
        </p:spPr>
      </p:sp>
      <p:sp>
        <p:nvSpPr>
          <p:cNvPr id="100" name="Text 98"/>
          <p:cNvSpPr/>
          <p:nvPr/>
        </p:nvSpPr>
        <p:spPr>
          <a:xfrm>
            <a:off x="7918704" y="5856732"/>
            <a:ext cx="6217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20" b="1" dirty="0">
                <a:solidFill>
                  <a:srgbClr val="F59E0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待审核</a:t>
            </a:r>
            <a:endParaRPr lang="en-US" sz="620" dirty="0"/>
          </a:p>
        </p:txBody>
      </p:sp>
      <p:sp>
        <p:nvSpPr>
          <p:cNvPr id="101" name="Text 99"/>
          <p:cNvSpPr/>
          <p:nvPr/>
        </p:nvSpPr>
        <p:spPr>
          <a:xfrm>
            <a:off x="8866937" y="5806440"/>
            <a:ext cx="633679" cy="3063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20" dirty="0">
                <a:solidFill>
                  <a:srgbClr val="64748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02/16</a:t>
            </a:r>
            <a:endParaRPr lang="en-US" sz="620" dirty="0"/>
          </a:p>
        </p:txBody>
      </p:sp>
      <p:sp>
        <p:nvSpPr>
          <p:cNvPr id="102" name="Shape 100"/>
          <p:cNvSpPr/>
          <p:nvPr/>
        </p:nvSpPr>
        <p:spPr>
          <a:xfrm>
            <a:off x="4526280" y="6149340"/>
            <a:ext cx="5577840" cy="0"/>
          </a:xfrm>
          <a:prstGeom prst="line">
            <a:avLst/>
          </a:prstGeom>
          <a:noFill/>
          <a:ln w="5715">
            <a:solidFill>
              <a:srgbClr val="E5E7EB"/>
            </a:solidFill>
            <a:prstDash val="solid"/>
            <a:headEnd type="none"/>
            <a:tailEnd type="none"/>
          </a:ln>
        </p:spPr>
      </p:sp>
      <p:sp>
        <p:nvSpPr>
          <p:cNvPr id="103" name="Text 101"/>
          <p:cNvSpPr/>
          <p:nvPr/>
        </p:nvSpPr>
        <p:spPr>
          <a:xfrm>
            <a:off x="4572000" y="6195060"/>
            <a:ext cx="1135685" cy="3063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20" dirty="0">
                <a:solidFill>
                  <a:srgbClr val="0F172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收费凭证</a:t>
            </a:r>
            <a:endParaRPr lang="en-US" sz="620" dirty="0"/>
          </a:p>
        </p:txBody>
      </p:sp>
      <p:sp>
        <p:nvSpPr>
          <p:cNvPr id="104" name="Text 102"/>
          <p:cNvSpPr/>
          <p:nvPr/>
        </p:nvSpPr>
        <p:spPr>
          <a:xfrm>
            <a:off x="5799125" y="6195060"/>
            <a:ext cx="689458" cy="3063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20" dirty="0">
                <a:solidFill>
                  <a:srgbClr val="64748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13</a:t>
            </a:r>
            <a:endParaRPr lang="en-US" sz="620" dirty="0"/>
          </a:p>
        </p:txBody>
      </p:sp>
      <p:sp>
        <p:nvSpPr>
          <p:cNvPr id="105" name="Text 103"/>
          <p:cNvSpPr/>
          <p:nvPr/>
        </p:nvSpPr>
        <p:spPr>
          <a:xfrm>
            <a:off x="6580022" y="6195060"/>
            <a:ext cx="466344" cy="3063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20" dirty="0">
                <a:solidFill>
                  <a:srgbClr val="64748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v1</a:t>
            </a:r>
            <a:endParaRPr lang="en-US" sz="620" dirty="0"/>
          </a:p>
        </p:txBody>
      </p:sp>
      <p:sp>
        <p:nvSpPr>
          <p:cNvPr id="106" name="Text 104"/>
          <p:cNvSpPr/>
          <p:nvPr/>
        </p:nvSpPr>
        <p:spPr>
          <a:xfrm>
            <a:off x="7137806" y="6195060"/>
            <a:ext cx="689458" cy="3063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20" dirty="0">
                <a:solidFill>
                  <a:srgbClr val="64748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孙丽红</a:t>
            </a:r>
            <a:endParaRPr lang="en-US" sz="620" dirty="0"/>
          </a:p>
        </p:txBody>
      </p:sp>
      <p:sp>
        <p:nvSpPr>
          <p:cNvPr id="107" name="Shape 105"/>
          <p:cNvSpPr/>
          <p:nvPr/>
        </p:nvSpPr>
        <p:spPr>
          <a:xfrm>
            <a:off x="7918704" y="6240780"/>
            <a:ext cx="621792" cy="182880"/>
          </a:xfrm>
          <a:prstGeom prst="roundRect">
            <a:avLst>
              <a:gd name="adj" fmla="val 60000"/>
            </a:avLst>
          </a:prstGeom>
          <a:solidFill>
            <a:srgbClr val="EDE9FE"/>
          </a:solidFill>
          <a:ln w="7620">
            <a:solidFill>
              <a:srgbClr val="EDE9FE"/>
            </a:solidFill>
            <a:prstDash val="solid"/>
          </a:ln>
        </p:spPr>
      </p:sp>
      <p:sp>
        <p:nvSpPr>
          <p:cNvPr id="108" name="Text 106"/>
          <p:cNvSpPr/>
          <p:nvPr/>
        </p:nvSpPr>
        <p:spPr>
          <a:xfrm>
            <a:off x="7918704" y="6245352"/>
            <a:ext cx="6217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20" b="1" dirty="0">
                <a:solidFill>
                  <a:srgbClr val="8B5CF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退回修改</a:t>
            </a:r>
            <a:endParaRPr lang="en-US" sz="620" dirty="0"/>
          </a:p>
        </p:txBody>
      </p:sp>
      <p:sp>
        <p:nvSpPr>
          <p:cNvPr id="109" name="Text 107"/>
          <p:cNvSpPr/>
          <p:nvPr/>
        </p:nvSpPr>
        <p:spPr>
          <a:xfrm>
            <a:off x="8866937" y="6195060"/>
            <a:ext cx="633679" cy="3063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20" dirty="0">
                <a:solidFill>
                  <a:srgbClr val="64748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11/30</a:t>
            </a:r>
            <a:endParaRPr lang="en-US" sz="620" dirty="0"/>
          </a:p>
        </p:txBody>
      </p:sp>
      <p:sp>
        <p:nvSpPr>
          <p:cNvPr id="110" name="Shape 108"/>
          <p:cNvSpPr/>
          <p:nvPr/>
        </p:nvSpPr>
        <p:spPr>
          <a:xfrm>
            <a:off x="10287000" y="2697480"/>
            <a:ext cx="914400" cy="393192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7620">
            <a:solidFill>
              <a:srgbClr val="D9E2EC"/>
            </a:solidFill>
            <a:prstDash val="solid"/>
          </a:ln>
          <a:effectLst>
            <a:outerShdw sx="100000" sy="100000" kx="0" ky="0" algn="bl" rotWithShape="0" blurRad="5.815539324650392e+176" dist="1.1631078649300784e+177" dir="1.2993204691756116e+207">
              <a:srgbClr val="CBD5E1">
                <a:alpha val="1.1999999999999993e+214"/>
              </a:srgbClr>
            </a:outerShdw>
          </a:effectLst>
        </p:spPr>
      </p:sp>
      <p:sp>
        <p:nvSpPr>
          <p:cNvPr id="111" name="Text 109"/>
          <p:cNvSpPr/>
          <p:nvPr/>
        </p:nvSpPr>
        <p:spPr>
          <a:xfrm>
            <a:off x="10424160" y="2971800"/>
            <a:ext cx="6400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F172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审核队列</a:t>
            </a:r>
            <a:endParaRPr lang="en-US" sz="900" dirty="0"/>
          </a:p>
        </p:txBody>
      </p:sp>
      <p:sp>
        <p:nvSpPr>
          <p:cNvPr id="112" name="Shape 110"/>
          <p:cNvSpPr/>
          <p:nvPr/>
        </p:nvSpPr>
        <p:spPr>
          <a:xfrm>
            <a:off x="10424160" y="3383280"/>
            <a:ext cx="621792" cy="201168"/>
          </a:xfrm>
          <a:prstGeom prst="roundRect">
            <a:avLst>
              <a:gd name="adj" fmla="val 54545"/>
            </a:avLst>
          </a:prstGeom>
          <a:solidFill>
            <a:srgbClr val="FEF3C7"/>
          </a:solidFill>
          <a:ln w="7620">
            <a:solidFill>
              <a:srgbClr val="FEF3C7"/>
            </a:solidFill>
            <a:prstDash val="solid"/>
          </a:ln>
        </p:spPr>
      </p:sp>
      <p:sp>
        <p:nvSpPr>
          <p:cNvPr id="113" name="Text 111"/>
          <p:cNvSpPr/>
          <p:nvPr/>
        </p:nvSpPr>
        <p:spPr>
          <a:xfrm>
            <a:off x="10424160" y="3387852"/>
            <a:ext cx="6217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580" b="1" dirty="0">
                <a:solidFill>
                  <a:srgbClr val="F59E0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待审核 5</a:t>
            </a:r>
            <a:endParaRPr lang="en-US" sz="580" dirty="0"/>
          </a:p>
        </p:txBody>
      </p:sp>
      <p:sp>
        <p:nvSpPr>
          <p:cNvPr id="114" name="Shape 112"/>
          <p:cNvSpPr/>
          <p:nvPr/>
        </p:nvSpPr>
        <p:spPr>
          <a:xfrm>
            <a:off x="10424160" y="3822192"/>
            <a:ext cx="621792" cy="201168"/>
          </a:xfrm>
          <a:prstGeom prst="roundRect">
            <a:avLst>
              <a:gd name="adj" fmla="val 54545"/>
            </a:avLst>
          </a:prstGeom>
          <a:solidFill>
            <a:srgbClr val="EDE9FE"/>
          </a:solidFill>
          <a:ln w="7620">
            <a:solidFill>
              <a:srgbClr val="EDE9FE"/>
            </a:solidFill>
            <a:prstDash val="solid"/>
          </a:ln>
        </p:spPr>
      </p:sp>
      <p:sp>
        <p:nvSpPr>
          <p:cNvPr id="115" name="Text 113"/>
          <p:cNvSpPr/>
          <p:nvPr/>
        </p:nvSpPr>
        <p:spPr>
          <a:xfrm>
            <a:off x="10424160" y="3826764"/>
            <a:ext cx="6217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580" b="1" dirty="0">
                <a:solidFill>
                  <a:srgbClr val="8B5CF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退回 2</a:t>
            </a:r>
            <a:endParaRPr lang="en-US" sz="580" dirty="0"/>
          </a:p>
        </p:txBody>
      </p:sp>
      <p:sp>
        <p:nvSpPr>
          <p:cNvPr id="116" name="Shape 114"/>
          <p:cNvSpPr/>
          <p:nvPr/>
        </p:nvSpPr>
        <p:spPr>
          <a:xfrm>
            <a:off x="10424160" y="4261104"/>
            <a:ext cx="621792" cy="201168"/>
          </a:xfrm>
          <a:prstGeom prst="roundRect">
            <a:avLst>
              <a:gd name="adj" fmla="val 54545"/>
            </a:avLst>
          </a:prstGeom>
          <a:solidFill>
            <a:srgbClr val="D1FAE5"/>
          </a:solidFill>
          <a:ln w="7620">
            <a:solidFill>
              <a:srgbClr val="D1FAE5"/>
            </a:solidFill>
            <a:prstDash val="solid"/>
          </a:ln>
        </p:spPr>
      </p:sp>
      <p:sp>
        <p:nvSpPr>
          <p:cNvPr id="117" name="Text 115"/>
          <p:cNvSpPr/>
          <p:nvPr/>
        </p:nvSpPr>
        <p:spPr>
          <a:xfrm>
            <a:off x="10424160" y="4265676"/>
            <a:ext cx="6217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580" b="1" dirty="0">
                <a:solidFill>
                  <a:srgbClr val="10B98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已归档 32</a:t>
            </a:r>
            <a:endParaRPr lang="en-US" sz="580" dirty="0"/>
          </a:p>
        </p:txBody>
      </p:sp>
      <p:sp>
        <p:nvSpPr>
          <p:cNvPr id="118" name="Shape 116"/>
          <p:cNvSpPr/>
          <p:nvPr/>
        </p:nvSpPr>
        <p:spPr>
          <a:xfrm>
            <a:off x="10424160" y="4700016"/>
            <a:ext cx="621792" cy="201168"/>
          </a:xfrm>
          <a:prstGeom prst="roundRect">
            <a:avLst>
              <a:gd name="adj" fmla="val 54545"/>
            </a:avLst>
          </a:prstGeom>
          <a:solidFill>
            <a:srgbClr val="FEE2E2"/>
          </a:solidFill>
          <a:ln w="7620">
            <a:solidFill>
              <a:srgbClr val="FEE2E2"/>
            </a:solidFill>
            <a:prstDash val="solid"/>
          </a:ln>
        </p:spPr>
      </p:sp>
      <p:sp>
        <p:nvSpPr>
          <p:cNvPr id="119" name="Text 117"/>
          <p:cNvSpPr/>
          <p:nvPr/>
        </p:nvSpPr>
        <p:spPr>
          <a:xfrm>
            <a:off x="10424160" y="4704588"/>
            <a:ext cx="6217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580" b="1" dirty="0">
                <a:solidFill>
                  <a:srgbClr val="EF444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版本冲突 1</a:t>
            </a:r>
            <a:endParaRPr lang="en-US" sz="580" dirty="0"/>
          </a:p>
        </p:txBody>
      </p:sp>
      <p:sp>
        <p:nvSpPr>
          <p:cNvPr id="120" name="Text 118"/>
          <p:cNvSpPr/>
          <p:nvPr/>
        </p:nvSpPr>
        <p:spPr>
          <a:xfrm>
            <a:off x="11567160" y="6492240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10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6766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10｜第12步专项：样车驾驶室评审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02920" y="786384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通过 / 不通过两种动作清晰分离；不通过自动退回第11步并生成新轮次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02920" y="1143000"/>
            <a:ext cx="11201400" cy="0"/>
          </a:xfrm>
          <a:prstGeom prst="line">
            <a:avLst/>
          </a:prstGeom>
          <a:noFill/>
          <a:ln w="8890">
            <a:solidFill>
              <a:srgbClr val="D9E2EC"/>
            </a:solidFill>
            <a:prstDash val="solid"/>
            <a:headEnd type="none"/>
            <a:tailEnd type="none"/>
          </a:ln>
        </p:spPr>
      </p:sp>
      <p:sp>
        <p:nvSpPr>
          <p:cNvPr id="5" name="Shape 3"/>
          <p:cNvSpPr/>
          <p:nvPr/>
        </p:nvSpPr>
        <p:spPr>
          <a:xfrm>
            <a:off x="502920" y="1051560"/>
            <a:ext cx="11201400" cy="5623560"/>
          </a:xfrm>
          <a:prstGeom prst="roundRect">
            <a:avLst>
              <a:gd name="adj" fmla="val 2602"/>
            </a:avLst>
          </a:prstGeom>
          <a:solidFill>
            <a:srgbClr val="FFFFFF"/>
          </a:solidFill>
          <a:ln w="7620">
            <a:solidFill>
              <a:srgbClr val="D9E2EC"/>
            </a:solidFill>
            <a:prstDash val="solid"/>
          </a:ln>
          <a:effectLst>
            <a:outerShdw sx="100000" sy="100000" kx="0" ky="0" algn="bl" rotWithShape="0" blurRad="4.158743980209629e+45" dist="5.544991973612839e+45" dir="1.6325867520000003e+54">
              <a:srgbClr val="CBD5E1">
                <a:alpha val="2.2e+54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02920" y="1051560"/>
            <a:ext cx="11201400" cy="438912"/>
          </a:xfrm>
          <a:prstGeom prst="roundRect">
            <a:avLst>
              <a:gd name="adj" fmla="val 33333"/>
            </a:avLst>
          </a:prstGeom>
          <a:solidFill>
            <a:srgbClr val="EFF6FF"/>
          </a:solidFill>
          <a:ln w="7620">
            <a:solidFill>
              <a:srgbClr val="D9E2E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04088" y="1216152"/>
            <a:ext cx="109728" cy="109728"/>
          </a:xfrm>
          <a:prstGeom prst="ellipse">
            <a:avLst/>
          </a:prstGeom>
          <a:solidFill>
            <a:srgbClr val="F87171"/>
          </a:solidFill>
          <a:ln w="6350">
            <a:solidFill>
              <a:srgbClr val="F8717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86968" y="1216152"/>
            <a:ext cx="109728" cy="109728"/>
          </a:xfrm>
          <a:prstGeom prst="ellipse">
            <a:avLst/>
          </a:prstGeom>
          <a:solidFill>
            <a:srgbClr val="FBBF24"/>
          </a:solidFill>
          <a:ln w="6350">
            <a:solidFill>
              <a:srgbClr val="FBBF2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69848" y="1216152"/>
            <a:ext cx="109728" cy="109728"/>
          </a:xfrm>
          <a:prstGeom prst="ellipse">
            <a:avLst/>
          </a:prstGeom>
          <a:solidFill>
            <a:srgbClr val="34D399"/>
          </a:solidFill>
          <a:ln w="6350">
            <a:solidFill>
              <a:srgbClr val="34D39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344168" y="1170432"/>
            <a:ext cx="10104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评审管理 / 样车驾驶室评审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502920" y="1490472"/>
            <a:ext cx="1417320" cy="5184648"/>
          </a:xfrm>
          <a:prstGeom prst="rect">
            <a:avLst>
              <a:gd name="adj" fmla="val 5161"/>
            </a:avLst>
          </a:prstGeom>
          <a:solidFill>
            <a:srgbClr val="0F172A"/>
          </a:solidFill>
          <a:ln w="7620">
            <a:solidFill>
              <a:srgbClr val="0F172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67512" y="1673352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颜色开发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67512" y="1929384"/>
            <a:ext cx="1143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60" dirty="0">
                <a:solidFill>
                  <a:srgbClr val="CBD5E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项目管理系统</a:t>
            </a:r>
            <a:endParaRPr lang="en-US" sz="760" dirty="0"/>
          </a:p>
        </p:txBody>
      </p:sp>
      <p:sp>
        <p:nvSpPr>
          <p:cNvPr id="14" name="Shape 12"/>
          <p:cNvSpPr/>
          <p:nvPr/>
        </p:nvSpPr>
        <p:spPr>
          <a:xfrm>
            <a:off x="621792" y="2386584"/>
            <a:ext cx="1179576" cy="301752"/>
          </a:xfrm>
          <a:prstGeom prst="roundRect">
            <a:avLst>
              <a:gd name="adj" fmla="val 24242"/>
            </a:avLst>
          </a:prstGeom>
          <a:solidFill>
            <a:srgbClr val="0F172A"/>
          </a:solidFill>
          <a:ln w="7620">
            <a:solidFill>
              <a:srgbClr val="0F172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58952" y="2450592"/>
            <a:ext cx="10058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CBD5E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工作台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621792" y="2807208"/>
            <a:ext cx="1179576" cy="301752"/>
          </a:xfrm>
          <a:prstGeom prst="roundRect">
            <a:avLst>
              <a:gd name="adj" fmla="val 24242"/>
            </a:avLst>
          </a:prstGeom>
          <a:solidFill>
            <a:srgbClr val="0F172A"/>
          </a:solidFill>
          <a:ln w="7620">
            <a:solidFill>
              <a:srgbClr val="0F172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58952" y="2871216"/>
            <a:ext cx="10058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CBD5E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项目管理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621792" y="3227832"/>
            <a:ext cx="1179576" cy="301752"/>
          </a:xfrm>
          <a:prstGeom prst="roundRect">
            <a:avLst>
              <a:gd name="adj" fmla="val 24242"/>
            </a:avLst>
          </a:prstGeom>
          <a:solidFill>
            <a:srgbClr val="2563EB"/>
          </a:solidFill>
          <a:ln w="7620">
            <a:solidFill>
              <a:srgbClr val="2563E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58952" y="3291840"/>
            <a:ext cx="10058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工序管理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621792" y="3648456"/>
            <a:ext cx="1179576" cy="301752"/>
          </a:xfrm>
          <a:prstGeom prst="roundRect">
            <a:avLst>
              <a:gd name="adj" fmla="val 24242"/>
            </a:avLst>
          </a:prstGeom>
          <a:solidFill>
            <a:srgbClr val="0F172A"/>
          </a:solidFill>
          <a:ln w="7620">
            <a:solidFill>
              <a:srgbClr val="0F172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58952" y="3712464"/>
            <a:ext cx="10058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CBD5E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材料中心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621792" y="4069080"/>
            <a:ext cx="1179576" cy="301752"/>
          </a:xfrm>
          <a:prstGeom prst="roundRect">
            <a:avLst>
              <a:gd name="adj" fmla="val 24242"/>
            </a:avLst>
          </a:prstGeom>
          <a:solidFill>
            <a:srgbClr val="0F172A"/>
          </a:solidFill>
          <a:ln w="7620">
            <a:solidFill>
              <a:srgbClr val="0F172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58952" y="4133088"/>
            <a:ext cx="10058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CBD5E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月度评审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621792" y="4489704"/>
            <a:ext cx="1179576" cy="301752"/>
          </a:xfrm>
          <a:prstGeom prst="roundRect">
            <a:avLst>
              <a:gd name="adj" fmla="val 24242"/>
            </a:avLst>
          </a:prstGeom>
          <a:solidFill>
            <a:srgbClr val="0F172A"/>
          </a:solidFill>
          <a:ln w="7620">
            <a:solidFill>
              <a:srgbClr val="0F172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58952" y="4553712"/>
            <a:ext cx="10058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CBD5E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数据中心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621792" y="4910328"/>
            <a:ext cx="1179576" cy="301752"/>
          </a:xfrm>
          <a:prstGeom prst="roundRect">
            <a:avLst>
              <a:gd name="adj" fmla="val 24242"/>
            </a:avLst>
          </a:prstGeom>
          <a:solidFill>
            <a:srgbClr val="0F172A"/>
          </a:solidFill>
          <a:ln w="7620">
            <a:solidFill>
              <a:srgbClr val="0F172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58952" y="4974336"/>
            <a:ext cx="10058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CBD5E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系统设置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1920240" y="1490472"/>
            <a:ext cx="9784080" cy="512064"/>
          </a:xfrm>
          <a:prstGeom prst="rect">
            <a:avLst>
              <a:gd name="adj" fmla="val 14286"/>
            </a:avLst>
          </a:prstGeom>
          <a:solidFill>
            <a:srgbClr val="FFFFFF"/>
          </a:solidFill>
          <a:ln w="7620">
            <a:solidFill>
              <a:srgbClr val="D9E2E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212848" y="1645920"/>
            <a:ext cx="1920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20" dirty="0">
                <a:solidFill>
                  <a:srgbClr val="94A3B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搜索项目 / 颜色 / 负责人</a:t>
            </a:r>
            <a:endParaRPr lang="en-US" sz="720" dirty="0"/>
          </a:p>
        </p:txBody>
      </p:sp>
      <p:sp>
        <p:nvSpPr>
          <p:cNvPr id="30" name="Shape 28"/>
          <p:cNvSpPr/>
          <p:nvPr/>
        </p:nvSpPr>
        <p:spPr>
          <a:xfrm>
            <a:off x="9784080" y="1600200"/>
            <a:ext cx="685800" cy="274320"/>
          </a:xfrm>
          <a:prstGeom prst="roundRect">
            <a:avLst>
              <a:gd name="adj" fmla="val 26667"/>
            </a:avLst>
          </a:prstGeom>
          <a:solidFill>
            <a:srgbClr val="DBEAFE"/>
          </a:solidFill>
          <a:ln w="7620">
            <a:solidFill>
              <a:srgbClr val="DBEAFE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9838944" y="1655064"/>
            <a:ext cx="57607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60" b="1" dirty="0">
                <a:solidFill>
                  <a:srgbClr val="2563E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立即刷新</a:t>
            </a:r>
            <a:endParaRPr lang="en-US" sz="660" dirty="0"/>
          </a:p>
        </p:txBody>
      </p:sp>
      <p:sp>
        <p:nvSpPr>
          <p:cNvPr id="32" name="Text 30"/>
          <p:cNvSpPr/>
          <p:nvPr/>
        </p:nvSpPr>
        <p:spPr>
          <a:xfrm>
            <a:off x="10561320" y="1645920"/>
            <a:ext cx="9601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80" dirty="0">
                <a:solidFill>
                  <a:srgbClr val="64748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最近更新 14:32</a:t>
            </a:r>
            <a:endParaRPr lang="en-US" sz="680" dirty="0"/>
          </a:p>
        </p:txBody>
      </p:sp>
      <p:sp>
        <p:nvSpPr>
          <p:cNvPr id="33" name="Text 31"/>
          <p:cNvSpPr/>
          <p:nvPr/>
        </p:nvSpPr>
        <p:spPr>
          <a:xfrm>
            <a:off x="2148840" y="214884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样车驾驶室评审</a:t>
            </a:r>
            <a:endParaRPr lang="en-US" sz="1400" dirty="0"/>
          </a:p>
        </p:txBody>
      </p:sp>
      <p:sp>
        <p:nvSpPr>
          <p:cNvPr id="34" name="Shape 32"/>
          <p:cNvSpPr/>
          <p:nvPr/>
        </p:nvSpPr>
        <p:spPr>
          <a:xfrm>
            <a:off x="4206240" y="2176272"/>
            <a:ext cx="512064" cy="201168"/>
          </a:xfrm>
          <a:prstGeom prst="roundRect">
            <a:avLst>
              <a:gd name="adj" fmla="val 54545"/>
            </a:avLst>
          </a:prstGeom>
          <a:solidFill>
            <a:srgbClr val="FEF3C7"/>
          </a:solidFill>
          <a:ln w="7620">
            <a:solidFill>
              <a:srgbClr val="FEF3C7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206240" y="2180844"/>
            <a:ext cx="5120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40" b="1" dirty="0">
                <a:solidFill>
                  <a:srgbClr val="F59E0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第12步</a:t>
            </a:r>
            <a:endParaRPr lang="en-US" sz="640" dirty="0"/>
          </a:p>
        </p:txBody>
      </p:sp>
      <p:sp>
        <p:nvSpPr>
          <p:cNvPr id="36" name="Shape 34"/>
          <p:cNvSpPr/>
          <p:nvPr/>
        </p:nvSpPr>
        <p:spPr>
          <a:xfrm>
            <a:off x="2148840" y="2651760"/>
            <a:ext cx="3108960" cy="3977640"/>
          </a:xfrm>
          <a:prstGeom prst="roundRect">
            <a:avLst>
              <a:gd name="adj" fmla="val 4118"/>
            </a:avLst>
          </a:prstGeom>
          <a:solidFill>
            <a:srgbClr val="FFFFFF"/>
          </a:solidFill>
          <a:ln w="7620">
            <a:solidFill>
              <a:srgbClr val="D9E2EC"/>
            </a:solidFill>
            <a:prstDash val="solid"/>
          </a:ln>
          <a:effectLst>
            <a:outerShdw sx="100000" sy="100000" kx="0" ky="0" algn="bl" rotWithShape="0" blurRad="7.385734942305998e+180" dist="1.4771469884611996e+181" dir="7.795922815053669e+211">
              <a:srgbClr val="CBD5E1">
                <a:alpha val="1.1999999999999994e+219"/>
              </a:srgbClr>
            </a:outerShdw>
          </a:effectLst>
        </p:spPr>
      </p:sp>
      <p:sp>
        <p:nvSpPr>
          <p:cNvPr id="37" name="Text 35"/>
          <p:cNvSpPr/>
          <p:nvPr/>
        </p:nvSpPr>
        <p:spPr>
          <a:xfrm>
            <a:off x="2377440" y="2953512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评审结论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2377440" y="3291840"/>
            <a:ext cx="685800" cy="292608"/>
          </a:xfrm>
          <a:prstGeom prst="roundRect">
            <a:avLst>
              <a:gd name="adj" fmla="val 37500"/>
            </a:avLst>
          </a:prstGeom>
          <a:solidFill>
            <a:srgbClr val="10B981"/>
          </a:solidFill>
          <a:ln w="7620">
            <a:solidFill>
              <a:srgbClr val="10B981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377440" y="3296412"/>
            <a:ext cx="685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通过</a:t>
            </a:r>
            <a:endParaRPr lang="en-US" sz="780" dirty="0"/>
          </a:p>
        </p:txBody>
      </p:sp>
      <p:sp>
        <p:nvSpPr>
          <p:cNvPr id="40" name="Shape 38"/>
          <p:cNvSpPr/>
          <p:nvPr/>
        </p:nvSpPr>
        <p:spPr>
          <a:xfrm>
            <a:off x="3200400" y="3291840"/>
            <a:ext cx="1005840" cy="292608"/>
          </a:xfrm>
          <a:prstGeom prst="roundRect">
            <a:avLst>
              <a:gd name="adj" fmla="val 37500"/>
            </a:avLst>
          </a:prstGeom>
          <a:solidFill>
            <a:srgbClr val="EDE9FE"/>
          </a:solidFill>
          <a:ln w="7620">
            <a:solidFill>
              <a:srgbClr val="EDE9FE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200400" y="3296412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8B5CF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不通过 / 退回</a:t>
            </a:r>
            <a:endParaRPr lang="en-US" sz="740" dirty="0"/>
          </a:p>
        </p:txBody>
      </p:sp>
      <p:sp>
        <p:nvSpPr>
          <p:cNvPr id="42" name="Text 40"/>
          <p:cNvSpPr/>
          <p:nvPr/>
        </p:nvSpPr>
        <p:spPr>
          <a:xfrm>
            <a:off x="2377440" y="3721608"/>
            <a:ext cx="12801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70" dirty="0">
                <a:solidFill>
                  <a:srgbClr val="64748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评审日期</a:t>
            </a:r>
            <a:endParaRPr lang="en-US" sz="670" dirty="0"/>
          </a:p>
        </p:txBody>
      </p:sp>
      <p:sp>
        <p:nvSpPr>
          <p:cNvPr id="43" name="Shape 41"/>
          <p:cNvSpPr/>
          <p:nvPr/>
        </p:nvSpPr>
        <p:spPr>
          <a:xfrm>
            <a:off x="2377440" y="3886200"/>
            <a:ext cx="2514600" cy="228600"/>
          </a:xfrm>
          <a:prstGeom prst="roundRect">
            <a:avLst>
              <a:gd name="adj" fmla="val 24000"/>
            </a:avLst>
          </a:prstGeom>
          <a:solidFill>
            <a:srgbClr val="F8FAFC"/>
          </a:solidFill>
          <a:ln w="7620">
            <a:solidFill>
              <a:srgbClr val="D9E2EC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2377440" y="4151376"/>
            <a:ext cx="12801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70" dirty="0">
                <a:solidFill>
                  <a:srgbClr val="64748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评审通过时间（人工录入）</a:t>
            </a:r>
            <a:endParaRPr lang="en-US" sz="670" dirty="0"/>
          </a:p>
        </p:txBody>
      </p:sp>
      <p:sp>
        <p:nvSpPr>
          <p:cNvPr id="45" name="Shape 43"/>
          <p:cNvSpPr/>
          <p:nvPr/>
        </p:nvSpPr>
        <p:spPr>
          <a:xfrm>
            <a:off x="2377440" y="4315968"/>
            <a:ext cx="2514600" cy="228600"/>
          </a:xfrm>
          <a:prstGeom prst="roundRect">
            <a:avLst>
              <a:gd name="adj" fmla="val 24000"/>
            </a:avLst>
          </a:prstGeom>
          <a:solidFill>
            <a:srgbClr val="F8FAFC"/>
          </a:solidFill>
          <a:ln w="7620">
            <a:solidFill>
              <a:srgbClr val="D9E2EC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2377440" y="4581144"/>
            <a:ext cx="12801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70" dirty="0">
                <a:solidFill>
                  <a:srgbClr val="64748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不合格项清单</a:t>
            </a:r>
            <a:endParaRPr lang="en-US" sz="670" dirty="0"/>
          </a:p>
        </p:txBody>
      </p:sp>
      <p:sp>
        <p:nvSpPr>
          <p:cNvPr id="47" name="Shape 45"/>
          <p:cNvSpPr/>
          <p:nvPr/>
        </p:nvSpPr>
        <p:spPr>
          <a:xfrm>
            <a:off x="2377440" y="4745736"/>
            <a:ext cx="2514600" cy="228600"/>
          </a:xfrm>
          <a:prstGeom prst="roundRect">
            <a:avLst>
              <a:gd name="adj" fmla="val 24000"/>
            </a:avLst>
          </a:prstGeom>
          <a:solidFill>
            <a:srgbClr val="F8FAFC"/>
          </a:solidFill>
          <a:ln w="7620">
            <a:solidFill>
              <a:srgbClr val="D9E2EC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2377440" y="5010912"/>
            <a:ext cx="12801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70" dirty="0">
                <a:solidFill>
                  <a:srgbClr val="64748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整改要求</a:t>
            </a:r>
            <a:endParaRPr lang="en-US" sz="670" dirty="0"/>
          </a:p>
        </p:txBody>
      </p:sp>
      <p:sp>
        <p:nvSpPr>
          <p:cNvPr id="49" name="Shape 47"/>
          <p:cNvSpPr/>
          <p:nvPr/>
        </p:nvSpPr>
        <p:spPr>
          <a:xfrm>
            <a:off x="2377440" y="5175504"/>
            <a:ext cx="2514600" cy="228600"/>
          </a:xfrm>
          <a:prstGeom prst="roundRect">
            <a:avLst>
              <a:gd name="adj" fmla="val 24000"/>
            </a:avLst>
          </a:prstGeom>
          <a:solidFill>
            <a:srgbClr val="F8FAFC"/>
          </a:solidFill>
          <a:ln w="7620">
            <a:solidFill>
              <a:srgbClr val="D9E2EC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2377440" y="5440680"/>
            <a:ext cx="12801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70" dirty="0">
                <a:solidFill>
                  <a:srgbClr val="64748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整改责任人</a:t>
            </a:r>
            <a:endParaRPr lang="en-US" sz="670" dirty="0"/>
          </a:p>
        </p:txBody>
      </p:sp>
      <p:sp>
        <p:nvSpPr>
          <p:cNvPr id="51" name="Shape 49"/>
          <p:cNvSpPr/>
          <p:nvPr/>
        </p:nvSpPr>
        <p:spPr>
          <a:xfrm>
            <a:off x="2377440" y="5605272"/>
            <a:ext cx="2514600" cy="228600"/>
          </a:xfrm>
          <a:prstGeom prst="roundRect">
            <a:avLst>
              <a:gd name="adj" fmla="val 24000"/>
            </a:avLst>
          </a:prstGeom>
          <a:solidFill>
            <a:srgbClr val="F8FAFC"/>
          </a:solidFill>
          <a:ln w="7620">
            <a:solidFill>
              <a:srgbClr val="D9E2EC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2377440" y="6400800"/>
            <a:ext cx="914400" cy="237744"/>
          </a:xfrm>
          <a:prstGeom prst="roundRect">
            <a:avLst>
              <a:gd name="adj" fmla="val 46154"/>
            </a:avLst>
          </a:prstGeom>
          <a:solidFill>
            <a:srgbClr val="F8FAFC"/>
          </a:solidFill>
          <a:ln w="7620">
            <a:solidFill>
              <a:srgbClr val="F8FAFC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2377440" y="6405372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40" b="1" dirty="0">
                <a:solidFill>
                  <a:srgbClr val="64748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保存评审草稿</a:t>
            </a:r>
            <a:endParaRPr lang="en-US" sz="640" dirty="0"/>
          </a:p>
        </p:txBody>
      </p:sp>
      <p:sp>
        <p:nvSpPr>
          <p:cNvPr id="54" name="Shape 52"/>
          <p:cNvSpPr/>
          <p:nvPr/>
        </p:nvSpPr>
        <p:spPr>
          <a:xfrm>
            <a:off x="3429000" y="6400800"/>
            <a:ext cx="1005840" cy="237744"/>
          </a:xfrm>
          <a:prstGeom prst="roundRect">
            <a:avLst>
              <a:gd name="adj" fmla="val 46154"/>
            </a:avLst>
          </a:prstGeom>
          <a:solidFill>
            <a:srgbClr val="2563EB"/>
          </a:solidFill>
          <a:ln w="7620">
            <a:solidFill>
              <a:srgbClr val="2563EB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3429000" y="6405372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4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提交评审结论</a:t>
            </a:r>
            <a:endParaRPr lang="en-US" sz="640" dirty="0"/>
          </a:p>
        </p:txBody>
      </p:sp>
      <p:sp>
        <p:nvSpPr>
          <p:cNvPr id="56" name="Shape 54"/>
          <p:cNvSpPr/>
          <p:nvPr/>
        </p:nvSpPr>
        <p:spPr>
          <a:xfrm>
            <a:off x="5532120" y="2651760"/>
            <a:ext cx="3017520" cy="3977640"/>
          </a:xfrm>
          <a:prstGeom prst="roundRect">
            <a:avLst>
              <a:gd name="adj" fmla="val 4242"/>
            </a:avLst>
          </a:prstGeom>
          <a:solidFill>
            <a:srgbClr val="FFFFFF"/>
          </a:solidFill>
          <a:ln w="7620">
            <a:solidFill>
              <a:srgbClr val="D9E2EC"/>
            </a:solidFill>
            <a:prstDash val="solid"/>
          </a:ln>
          <a:effectLst>
            <a:outerShdw sx="100000" sy="100000" kx="0" ky="0" algn="bl" rotWithShape="0" blurRad="9.379883376728618e+184" dist="1.8759766753457235e+185" dir="4.677553689032201e+216">
              <a:srgbClr val="CBD5E1">
                <a:alpha val="1.1999999999999994e+224"/>
              </a:srgbClr>
            </a:outerShdw>
          </a:effectLst>
        </p:spPr>
      </p:sp>
      <p:sp>
        <p:nvSpPr>
          <p:cNvPr id="57" name="Text 55"/>
          <p:cNvSpPr/>
          <p:nvPr/>
        </p:nvSpPr>
        <p:spPr>
          <a:xfrm>
            <a:off x="5760720" y="2953512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轮次历史</a:t>
            </a:r>
            <a:endParaRPr lang="en-US" sz="1100" dirty="0"/>
          </a:p>
        </p:txBody>
      </p:sp>
      <p:sp>
        <p:nvSpPr>
          <p:cNvPr id="58" name="Shape 56"/>
          <p:cNvSpPr/>
          <p:nvPr/>
        </p:nvSpPr>
        <p:spPr>
          <a:xfrm>
            <a:off x="5806440" y="3291840"/>
            <a:ext cx="137160" cy="137160"/>
          </a:xfrm>
          <a:prstGeom prst="ellipse">
            <a:avLst/>
          </a:prstGeom>
          <a:solidFill>
            <a:srgbClr val="10B981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6035040" y="3264408"/>
            <a:ext cx="123444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80" dirty="0">
                <a:solidFill>
                  <a:srgbClr val="0F172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第1轮 样车试制</a:t>
            </a:r>
            <a:endParaRPr lang="en-US" sz="680" dirty="0"/>
          </a:p>
        </p:txBody>
      </p:sp>
      <p:sp>
        <p:nvSpPr>
          <p:cNvPr id="60" name="Text 58"/>
          <p:cNvSpPr/>
          <p:nvPr/>
        </p:nvSpPr>
        <p:spPr>
          <a:xfrm>
            <a:off x="7132320" y="3264408"/>
            <a:ext cx="86868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40" dirty="0">
                <a:solidFill>
                  <a:srgbClr val="64748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已完成</a:t>
            </a:r>
            <a:endParaRPr lang="en-US" sz="640" dirty="0"/>
          </a:p>
        </p:txBody>
      </p:sp>
      <p:sp>
        <p:nvSpPr>
          <p:cNvPr id="61" name="Text 59"/>
          <p:cNvSpPr/>
          <p:nvPr/>
        </p:nvSpPr>
        <p:spPr>
          <a:xfrm>
            <a:off x="7818120" y="3264408"/>
            <a:ext cx="41148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20" dirty="0">
                <a:solidFill>
                  <a:srgbClr val="64748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10/14</a:t>
            </a:r>
            <a:endParaRPr lang="en-US" sz="620" dirty="0"/>
          </a:p>
        </p:txBody>
      </p:sp>
      <p:sp>
        <p:nvSpPr>
          <p:cNvPr id="62" name="Shape 60"/>
          <p:cNvSpPr/>
          <p:nvPr/>
        </p:nvSpPr>
        <p:spPr>
          <a:xfrm>
            <a:off x="5806440" y="3785616"/>
            <a:ext cx="137160" cy="137160"/>
          </a:xfrm>
          <a:prstGeom prst="ellipse">
            <a:avLst/>
          </a:prstGeom>
          <a:solidFill>
            <a:srgbClr val="8B5CF6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6035040" y="3758184"/>
            <a:ext cx="123444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80" b="1" dirty="0">
                <a:solidFill>
                  <a:srgbClr val="0F172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第1轮 样车评审</a:t>
            </a:r>
            <a:endParaRPr lang="en-US" sz="680" dirty="0"/>
          </a:p>
        </p:txBody>
      </p:sp>
      <p:sp>
        <p:nvSpPr>
          <p:cNvPr id="64" name="Text 62"/>
          <p:cNvSpPr/>
          <p:nvPr/>
        </p:nvSpPr>
        <p:spPr>
          <a:xfrm>
            <a:off x="7132320" y="3758184"/>
            <a:ext cx="86868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40" dirty="0">
                <a:solidFill>
                  <a:srgbClr val="8B5CF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不通过</a:t>
            </a:r>
            <a:endParaRPr lang="en-US" sz="640" dirty="0"/>
          </a:p>
        </p:txBody>
      </p:sp>
      <p:sp>
        <p:nvSpPr>
          <p:cNvPr id="65" name="Text 63"/>
          <p:cNvSpPr/>
          <p:nvPr/>
        </p:nvSpPr>
        <p:spPr>
          <a:xfrm>
            <a:off x="7818120" y="3758184"/>
            <a:ext cx="41148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20" dirty="0">
                <a:solidFill>
                  <a:srgbClr val="64748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10/16</a:t>
            </a:r>
            <a:endParaRPr lang="en-US" sz="620" dirty="0"/>
          </a:p>
        </p:txBody>
      </p:sp>
      <p:sp>
        <p:nvSpPr>
          <p:cNvPr id="66" name="Shape 64"/>
          <p:cNvSpPr/>
          <p:nvPr/>
        </p:nvSpPr>
        <p:spPr>
          <a:xfrm>
            <a:off x="5806440" y="4279392"/>
            <a:ext cx="137160" cy="137160"/>
          </a:xfrm>
          <a:prstGeom prst="ellipse">
            <a:avLst/>
          </a:prstGeom>
          <a:solidFill>
            <a:srgbClr val="10B981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6035040" y="4251960"/>
            <a:ext cx="123444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80" dirty="0">
                <a:solidFill>
                  <a:srgbClr val="0F172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退回原因</a:t>
            </a:r>
            <a:endParaRPr lang="en-US" sz="680" dirty="0"/>
          </a:p>
        </p:txBody>
      </p:sp>
      <p:sp>
        <p:nvSpPr>
          <p:cNvPr id="68" name="Text 66"/>
          <p:cNvSpPr/>
          <p:nvPr/>
        </p:nvSpPr>
        <p:spPr>
          <a:xfrm>
            <a:off x="7132320" y="4251960"/>
            <a:ext cx="86868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40" dirty="0">
                <a:solidFill>
                  <a:srgbClr val="64748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驾驶室颜色一致性偏差</a:t>
            </a:r>
            <a:endParaRPr lang="en-US" sz="640" dirty="0"/>
          </a:p>
        </p:txBody>
      </p:sp>
      <p:sp>
        <p:nvSpPr>
          <p:cNvPr id="69" name="Text 67"/>
          <p:cNvSpPr/>
          <p:nvPr/>
        </p:nvSpPr>
        <p:spPr>
          <a:xfrm>
            <a:off x="7818120" y="4251960"/>
            <a:ext cx="41148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20" dirty="0">
                <a:solidFill>
                  <a:srgbClr val="64748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—</a:t>
            </a:r>
            <a:endParaRPr lang="en-US" sz="620" dirty="0"/>
          </a:p>
        </p:txBody>
      </p:sp>
      <p:sp>
        <p:nvSpPr>
          <p:cNvPr id="70" name="Shape 68"/>
          <p:cNvSpPr/>
          <p:nvPr/>
        </p:nvSpPr>
        <p:spPr>
          <a:xfrm>
            <a:off x="5806440" y="4773168"/>
            <a:ext cx="137160" cy="137160"/>
          </a:xfrm>
          <a:prstGeom prst="ellipse">
            <a:avLst/>
          </a:prstGeom>
          <a:solidFill>
            <a:srgbClr val="2563EB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6035040" y="4745736"/>
            <a:ext cx="123444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80" b="1" dirty="0">
                <a:solidFill>
                  <a:srgbClr val="0F172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第2轮 样车试制</a:t>
            </a:r>
            <a:endParaRPr lang="en-US" sz="680" dirty="0"/>
          </a:p>
        </p:txBody>
      </p:sp>
      <p:sp>
        <p:nvSpPr>
          <p:cNvPr id="72" name="Text 70"/>
          <p:cNvSpPr/>
          <p:nvPr/>
        </p:nvSpPr>
        <p:spPr>
          <a:xfrm>
            <a:off x="7132320" y="4745736"/>
            <a:ext cx="86868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40" dirty="0">
                <a:solidFill>
                  <a:srgbClr val="64748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进行中</a:t>
            </a:r>
            <a:endParaRPr lang="en-US" sz="640" dirty="0"/>
          </a:p>
        </p:txBody>
      </p:sp>
      <p:sp>
        <p:nvSpPr>
          <p:cNvPr id="73" name="Text 71"/>
          <p:cNvSpPr/>
          <p:nvPr/>
        </p:nvSpPr>
        <p:spPr>
          <a:xfrm>
            <a:off x="7818120" y="4745736"/>
            <a:ext cx="41148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20" dirty="0">
                <a:solidFill>
                  <a:srgbClr val="64748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10/17</a:t>
            </a:r>
            <a:endParaRPr lang="en-US" sz="620" dirty="0"/>
          </a:p>
        </p:txBody>
      </p:sp>
      <p:sp>
        <p:nvSpPr>
          <p:cNvPr id="74" name="Shape 72"/>
          <p:cNvSpPr/>
          <p:nvPr/>
        </p:nvSpPr>
        <p:spPr>
          <a:xfrm>
            <a:off x="5806440" y="5266944"/>
            <a:ext cx="137160" cy="137160"/>
          </a:xfrm>
          <a:prstGeom prst="ellipse">
            <a:avLst/>
          </a:prstGeom>
          <a:solidFill>
            <a:srgbClr val="F59E0B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6035040" y="5239512"/>
            <a:ext cx="123444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80" dirty="0">
                <a:solidFill>
                  <a:srgbClr val="0F172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第2轮 样车评审</a:t>
            </a:r>
            <a:endParaRPr lang="en-US" sz="680" dirty="0"/>
          </a:p>
        </p:txBody>
      </p:sp>
      <p:sp>
        <p:nvSpPr>
          <p:cNvPr id="76" name="Text 74"/>
          <p:cNvSpPr/>
          <p:nvPr/>
        </p:nvSpPr>
        <p:spPr>
          <a:xfrm>
            <a:off x="7132320" y="5239512"/>
            <a:ext cx="86868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40" dirty="0">
                <a:solidFill>
                  <a:srgbClr val="64748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待评审</a:t>
            </a:r>
            <a:endParaRPr lang="en-US" sz="640" dirty="0"/>
          </a:p>
        </p:txBody>
      </p:sp>
      <p:sp>
        <p:nvSpPr>
          <p:cNvPr id="77" name="Text 75"/>
          <p:cNvSpPr/>
          <p:nvPr/>
        </p:nvSpPr>
        <p:spPr>
          <a:xfrm>
            <a:off x="7818120" y="5239512"/>
            <a:ext cx="41148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20" dirty="0">
                <a:solidFill>
                  <a:srgbClr val="64748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—</a:t>
            </a:r>
            <a:endParaRPr lang="en-US" sz="620" dirty="0"/>
          </a:p>
        </p:txBody>
      </p:sp>
      <p:sp>
        <p:nvSpPr>
          <p:cNvPr id="78" name="Shape 76"/>
          <p:cNvSpPr/>
          <p:nvPr/>
        </p:nvSpPr>
        <p:spPr>
          <a:xfrm>
            <a:off x="8778240" y="2651760"/>
            <a:ext cx="2286000" cy="3977640"/>
          </a:xfrm>
          <a:prstGeom prst="roundRect">
            <a:avLst>
              <a:gd name="adj" fmla="val 5600"/>
            </a:avLst>
          </a:prstGeom>
          <a:solidFill>
            <a:srgbClr val="FFFFFF"/>
          </a:solidFill>
          <a:ln w="7620">
            <a:solidFill>
              <a:srgbClr val="D9E2EC"/>
            </a:solidFill>
            <a:prstDash val="solid"/>
          </a:ln>
          <a:effectLst>
            <a:outerShdw sx="100000" sy="100000" kx="0" ky="0" algn="bl" rotWithShape="0" blurRad="1.1912451888445345e+189" dist="2.382490377689069e+189" dir="2.806532213419321e+221">
              <a:srgbClr val="CBD5E1">
                <a:alpha val="1.1999999999999994e+229"/>
              </a:srgbClr>
            </a:outerShdw>
          </a:effectLst>
        </p:spPr>
      </p:sp>
      <p:sp>
        <p:nvSpPr>
          <p:cNvPr id="79" name="Text 77"/>
          <p:cNvSpPr/>
          <p:nvPr/>
        </p:nvSpPr>
        <p:spPr>
          <a:xfrm>
            <a:off x="9006840" y="2953512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评审材料</a:t>
            </a:r>
            <a:endParaRPr lang="en-US" sz="1100" dirty="0"/>
          </a:p>
        </p:txBody>
      </p:sp>
      <p:sp>
        <p:nvSpPr>
          <p:cNvPr id="80" name="Shape 78"/>
          <p:cNvSpPr/>
          <p:nvPr/>
        </p:nvSpPr>
        <p:spPr>
          <a:xfrm>
            <a:off x="9006840" y="3392424"/>
            <a:ext cx="64008" cy="64008"/>
          </a:xfrm>
          <a:prstGeom prst="ellipse">
            <a:avLst/>
          </a:prstGeom>
          <a:solidFill>
            <a:srgbClr val="F59E0B"/>
          </a:solidFill>
          <a:ln w="6350">
            <a:solidFill>
              <a:srgbClr val="F59E0B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9153144" y="3337560"/>
            <a:ext cx="16824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0F172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评审报告（必传）</a:t>
            </a:r>
            <a:endParaRPr lang="en-US" sz="700" dirty="0"/>
          </a:p>
        </p:txBody>
      </p:sp>
      <p:sp>
        <p:nvSpPr>
          <p:cNvPr id="82" name="Shape 80"/>
          <p:cNvSpPr/>
          <p:nvPr/>
        </p:nvSpPr>
        <p:spPr>
          <a:xfrm>
            <a:off x="9006840" y="3712464"/>
            <a:ext cx="64008" cy="64008"/>
          </a:xfrm>
          <a:prstGeom prst="ellipse">
            <a:avLst/>
          </a:prstGeom>
          <a:solidFill>
            <a:srgbClr val="F59E0B"/>
          </a:solidFill>
          <a:ln w="6350">
            <a:solidFill>
              <a:srgbClr val="F59E0B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9153144" y="3657600"/>
            <a:ext cx="16824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0F172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样车照片（必传）</a:t>
            </a:r>
            <a:endParaRPr lang="en-US" sz="700" dirty="0"/>
          </a:p>
        </p:txBody>
      </p:sp>
      <p:sp>
        <p:nvSpPr>
          <p:cNvPr id="84" name="Shape 82"/>
          <p:cNvSpPr/>
          <p:nvPr/>
        </p:nvSpPr>
        <p:spPr>
          <a:xfrm>
            <a:off x="9006840" y="4032504"/>
            <a:ext cx="64008" cy="64008"/>
          </a:xfrm>
          <a:prstGeom prst="ellipse">
            <a:avLst/>
          </a:prstGeom>
          <a:solidFill>
            <a:srgbClr val="F59E0B"/>
          </a:solidFill>
          <a:ln w="6350">
            <a:solidFill>
              <a:srgbClr val="F59E0B"/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9153144" y="3977640"/>
            <a:ext cx="16824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0F172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颜色偏差说明</a:t>
            </a:r>
            <a:endParaRPr lang="en-US" sz="700" dirty="0"/>
          </a:p>
        </p:txBody>
      </p:sp>
      <p:sp>
        <p:nvSpPr>
          <p:cNvPr id="86" name="Shape 84"/>
          <p:cNvSpPr/>
          <p:nvPr/>
        </p:nvSpPr>
        <p:spPr>
          <a:xfrm>
            <a:off x="9006840" y="4352544"/>
            <a:ext cx="64008" cy="64008"/>
          </a:xfrm>
          <a:prstGeom prst="ellipse">
            <a:avLst/>
          </a:prstGeom>
          <a:solidFill>
            <a:srgbClr val="F59E0B"/>
          </a:solidFill>
          <a:ln w="6350">
            <a:solidFill>
              <a:srgbClr val="F59E0B"/>
            </a:solidFill>
            <a:prstDash val="solid"/>
          </a:ln>
        </p:spPr>
      </p:sp>
      <p:sp>
        <p:nvSpPr>
          <p:cNvPr id="87" name="Text 85"/>
          <p:cNvSpPr/>
          <p:nvPr/>
        </p:nvSpPr>
        <p:spPr>
          <a:xfrm>
            <a:off x="9153144" y="4297680"/>
            <a:ext cx="16824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0F172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整改方案</a:t>
            </a:r>
            <a:endParaRPr lang="en-US" sz="700" dirty="0"/>
          </a:p>
        </p:txBody>
      </p:sp>
      <p:sp>
        <p:nvSpPr>
          <p:cNvPr id="88" name="Shape 86"/>
          <p:cNvSpPr/>
          <p:nvPr/>
        </p:nvSpPr>
        <p:spPr>
          <a:xfrm>
            <a:off x="9006840" y="4892040"/>
            <a:ext cx="1783080" cy="640080"/>
          </a:xfrm>
          <a:prstGeom prst="roundRect">
            <a:avLst>
              <a:gd name="adj" fmla="val 14286"/>
            </a:avLst>
          </a:prstGeom>
          <a:solidFill>
            <a:srgbClr val="F8FAFC"/>
          </a:solidFill>
          <a:ln w="7620">
            <a:solidFill>
              <a:srgbClr val="D9E2EC"/>
            </a:solidFill>
            <a:prstDash val="solid"/>
          </a:ln>
        </p:spPr>
      </p:sp>
      <p:sp>
        <p:nvSpPr>
          <p:cNvPr id="89" name="Text 87"/>
          <p:cNvSpPr/>
          <p:nvPr/>
        </p:nvSpPr>
        <p:spPr>
          <a:xfrm>
            <a:off x="9235440" y="5120640"/>
            <a:ext cx="132588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80" dirty="0">
                <a:solidFill>
                  <a:srgbClr val="64748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拖拽上传评审附件</a:t>
            </a:r>
            <a:endParaRPr lang="en-US" sz="680" dirty="0"/>
          </a:p>
        </p:txBody>
      </p:sp>
      <p:sp>
        <p:nvSpPr>
          <p:cNvPr id="90" name="Shape 88"/>
          <p:cNvSpPr/>
          <p:nvPr/>
        </p:nvSpPr>
        <p:spPr>
          <a:xfrm>
            <a:off x="9006840" y="5943600"/>
            <a:ext cx="822960" cy="201168"/>
          </a:xfrm>
          <a:prstGeom prst="roundRect">
            <a:avLst>
              <a:gd name="adj" fmla="val 54545"/>
            </a:avLst>
          </a:prstGeom>
          <a:solidFill>
            <a:srgbClr val="FEF3C7"/>
          </a:solidFill>
          <a:ln w="7620">
            <a:solidFill>
              <a:srgbClr val="FEF3C7"/>
            </a:solidFill>
            <a:prstDash val="solid"/>
          </a:ln>
        </p:spPr>
      </p:sp>
      <p:sp>
        <p:nvSpPr>
          <p:cNvPr id="91" name="Text 89"/>
          <p:cNvSpPr/>
          <p:nvPr/>
        </p:nvSpPr>
        <p:spPr>
          <a:xfrm>
            <a:off x="9006840" y="5948172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F59E0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上传完成 1/2</a:t>
            </a:r>
            <a:endParaRPr lang="en-US" sz="600" dirty="0"/>
          </a:p>
        </p:txBody>
      </p:sp>
      <p:sp>
        <p:nvSpPr>
          <p:cNvPr id="92" name="Text 90"/>
          <p:cNvSpPr/>
          <p:nvPr/>
        </p:nvSpPr>
        <p:spPr>
          <a:xfrm>
            <a:off x="11567160" y="6492240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11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6766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11｜第17步专项：整车色差一致性月度评审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02920" y="786384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批量生产完成后自动进入12个月月度评审台账，突出本月任务与逾期月份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02920" y="1143000"/>
            <a:ext cx="11201400" cy="0"/>
          </a:xfrm>
          <a:prstGeom prst="line">
            <a:avLst/>
          </a:prstGeom>
          <a:noFill/>
          <a:ln w="8890">
            <a:solidFill>
              <a:srgbClr val="D9E2EC"/>
            </a:solidFill>
            <a:prstDash val="solid"/>
            <a:headEnd type="none"/>
            <a:tailEnd type="none"/>
          </a:ln>
        </p:spPr>
      </p:sp>
      <p:sp>
        <p:nvSpPr>
          <p:cNvPr id="5" name="Shape 3"/>
          <p:cNvSpPr/>
          <p:nvPr/>
        </p:nvSpPr>
        <p:spPr>
          <a:xfrm>
            <a:off x="502920" y="1051560"/>
            <a:ext cx="11201400" cy="5623560"/>
          </a:xfrm>
          <a:prstGeom prst="roundRect">
            <a:avLst>
              <a:gd name="adj" fmla="val 2602"/>
            </a:avLst>
          </a:prstGeom>
          <a:solidFill>
            <a:srgbClr val="FFFFFF"/>
          </a:solidFill>
          <a:ln w="7620">
            <a:solidFill>
              <a:srgbClr val="D9E2EC"/>
            </a:solidFill>
            <a:prstDash val="solid"/>
          </a:ln>
          <a:effectLst>
            <a:outerShdw sx="100000" sy="100000" kx="0" ky="0" algn="bl" rotWithShape="0" blurRad="5.281604854866228e+49" dist="7.042139806488305e+49" dir="9.795520512000002e+58">
              <a:srgbClr val="CBD5E1">
                <a:alpha val="2.2e+59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02920" y="1051560"/>
            <a:ext cx="11201400" cy="438912"/>
          </a:xfrm>
          <a:prstGeom prst="roundRect">
            <a:avLst>
              <a:gd name="adj" fmla="val 33333"/>
            </a:avLst>
          </a:prstGeom>
          <a:solidFill>
            <a:srgbClr val="EFF6FF"/>
          </a:solidFill>
          <a:ln w="7620">
            <a:solidFill>
              <a:srgbClr val="D9E2E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04088" y="1216152"/>
            <a:ext cx="109728" cy="109728"/>
          </a:xfrm>
          <a:prstGeom prst="ellipse">
            <a:avLst/>
          </a:prstGeom>
          <a:solidFill>
            <a:srgbClr val="F87171"/>
          </a:solidFill>
          <a:ln w="6350">
            <a:solidFill>
              <a:srgbClr val="F8717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86968" y="1216152"/>
            <a:ext cx="109728" cy="109728"/>
          </a:xfrm>
          <a:prstGeom prst="ellipse">
            <a:avLst/>
          </a:prstGeom>
          <a:solidFill>
            <a:srgbClr val="FBBF24"/>
          </a:solidFill>
          <a:ln w="6350">
            <a:solidFill>
              <a:srgbClr val="FBBF2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69848" y="1216152"/>
            <a:ext cx="109728" cy="109728"/>
          </a:xfrm>
          <a:prstGeom prst="ellipse">
            <a:avLst/>
          </a:prstGeom>
          <a:solidFill>
            <a:srgbClr val="34D399"/>
          </a:solidFill>
          <a:ln w="6350">
            <a:solidFill>
              <a:srgbClr val="34D39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344168" y="1170432"/>
            <a:ext cx="10104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月度评审 / 整车色差一致性评审台账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502920" y="1490472"/>
            <a:ext cx="1417320" cy="5184648"/>
          </a:xfrm>
          <a:prstGeom prst="rect">
            <a:avLst>
              <a:gd name="adj" fmla="val 5161"/>
            </a:avLst>
          </a:prstGeom>
          <a:solidFill>
            <a:srgbClr val="0F172A"/>
          </a:solidFill>
          <a:ln w="7620">
            <a:solidFill>
              <a:srgbClr val="0F172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67512" y="1673352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颜色开发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67512" y="1929384"/>
            <a:ext cx="1143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60" dirty="0">
                <a:solidFill>
                  <a:srgbClr val="CBD5E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项目管理系统</a:t>
            </a:r>
            <a:endParaRPr lang="en-US" sz="760" dirty="0"/>
          </a:p>
        </p:txBody>
      </p:sp>
      <p:sp>
        <p:nvSpPr>
          <p:cNvPr id="14" name="Shape 12"/>
          <p:cNvSpPr/>
          <p:nvPr/>
        </p:nvSpPr>
        <p:spPr>
          <a:xfrm>
            <a:off x="621792" y="2386584"/>
            <a:ext cx="1179576" cy="301752"/>
          </a:xfrm>
          <a:prstGeom prst="roundRect">
            <a:avLst>
              <a:gd name="adj" fmla="val 24242"/>
            </a:avLst>
          </a:prstGeom>
          <a:solidFill>
            <a:srgbClr val="0F172A"/>
          </a:solidFill>
          <a:ln w="7620">
            <a:solidFill>
              <a:srgbClr val="0F172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58952" y="2450592"/>
            <a:ext cx="10058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CBD5E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工作台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621792" y="2807208"/>
            <a:ext cx="1179576" cy="301752"/>
          </a:xfrm>
          <a:prstGeom prst="roundRect">
            <a:avLst>
              <a:gd name="adj" fmla="val 24242"/>
            </a:avLst>
          </a:prstGeom>
          <a:solidFill>
            <a:srgbClr val="0F172A"/>
          </a:solidFill>
          <a:ln w="7620">
            <a:solidFill>
              <a:srgbClr val="0F172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58952" y="2871216"/>
            <a:ext cx="10058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CBD5E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项目管理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621792" y="3227832"/>
            <a:ext cx="1179576" cy="301752"/>
          </a:xfrm>
          <a:prstGeom prst="roundRect">
            <a:avLst>
              <a:gd name="adj" fmla="val 24242"/>
            </a:avLst>
          </a:prstGeom>
          <a:solidFill>
            <a:srgbClr val="0F172A"/>
          </a:solidFill>
          <a:ln w="7620">
            <a:solidFill>
              <a:srgbClr val="0F172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58952" y="3291840"/>
            <a:ext cx="10058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CBD5E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工序管理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621792" y="3648456"/>
            <a:ext cx="1179576" cy="301752"/>
          </a:xfrm>
          <a:prstGeom prst="roundRect">
            <a:avLst>
              <a:gd name="adj" fmla="val 24242"/>
            </a:avLst>
          </a:prstGeom>
          <a:solidFill>
            <a:srgbClr val="0F172A"/>
          </a:solidFill>
          <a:ln w="7620">
            <a:solidFill>
              <a:srgbClr val="0F172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58952" y="3712464"/>
            <a:ext cx="10058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CBD5E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材料中心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621792" y="4069080"/>
            <a:ext cx="1179576" cy="301752"/>
          </a:xfrm>
          <a:prstGeom prst="roundRect">
            <a:avLst>
              <a:gd name="adj" fmla="val 24242"/>
            </a:avLst>
          </a:prstGeom>
          <a:solidFill>
            <a:srgbClr val="2563EB"/>
          </a:solidFill>
          <a:ln w="7620">
            <a:solidFill>
              <a:srgbClr val="2563E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58952" y="4133088"/>
            <a:ext cx="10058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月度评审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621792" y="4489704"/>
            <a:ext cx="1179576" cy="301752"/>
          </a:xfrm>
          <a:prstGeom prst="roundRect">
            <a:avLst>
              <a:gd name="adj" fmla="val 24242"/>
            </a:avLst>
          </a:prstGeom>
          <a:solidFill>
            <a:srgbClr val="0F172A"/>
          </a:solidFill>
          <a:ln w="7620">
            <a:solidFill>
              <a:srgbClr val="0F172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58952" y="4553712"/>
            <a:ext cx="10058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CBD5E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数据中心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621792" y="4910328"/>
            <a:ext cx="1179576" cy="301752"/>
          </a:xfrm>
          <a:prstGeom prst="roundRect">
            <a:avLst>
              <a:gd name="adj" fmla="val 24242"/>
            </a:avLst>
          </a:prstGeom>
          <a:solidFill>
            <a:srgbClr val="0F172A"/>
          </a:solidFill>
          <a:ln w="7620">
            <a:solidFill>
              <a:srgbClr val="0F172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58952" y="4974336"/>
            <a:ext cx="10058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CBD5E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系统设置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1920240" y="1490472"/>
            <a:ext cx="9784080" cy="512064"/>
          </a:xfrm>
          <a:prstGeom prst="rect">
            <a:avLst>
              <a:gd name="adj" fmla="val 14286"/>
            </a:avLst>
          </a:prstGeom>
          <a:solidFill>
            <a:srgbClr val="FFFFFF"/>
          </a:solidFill>
          <a:ln w="7620">
            <a:solidFill>
              <a:srgbClr val="D9E2E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212848" y="1645920"/>
            <a:ext cx="1920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20" dirty="0">
                <a:solidFill>
                  <a:srgbClr val="94A3B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搜索项目 / 颜色 / 负责人</a:t>
            </a:r>
            <a:endParaRPr lang="en-US" sz="720" dirty="0"/>
          </a:p>
        </p:txBody>
      </p:sp>
      <p:sp>
        <p:nvSpPr>
          <p:cNvPr id="30" name="Shape 28"/>
          <p:cNvSpPr/>
          <p:nvPr/>
        </p:nvSpPr>
        <p:spPr>
          <a:xfrm>
            <a:off x="9784080" y="1600200"/>
            <a:ext cx="685800" cy="274320"/>
          </a:xfrm>
          <a:prstGeom prst="roundRect">
            <a:avLst>
              <a:gd name="adj" fmla="val 26667"/>
            </a:avLst>
          </a:prstGeom>
          <a:solidFill>
            <a:srgbClr val="DBEAFE"/>
          </a:solidFill>
          <a:ln w="7620">
            <a:solidFill>
              <a:srgbClr val="DBEAFE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9838944" y="1655064"/>
            <a:ext cx="57607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60" b="1" dirty="0">
                <a:solidFill>
                  <a:srgbClr val="2563E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立即刷新</a:t>
            </a:r>
            <a:endParaRPr lang="en-US" sz="660" dirty="0"/>
          </a:p>
        </p:txBody>
      </p:sp>
      <p:sp>
        <p:nvSpPr>
          <p:cNvPr id="32" name="Text 30"/>
          <p:cNvSpPr/>
          <p:nvPr/>
        </p:nvSpPr>
        <p:spPr>
          <a:xfrm>
            <a:off x="10561320" y="1645920"/>
            <a:ext cx="9601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80" dirty="0">
                <a:solidFill>
                  <a:srgbClr val="64748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最近更新 14:32</a:t>
            </a:r>
            <a:endParaRPr lang="en-US" sz="680" dirty="0"/>
          </a:p>
        </p:txBody>
      </p:sp>
      <p:sp>
        <p:nvSpPr>
          <p:cNvPr id="33" name="Text 31"/>
          <p:cNvSpPr/>
          <p:nvPr/>
        </p:nvSpPr>
        <p:spPr>
          <a:xfrm>
            <a:off x="2148840" y="2148840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整车色差一致性评审台账</a:t>
            </a:r>
            <a:endParaRPr lang="en-US" sz="1400" dirty="0"/>
          </a:p>
        </p:txBody>
      </p:sp>
      <p:sp>
        <p:nvSpPr>
          <p:cNvPr id="34" name="Shape 32"/>
          <p:cNvSpPr/>
          <p:nvPr/>
        </p:nvSpPr>
        <p:spPr>
          <a:xfrm>
            <a:off x="4937760" y="2185416"/>
            <a:ext cx="822960" cy="201168"/>
          </a:xfrm>
          <a:prstGeom prst="roundRect">
            <a:avLst>
              <a:gd name="adj" fmla="val 54545"/>
            </a:avLst>
          </a:prstGeom>
          <a:solidFill>
            <a:srgbClr val="CFFAFE"/>
          </a:solidFill>
          <a:ln w="7620">
            <a:solidFill>
              <a:srgbClr val="CFFAFE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937760" y="2189988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40" b="1" dirty="0">
                <a:solidFill>
                  <a:srgbClr val="06B6D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已完成 3 / 12</a:t>
            </a:r>
            <a:endParaRPr lang="en-US" sz="640" dirty="0"/>
          </a:p>
        </p:txBody>
      </p:sp>
      <p:sp>
        <p:nvSpPr>
          <p:cNvPr id="36" name="Shape 34"/>
          <p:cNvSpPr/>
          <p:nvPr/>
        </p:nvSpPr>
        <p:spPr>
          <a:xfrm>
            <a:off x="2148840" y="2679192"/>
            <a:ext cx="9372600" cy="1508760"/>
          </a:xfrm>
          <a:prstGeom prst="roundRect">
            <a:avLst>
              <a:gd name="adj" fmla="val 8485"/>
            </a:avLst>
          </a:prstGeom>
          <a:solidFill>
            <a:srgbClr val="FFFFFF"/>
          </a:solidFill>
          <a:ln w="7620">
            <a:solidFill>
              <a:srgbClr val="D9E2EC"/>
            </a:solidFill>
            <a:prstDash val="solid"/>
          </a:ln>
          <a:effectLst>
            <a:outerShdw sx="100000" sy="100000" kx="0" ky="0" algn="bl" rotWithShape="0" blurRad="1.5128813898325588e+193" dist="3.0257627796651175e+193" dir="1.6839193280515925e+226">
              <a:srgbClr val="CBD5E1">
                <a:alpha val="1.1999999999999994e+234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2313432" y="2935224"/>
            <a:ext cx="566928" cy="731520"/>
          </a:xfrm>
          <a:prstGeom prst="roundRect">
            <a:avLst>
              <a:gd name="adj" fmla="val 16129"/>
            </a:avLst>
          </a:prstGeom>
          <a:solidFill>
            <a:srgbClr val="D1FAE5"/>
          </a:solidFill>
          <a:ln w="7620">
            <a:solidFill>
              <a:srgbClr val="D1FAE5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2313432" y="3099816"/>
            <a:ext cx="56692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10B98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1月</a:t>
            </a:r>
            <a:endParaRPr lang="en-US" sz="720" dirty="0"/>
          </a:p>
        </p:txBody>
      </p:sp>
      <p:sp>
        <p:nvSpPr>
          <p:cNvPr id="39" name="Text 37"/>
          <p:cNvSpPr/>
          <p:nvPr/>
        </p:nvSpPr>
        <p:spPr>
          <a:xfrm>
            <a:off x="2313432" y="3355848"/>
            <a:ext cx="566928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540" dirty="0">
                <a:solidFill>
                  <a:srgbClr val="10B98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已完成</a:t>
            </a:r>
            <a:endParaRPr lang="en-US" sz="540" dirty="0"/>
          </a:p>
        </p:txBody>
      </p:sp>
      <p:sp>
        <p:nvSpPr>
          <p:cNvPr id="40" name="Shape 38"/>
          <p:cNvSpPr/>
          <p:nvPr/>
        </p:nvSpPr>
        <p:spPr>
          <a:xfrm>
            <a:off x="3008376" y="2935224"/>
            <a:ext cx="566928" cy="731520"/>
          </a:xfrm>
          <a:prstGeom prst="roundRect">
            <a:avLst>
              <a:gd name="adj" fmla="val 16129"/>
            </a:avLst>
          </a:prstGeom>
          <a:solidFill>
            <a:srgbClr val="D1FAE5"/>
          </a:solidFill>
          <a:ln w="7620">
            <a:solidFill>
              <a:srgbClr val="D1FAE5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008376" y="3099816"/>
            <a:ext cx="56692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10B98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2月</a:t>
            </a:r>
            <a:endParaRPr lang="en-US" sz="720" dirty="0"/>
          </a:p>
        </p:txBody>
      </p:sp>
      <p:sp>
        <p:nvSpPr>
          <p:cNvPr id="42" name="Text 40"/>
          <p:cNvSpPr/>
          <p:nvPr/>
        </p:nvSpPr>
        <p:spPr>
          <a:xfrm>
            <a:off x="3008376" y="3355848"/>
            <a:ext cx="566928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540" dirty="0">
                <a:solidFill>
                  <a:srgbClr val="10B98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已完成</a:t>
            </a:r>
            <a:endParaRPr lang="en-US" sz="540" dirty="0"/>
          </a:p>
        </p:txBody>
      </p:sp>
      <p:sp>
        <p:nvSpPr>
          <p:cNvPr id="43" name="Shape 41"/>
          <p:cNvSpPr/>
          <p:nvPr/>
        </p:nvSpPr>
        <p:spPr>
          <a:xfrm>
            <a:off x="3703320" y="2935224"/>
            <a:ext cx="566928" cy="731520"/>
          </a:xfrm>
          <a:prstGeom prst="roundRect">
            <a:avLst>
              <a:gd name="adj" fmla="val 16129"/>
            </a:avLst>
          </a:prstGeom>
          <a:solidFill>
            <a:srgbClr val="D1FAE5"/>
          </a:solidFill>
          <a:ln w="7620">
            <a:solidFill>
              <a:srgbClr val="D1FAE5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3703320" y="3099816"/>
            <a:ext cx="56692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10B98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3月</a:t>
            </a:r>
            <a:endParaRPr lang="en-US" sz="720" dirty="0"/>
          </a:p>
        </p:txBody>
      </p:sp>
      <p:sp>
        <p:nvSpPr>
          <p:cNvPr id="45" name="Text 43"/>
          <p:cNvSpPr/>
          <p:nvPr/>
        </p:nvSpPr>
        <p:spPr>
          <a:xfrm>
            <a:off x="3703320" y="3355848"/>
            <a:ext cx="566928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540" dirty="0">
                <a:solidFill>
                  <a:srgbClr val="10B98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已完成</a:t>
            </a:r>
            <a:endParaRPr lang="en-US" sz="540" dirty="0"/>
          </a:p>
        </p:txBody>
      </p:sp>
      <p:sp>
        <p:nvSpPr>
          <p:cNvPr id="46" name="Shape 44"/>
          <p:cNvSpPr/>
          <p:nvPr/>
        </p:nvSpPr>
        <p:spPr>
          <a:xfrm>
            <a:off x="4398264" y="2935224"/>
            <a:ext cx="566928" cy="731520"/>
          </a:xfrm>
          <a:prstGeom prst="roundRect">
            <a:avLst>
              <a:gd name="adj" fmla="val 16129"/>
            </a:avLst>
          </a:prstGeom>
          <a:solidFill>
            <a:srgbClr val="FEF3C7"/>
          </a:solidFill>
          <a:ln w="7620">
            <a:solidFill>
              <a:srgbClr val="FEF3C7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398264" y="3099816"/>
            <a:ext cx="56692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F59E0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4月</a:t>
            </a:r>
            <a:endParaRPr lang="en-US" sz="720" dirty="0"/>
          </a:p>
        </p:txBody>
      </p:sp>
      <p:sp>
        <p:nvSpPr>
          <p:cNvPr id="48" name="Text 46"/>
          <p:cNvSpPr/>
          <p:nvPr/>
        </p:nvSpPr>
        <p:spPr>
          <a:xfrm>
            <a:off x="4398264" y="3355848"/>
            <a:ext cx="566928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540" dirty="0">
                <a:solidFill>
                  <a:srgbClr val="F59E0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待评审</a:t>
            </a:r>
            <a:endParaRPr lang="en-US" sz="540" dirty="0"/>
          </a:p>
        </p:txBody>
      </p:sp>
      <p:sp>
        <p:nvSpPr>
          <p:cNvPr id="49" name="Shape 47"/>
          <p:cNvSpPr/>
          <p:nvPr/>
        </p:nvSpPr>
        <p:spPr>
          <a:xfrm>
            <a:off x="5093208" y="2935224"/>
            <a:ext cx="566928" cy="731520"/>
          </a:xfrm>
          <a:prstGeom prst="roundRect">
            <a:avLst>
              <a:gd name="adj" fmla="val 16129"/>
            </a:avLst>
          </a:prstGeom>
          <a:solidFill>
            <a:srgbClr val="FEE2E2"/>
          </a:solidFill>
          <a:ln w="7620">
            <a:solidFill>
              <a:srgbClr val="FEE2E2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5093208" y="3099816"/>
            <a:ext cx="56692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EF444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5月</a:t>
            </a:r>
            <a:endParaRPr lang="en-US" sz="720" dirty="0"/>
          </a:p>
        </p:txBody>
      </p:sp>
      <p:sp>
        <p:nvSpPr>
          <p:cNvPr id="51" name="Text 49"/>
          <p:cNvSpPr/>
          <p:nvPr/>
        </p:nvSpPr>
        <p:spPr>
          <a:xfrm>
            <a:off x="5093208" y="3355848"/>
            <a:ext cx="566928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540" dirty="0">
                <a:solidFill>
                  <a:srgbClr val="EF444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已逾期</a:t>
            </a:r>
            <a:endParaRPr lang="en-US" sz="540" dirty="0"/>
          </a:p>
        </p:txBody>
      </p:sp>
      <p:sp>
        <p:nvSpPr>
          <p:cNvPr id="52" name="Shape 50"/>
          <p:cNvSpPr/>
          <p:nvPr/>
        </p:nvSpPr>
        <p:spPr>
          <a:xfrm>
            <a:off x="5788152" y="2935224"/>
            <a:ext cx="566928" cy="731520"/>
          </a:xfrm>
          <a:prstGeom prst="roundRect">
            <a:avLst>
              <a:gd name="adj" fmla="val 16129"/>
            </a:avLst>
          </a:prstGeom>
          <a:solidFill>
            <a:srgbClr val="F1F5F9"/>
          </a:solidFill>
          <a:ln w="7620">
            <a:solidFill>
              <a:srgbClr val="F1F5F9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5788152" y="3099816"/>
            <a:ext cx="56692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64748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6月</a:t>
            </a:r>
            <a:endParaRPr lang="en-US" sz="720" dirty="0"/>
          </a:p>
        </p:txBody>
      </p:sp>
      <p:sp>
        <p:nvSpPr>
          <p:cNvPr id="54" name="Text 52"/>
          <p:cNvSpPr/>
          <p:nvPr/>
        </p:nvSpPr>
        <p:spPr>
          <a:xfrm>
            <a:off x="5788152" y="3355848"/>
            <a:ext cx="566928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540" dirty="0">
                <a:solidFill>
                  <a:srgbClr val="64748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未开始</a:t>
            </a:r>
            <a:endParaRPr lang="en-US" sz="540" dirty="0"/>
          </a:p>
        </p:txBody>
      </p:sp>
      <p:sp>
        <p:nvSpPr>
          <p:cNvPr id="55" name="Shape 53"/>
          <p:cNvSpPr/>
          <p:nvPr/>
        </p:nvSpPr>
        <p:spPr>
          <a:xfrm>
            <a:off x="6483096" y="2935224"/>
            <a:ext cx="566928" cy="731520"/>
          </a:xfrm>
          <a:prstGeom prst="roundRect">
            <a:avLst>
              <a:gd name="adj" fmla="val 16129"/>
            </a:avLst>
          </a:prstGeom>
          <a:solidFill>
            <a:srgbClr val="F1F5F9"/>
          </a:solidFill>
          <a:ln w="7620">
            <a:solidFill>
              <a:srgbClr val="F1F5F9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6483096" y="3099816"/>
            <a:ext cx="56692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64748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7月</a:t>
            </a:r>
            <a:endParaRPr lang="en-US" sz="720" dirty="0"/>
          </a:p>
        </p:txBody>
      </p:sp>
      <p:sp>
        <p:nvSpPr>
          <p:cNvPr id="57" name="Text 55"/>
          <p:cNvSpPr/>
          <p:nvPr/>
        </p:nvSpPr>
        <p:spPr>
          <a:xfrm>
            <a:off x="6483096" y="3355848"/>
            <a:ext cx="566928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540" dirty="0">
                <a:solidFill>
                  <a:srgbClr val="64748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未开始</a:t>
            </a:r>
            <a:endParaRPr lang="en-US" sz="540" dirty="0"/>
          </a:p>
        </p:txBody>
      </p:sp>
      <p:sp>
        <p:nvSpPr>
          <p:cNvPr id="58" name="Shape 56"/>
          <p:cNvSpPr/>
          <p:nvPr/>
        </p:nvSpPr>
        <p:spPr>
          <a:xfrm>
            <a:off x="7178040" y="2935224"/>
            <a:ext cx="566928" cy="731520"/>
          </a:xfrm>
          <a:prstGeom prst="roundRect">
            <a:avLst>
              <a:gd name="adj" fmla="val 16129"/>
            </a:avLst>
          </a:prstGeom>
          <a:solidFill>
            <a:srgbClr val="F1F5F9"/>
          </a:solidFill>
          <a:ln w="7620">
            <a:solidFill>
              <a:srgbClr val="F1F5F9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7178040" y="3099816"/>
            <a:ext cx="56692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64748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8月</a:t>
            </a:r>
            <a:endParaRPr lang="en-US" sz="720" dirty="0"/>
          </a:p>
        </p:txBody>
      </p:sp>
      <p:sp>
        <p:nvSpPr>
          <p:cNvPr id="60" name="Text 58"/>
          <p:cNvSpPr/>
          <p:nvPr/>
        </p:nvSpPr>
        <p:spPr>
          <a:xfrm>
            <a:off x="7178040" y="3355848"/>
            <a:ext cx="566928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540" dirty="0">
                <a:solidFill>
                  <a:srgbClr val="64748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未开始</a:t>
            </a:r>
            <a:endParaRPr lang="en-US" sz="540" dirty="0"/>
          </a:p>
        </p:txBody>
      </p:sp>
      <p:sp>
        <p:nvSpPr>
          <p:cNvPr id="61" name="Shape 59"/>
          <p:cNvSpPr/>
          <p:nvPr/>
        </p:nvSpPr>
        <p:spPr>
          <a:xfrm>
            <a:off x="7872984" y="2935224"/>
            <a:ext cx="566928" cy="731520"/>
          </a:xfrm>
          <a:prstGeom prst="roundRect">
            <a:avLst>
              <a:gd name="adj" fmla="val 16129"/>
            </a:avLst>
          </a:prstGeom>
          <a:solidFill>
            <a:srgbClr val="F1F5F9"/>
          </a:solidFill>
          <a:ln w="7620">
            <a:solidFill>
              <a:srgbClr val="F1F5F9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7872984" y="3099816"/>
            <a:ext cx="56692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64748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9月</a:t>
            </a:r>
            <a:endParaRPr lang="en-US" sz="720" dirty="0"/>
          </a:p>
        </p:txBody>
      </p:sp>
      <p:sp>
        <p:nvSpPr>
          <p:cNvPr id="63" name="Text 61"/>
          <p:cNvSpPr/>
          <p:nvPr/>
        </p:nvSpPr>
        <p:spPr>
          <a:xfrm>
            <a:off x="7872984" y="3355848"/>
            <a:ext cx="566928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540" dirty="0">
                <a:solidFill>
                  <a:srgbClr val="64748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未开始</a:t>
            </a:r>
            <a:endParaRPr lang="en-US" sz="540" dirty="0"/>
          </a:p>
        </p:txBody>
      </p:sp>
      <p:sp>
        <p:nvSpPr>
          <p:cNvPr id="64" name="Shape 62"/>
          <p:cNvSpPr/>
          <p:nvPr/>
        </p:nvSpPr>
        <p:spPr>
          <a:xfrm>
            <a:off x="8567928" y="2935224"/>
            <a:ext cx="566928" cy="731520"/>
          </a:xfrm>
          <a:prstGeom prst="roundRect">
            <a:avLst>
              <a:gd name="adj" fmla="val 16129"/>
            </a:avLst>
          </a:prstGeom>
          <a:solidFill>
            <a:srgbClr val="F1F5F9"/>
          </a:solidFill>
          <a:ln w="7620">
            <a:solidFill>
              <a:srgbClr val="F1F5F9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8567928" y="3099816"/>
            <a:ext cx="56692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64748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10月</a:t>
            </a:r>
            <a:endParaRPr lang="en-US" sz="720" dirty="0"/>
          </a:p>
        </p:txBody>
      </p:sp>
      <p:sp>
        <p:nvSpPr>
          <p:cNvPr id="66" name="Text 64"/>
          <p:cNvSpPr/>
          <p:nvPr/>
        </p:nvSpPr>
        <p:spPr>
          <a:xfrm>
            <a:off x="8567928" y="3355848"/>
            <a:ext cx="566928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540" dirty="0">
                <a:solidFill>
                  <a:srgbClr val="64748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未开始</a:t>
            </a:r>
            <a:endParaRPr lang="en-US" sz="540" dirty="0"/>
          </a:p>
        </p:txBody>
      </p:sp>
      <p:sp>
        <p:nvSpPr>
          <p:cNvPr id="67" name="Shape 65"/>
          <p:cNvSpPr/>
          <p:nvPr/>
        </p:nvSpPr>
        <p:spPr>
          <a:xfrm>
            <a:off x="9262872" y="2935224"/>
            <a:ext cx="566928" cy="731520"/>
          </a:xfrm>
          <a:prstGeom prst="roundRect">
            <a:avLst>
              <a:gd name="adj" fmla="val 16129"/>
            </a:avLst>
          </a:prstGeom>
          <a:solidFill>
            <a:srgbClr val="F1F5F9"/>
          </a:solidFill>
          <a:ln w="7620">
            <a:solidFill>
              <a:srgbClr val="F1F5F9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9262872" y="3099816"/>
            <a:ext cx="56692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64748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11月</a:t>
            </a:r>
            <a:endParaRPr lang="en-US" sz="720" dirty="0"/>
          </a:p>
        </p:txBody>
      </p:sp>
      <p:sp>
        <p:nvSpPr>
          <p:cNvPr id="69" name="Text 67"/>
          <p:cNvSpPr/>
          <p:nvPr/>
        </p:nvSpPr>
        <p:spPr>
          <a:xfrm>
            <a:off x="9262872" y="3355848"/>
            <a:ext cx="566928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540" dirty="0">
                <a:solidFill>
                  <a:srgbClr val="64748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未开始</a:t>
            </a:r>
            <a:endParaRPr lang="en-US" sz="540" dirty="0"/>
          </a:p>
        </p:txBody>
      </p:sp>
      <p:sp>
        <p:nvSpPr>
          <p:cNvPr id="70" name="Shape 68"/>
          <p:cNvSpPr/>
          <p:nvPr/>
        </p:nvSpPr>
        <p:spPr>
          <a:xfrm>
            <a:off x="9957816" y="2935224"/>
            <a:ext cx="566928" cy="731520"/>
          </a:xfrm>
          <a:prstGeom prst="roundRect">
            <a:avLst>
              <a:gd name="adj" fmla="val 16129"/>
            </a:avLst>
          </a:prstGeom>
          <a:solidFill>
            <a:srgbClr val="F1F5F9"/>
          </a:solidFill>
          <a:ln w="7620">
            <a:solidFill>
              <a:srgbClr val="F1F5F9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9957816" y="3099816"/>
            <a:ext cx="56692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64748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12月</a:t>
            </a:r>
            <a:endParaRPr lang="en-US" sz="720" dirty="0"/>
          </a:p>
        </p:txBody>
      </p:sp>
      <p:sp>
        <p:nvSpPr>
          <p:cNvPr id="72" name="Text 70"/>
          <p:cNvSpPr/>
          <p:nvPr/>
        </p:nvSpPr>
        <p:spPr>
          <a:xfrm>
            <a:off x="9957816" y="3355848"/>
            <a:ext cx="566928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540" dirty="0">
                <a:solidFill>
                  <a:srgbClr val="64748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未开始</a:t>
            </a:r>
            <a:endParaRPr lang="en-US" sz="540" dirty="0"/>
          </a:p>
        </p:txBody>
      </p:sp>
      <p:sp>
        <p:nvSpPr>
          <p:cNvPr id="73" name="Shape 71"/>
          <p:cNvSpPr/>
          <p:nvPr/>
        </p:nvSpPr>
        <p:spPr>
          <a:xfrm>
            <a:off x="2148840" y="4389120"/>
            <a:ext cx="5669280" cy="2148840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 w="7620">
            <a:solidFill>
              <a:srgbClr val="D9E2EC"/>
            </a:solidFill>
            <a:prstDash val="solid"/>
          </a:ln>
          <a:effectLst>
            <a:outerShdw sx="100000" sy="100000" kx="0" ky="0" algn="bl" rotWithShape="0" blurRad="1.9213593650873497e+197" dist="3.8427187301746993e+197" dir="1.0103515968309554e+231">
              <a:srgbClr val="CBD5E1">
                <a:alpha val="1.1999999999999992e+239"/>
              </a:srgbClr>
            </a:outerShdw>
          </a:effectLst>
        </p:spPr>
      </p:sp>
      <p:sp>
        <p:nvSpPr>
          <p:cNvPr id="74" name="Shape 72"/>
          <p:cNvSpPr/>
          <p:nvPr/>
        </p:nvSpPr>
        <p:spPr>
          <a:xfrm>
            <a:off x="2148840" y="4389120"/>
            <a:ext cx="5669280" cy="358140"/>
          </a:xfrm>
          <a:prstGeom prst="rect">
            <a:avLst>
              <a:gd name="adj" fmla="val 20426"/>
            </a:avLst>
          </a:prstGeom>
          <a:solidFill>
            <a:srgbClr val="F1F5F9"/>
          </a:solidFill>
          <a:ln w="7620">
            <a:solidFill>
              <a:srgbClr val="F1F5F9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2194560" y="4443984"/>
            <a:ext cx="588874" cy="2849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40" b="1" dirty="0">
                <a:solidFill>
                  <a:srgbClr val="64748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月份</a:t>
            </a:r>
            <a:endParaRPr lang="en-US" sz="640" dirty="0"/>
          </a:p>
        </p:txBody>
      </p:sp>
      <p:sp>
        <p:nvSpPr>
          <p:cNvPr id="76" name="Text 74"/>
          <p:cNvSpPr/>
          <p:nvPr/>
        </p:nvSpPr>
        <p:spPr>
          <a:xfrm>
            <a:off x="2874874" y="4443984"/>
            <a:ext cx="758952" cy="2849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40" b="1" dirty="0">
                <a:solidFill>
                  <a:srgbClr val="64748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计划日期</a:t>
            </a:r>
            <a:endParaRPr lang="en-US" sz="640" dirty="0"/>
          </a:p>
        </p:txBody>
      </p:sp>
      <p:sp>
        <p:nvSpPr>
          <p:cNvPr id="77" name="Text 75"/>
          <p:cNvSpPr/>
          <p:nvPr/>
        </p:nvSpPr>
        <p:spPr>
          <a:xfrm>
            <a:off x="3725266" y="4443984"/>
            <a:ext cx="758952" cy="2849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40" b="1" dirty="0">
                <a:solidFill>
                  <a:srgbClr val="64748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实际日期</a:t>
            </a:r>
            <a:endParaRPr lang="en-US" sz="640" dirty="0"/>
          </a:p>
        </p:txBody>
      </p:sp>
      <p:sp>
        <p:nvSpPr>
          <p:cNvPr id="78" name="Text 76"/>
          <p:cNvSpPr/>
          <p:nvPr/>
        </p:nvSpPr>
        <p:spPr>
          <a:xfrm>
            <a:off x="4575658" y="4443984"/>
            <a:ext cx="702259" cy="2849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40" b="1" dirty="0">
                <a:solidFill>
                  <a:srgbClr val="64748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状态</a:t>
            </a:r>
            <a:endParaRPr lang="en-US" sz="640" dirty="0"/>
          </a:p>
        </p:txBody>
      </p:sp>
      <p:sp>
        <p:nvSpPr>
          <p:cNvPr id="79" name="Text 77"/>
          <p:cNvSpPr/>
          <p:nvPr/>
        </p:nvSpPr>
        <p:spPr>
          <a:xfrm>
            <a:off x="5369357" y="4443984"/>
            <a:ext cx="1042416" cy="2849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40" b="1" dirty="0">
                <a:solidFill>
                  <a:srgbClr val="64748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评审结论</a:t>
            </a:r>
            <a:endParaRPr lang="en-US" sz="640" dirty="0"/>
          </a:p>
        </p:txBody>
      </p:sp>
      <p:sp>
        <p:nvSpPr>
          <p:cNvPr id="80" name="Text 78"/>
          <p:cNvSpPr/>
          <p:nvPr/>
        </p:nvSpPr>
        <p:spPr>
          <a:xfrm>
            <a:off x="6503213" y="4443984"/>
            <a:ext cx="702259" cy="2849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40" b="1" dirty="0">
                <a:solidFill>
                  <a:srgbClr val="64748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责任人</a:t>
            </a:r>
            <a:endParaRPr lang="en-US" sz="640" dirty="0"/>
          </a:p>
        </p:txBody>
      </p:sp>
      <p:sp>
        <p:nvSpPr>
          <p:cNvPr id="81" name="Text 79"/>
          <p:cNvSpPr/>
          <p:nvPr/>
        </p:nvSpPr>
        <p:spPr>
          <a:xfrm>
            <a:off x="7296912" y="4443984"/>
            <a:ext cx="475488" cy="2849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40" b="1" dirty="0">
                <a:solidFill>
                  <a:srgbClr val="64748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附件</a:t>
            </a:r>
            <a:endParaRPr lang="en-US" sz="640" dirty="0"/>
          </a:p>
        </p:txBody>
      </p:sp>
      <p:sp>
        <p:nvSpPr>
          <p:cNvPr id="82" name="Shape 80"/>
          <p:cNvSpPr/>
          <p:nvPr/>
        </p:nvSpPr>
        <p:spPr>
          <a:xfrm>
            <a:off x="2148840" y="4747260"/>
            <a:ext cx="5669280" cy="0"/>
          </a:xfrm>
          <a:prstGeom prst="line">
            <a:avLst/>
          </a:prstGeom>
          <a:noFill/>
          <a:ln w="5715">
            <a:solidFill>
              <a:srgbClr val="E5E7EB"/>
            </a:solidFill>
            <a:prstDash val="solid"/>
            <a:headEnd type="none"/>
            <a:tailEnd type="none"/>
          </a:ln>
        </p:spPr>
      </p:sp>
      <p:sp>
        <p:nvSpPr>
          <p:cNvPr id="83" name="Text 81"/>
          <p:cNvSpPr/>
          <p:nvPr/>
        </p:nvSpPr>
        <p:spPr>
          <a:xfrm>
            <a:off x="2194560" y="4792980"/>
            <a:ext cx="588874" cy="2758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20" dirty="0">
                <a:solidFill>
                  <a:srgbClr val="0F172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1月</a:t>
            </a:r>
            <a:endParaRPr lang="en-US" sz="620" dirty="0"/>
          </a:p>
        </p:txBody>
      </p:sp>
      <p:sp>
        <p:nvSpPr>
          <p:cNvPr id="84" name="Text 82"/>
          <p:cNvSpPr/>
          <p:nvPr/>
        </p:nvSpPr>
        <p:spPr>
          <a:xfrm>
            <a:off x="2874874" y="4792980"/>
            <a:ext cx="758952" cy="2758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20" dirty="0">
                <a:solidFill>
                  <a:srgbClr val="64748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01/25</a:t>
            </a:r>
            <a:endParaRPr lang="en-US" sz="620" dirty="0"/>
          </a:p>
        </p:txBody>
      </p:sp>
      <p:sp>
        <p:nvSpPr>
          <p:cNvPr id="85" name="Text 83"/>
          <p:cNvSpPr/>
          <p:nvPr/>
        </p:nvSpPr>
        <p:spPr>
          <a:xfrm>
            <a:off x="3725266" y="4792980"/>
            <a:ext cx="758952" cy="2758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20" dirty="0">
                <a:solidFill>
                  <a:srgbClr val="64748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01/22</a:t>
            </a:r>
            <a:endParaRPr lang="en-US" sz="620" dirty="0"/>
          </a:p>
        </p:txBody>
      </p:sp>
      <p:sp>
        <p:nvSpPr>
          <p:cNvPr id="86" name="Shape 84"/>
          <p:cNvSpPr/>
          <p:nvPr/>
        </p:nvSpPr>
        <p:spPr>
          <a:xfrm>
            <a:off x="4575658" y="4838700"/>
            <a:ext cx="621792" cy="182880"/>
          </a:xfrm>
          <a:prstGeom prst="roundRect">
            <a:avLst>
              <a:gd name="adj" fmla="val 60000"/>
            </a:avLst>
          </a:prstGeom>
          <a:solidFill>
            <a:srgbClr val="D1FAE5"/>
          </a:solidFill>
          <a:ln w="7620">
            <a:solidFill>
              <a:srgbClr val="D1FAE5"/>
            </a:solidFill>
            <a:prstDash val="solid"/>
          </a:ln>
        </p:spPr>
      </p:sp>
      <p:sp>
        <p:nvSpPr>
          <p:cNvPr id="87" name="Text 85"/>
          <p:cNvSpPr/>
          <p:nvPr/>
        </p:nvSpPr>
        <p:spPr>
          <a:xfrm>
            <a:off x="4575658" y="4843272"/>
            <a:ext cx="6217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20" b="1" dirty="0">
                <a:solidFill>
                  <a:srgbClr val="10B98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已完成</a:t>
            </a:r>
            <a:endParaRPr lang="en-US" sz="620" dirty="0"/>
          </a:p>
        </p:txBody>
      </p:sp>
      <p:sp>
        <p:nvSpPr>
          <p:cNvPr id="88" name="Text 86"/>
          <p:cNvSpPr/>
          <p:nvPr/>
        </p:nvSpPr>
        <p:spPr>
          <a:xfrm>
            <a:off x="5369357" y="4792980"/>
            <a:ext cx="1042416" cy="2758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20" dirty="0">
                <a:solidFill>
                  <a:srgbClr val="64748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合格</a:t>
            </a:r>
            <a:endParaRPr lang="en-US" sz="620" dirty="0"/>
          </a:p>
        </p:txBody>
      </p:sp>
      <p:sp>
        <p:nvSpPr>
          <p:cNvPr id="89" name="Text 87"/>
          <p:cNvSpPr/>
          <p:nvPr/>
        </p:nvSpPr>
        <p:spPr>
          <a:xfrm>
            <a:off x="6503213" y="4792980"/>
            <a:ext cx="702259" cy="2758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20" dirty="0">
                <a:solidFill>
                  <a:srgbClr val="64748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李晓晨</a:t>
            </a:r>
            <a:endParaRPr lang="en-US" sz="620" dirty="0"/>
          </a:p>
        </p:txBody>
      </p:sp>
      <p:sp>
        <p:nvSpPr>
          <p:cNvPr id="90" name="Text 88"/>
          <p:cNvSpPr/>
          <p:nvPr/>
        </p:nvSpPr>
        <p:spPr>
          <a:xfrm>
            <a:off x="7296912" y="4792980"/>
            <a:ext cx="475488" cy="2758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20" dirty="0">
                <a:solidFill>
                  <a:srgbClr val="64748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2</a:t>
            </a:r>
            <a:endParaRPr lang="en-US" sz="620" dirty="0"/>
          </a:p>
        </p:txBody>
      </p:sp>
      <p:sp>
        <p:nvSpPr>
          <p:cNvPr id="91" name="Shape 89"/>
          <p:cNvSpPr/>
          <p:nvPr/>
        </p:nvSpPr>
        <p:spPr>
          <a:xfrm>
            <a:off x="2148840" y="5105400"/>
            <a:ext cx="5669280" cy="358140"/>
          </a:xfrm>
          <a:prstGeom prst="rect">
            <a:avLst>
              <a:gd name="adj" fmla="val 20426"/>
            </a:avLst>
          </a:prstGeom>
          <a:solidFill>
            <a:srgbClr val="FAFBFC"/>
          </a:solidFill>
          <a:ln w="7620">
            <a:solidFill>
              <a:srgbClr val="FAFBFC"/>
            </a:solidFill>
            <a:prstDash val="solid"/>
          </a:ln>
        </p:spPr>
      </p:sp>
      <p:sp>
        <p:nvSpPr>
          <p:cNvPr id="92" name="Shape 90"/>
          <p:cNvSpPr/>
          <p:nvPr/>
        </p:nvSpPr>
        <p:spPr>
          <a:xfrm>
            <a:off x="2148840" y="5105400"/>
            <a:ext cx="5669280" cy="0"/>
          </a:xfrm>
          <a:prstGeom prst="line">
            <a:avLst/>
          </a:prstGeom>
          <a:noFill/>
          <a:ln w="5715">
            <a:solidFill>
              <a:srgbClr val="E5E7EB"/>
            </a:solidFill>
            <a:prstDash val="solid"/>
            <a:headEnd type="none"/>
            <a:tailEnd type="none"/>
          </a:ln>
        </p:spPr>
      </p:sp>
      <p:sp>
        <p:nvSpPr>
          <p:cNvPr id="93" name="Text 91"/>
          <p:cNvSpPr/>
          <p:nvPr/>
        </p:nvSpPr>
        <p:spPr>
          <a:xfrm>
            <a:off x="2194560" y="5151120"/>
            <a:ext cx="588874" cy="2758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20" dirty="0">
                <a:solidFill>
                  <a:srgbClr val="0F172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2月</a:t>
            </a:r>
            <a:endParaRPr lang="en-US" sz="620" dirty="0"/>
          </a:p>
        </p:txBody>
      </p:sp>
      <p:sp>
        <p:nvSpPr>
          <p:cNvPr id="94" name="Text 92"/>
          <p:cNvSpPr/>
          <p:nvPr/>
        </p:nvSpPr>
        <p:spPr>
          <a:xfrm>
            <a:off x="2874874" y="5151120"/>
            <a:ext cx="758952" cy="2758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20" dirty="0">
                <a:solidFill>
                  <a:srgbClr val="64748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02/25</a:t>
            </a:r>
            <a:endParaRPr lang="en-US" sz="620" dirty="0"/>
          </a:p>
        </p:txBody>
      </p:sp>
      <p:sp>
        <p:nvSpPr>
          <p:cNvPr id="95" name="Text 93"/>
          <p:cNvSpPr/>
          <p:nvPr/>
        </p:nvSpPr>
        <p:spPr>
          <a:xfrm>
            <a:off x="3725266" y="5151120"/>
            <a:ext cx="758952" cy="2758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20" dirty="0">
                <a:solidFill>
                  <a:srgbClr val="64748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02/24</a:t>
            </a:r>
            <a:endParaRPr lang="en-US" sz="620" dirty="0"/>
          </a:p>
        </p:txBody>
      </p:sp>
      <p:sp>
        <p:nvSpPr>
          <p:cNvPr id="96" name="Shape 94"/>
          <p:cNvSpPr/>
          <p:nvPr/>
        </p:nvSpPr>
        <p:spPr>
          <a:xfrm>
            <a:off x="4575658" y="5196840"/>
            <a:ext cx="621792" cy="182880"/>
          </a:xfrm>
          <a:prstGeom prst="roundRect">
            <a:avLst>
              <a:gd name="adj" fmla="val 60000"/>
            </a:avLst>
          </a:prstGeom>
          <a:solidFill>
            <a:srgbClr val="D1FAE5"/>
          </a:solidFill>
          <a:ln w="7620">
            <a:solidFill>
              <a:srgbClr val="D1FAE5"/>
            </a:solidFill>
            <a:prstDash val="solid"/>
          </a:ln>
        </p:spPr>
      </p:sp>
      <p:sp>
        <p:nvSpPr>
          <p:cNvPr id="97" name="Text 95"/>
          <p:cNvSpPr/>
          <p:nvPr/>
        </p:nvSpPr>
        <p:spPr>
          <a:xfrm>
            <a:off x="4575658" y="5201412"/>
            <a:ext cx="6217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20" b="1" dirty="0">
                <a:solidFill>
                  <a:srgbClr val="10B98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已完成</a:t>
            </a:r>
            <a:endParaRPr lang="en-US" sz="620" dirty="0"/>
          </a:p>
        </p:txBody>
      </p:sp>
      <p:sp>
        <p:nvSpPr>
          <p:cNvPr id="98" name="Text 96"/>
          <p:cNvSpPr/>
          <p:nvPr/>
        </p:nvSpPr>
        <p:spPr>
          <a:xfrm>
            <a:off x="5369357" y="5151120"/>
            <a:ext cx="1042416" cy="2758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20" dirty="0">
                <a:solidFill>
                  <a:srgbClr val="64748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合格</a:t>
            </a:r>
            <a:endParaRPr lang="en-US" sz="620" dirty="0"/>
          </a:p>
        </p:txBody>
      </p:sp>
      <p:sp>
        <p:nvSpPr>
          <p:cNvPr id="99" name="Text 97"/>
          <p:cNvSpPr/>
          <p:nvPr/>
        </p:nvSpPr>
        <p:spPr>
          <a:xfrm>
            <a:off x="6503213" y="5151120"/>
            <a:ext cx="702259" cy="2758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20" dirty="0">
                <a:solidFill>
                  <a:srgbClr val="64748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李晓晨</a:t>
            </a:r>
            <a:endParaRPr lang="en-US" sz="620" dirty="0"/>
          </a:p>
        </p:txBody>
      </p:sp>
      <p:sp>
        <p:nvSpPr>
          <p:cNvPr id="100" name="Text 98"/>
          <p:cNvSpPr/>
          <p:nvPr/>
        </p:nvSpPr>
        <p:spPr>
          <a:xfrm>
            <a:off x="7296912" y="5151120"/>
            <a:ext cx="475488" cy="2758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20" dirty="0">
                <a:solidFill>
                  <a:srgbClr val="64748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2</a:t>
            </a:r>
            <a:endParaRPr lang="en-US" sz="620" dirty="0"/>
          </a:p>
        </p:txBody>
      </p:sp>
      <p:sp>
        <p:nvSpPr>
          <p:cNvPr id="101" name="Shape 99"/>
          <p:cNvSpPr/>
          <p:nvPr/>
        </p:nvSpPr>
        <p:spPr>
          <a:xfrm>
            <a:off x="2148840" y="5463540"/>
            <a:ext cx="5669280" cy="0"/>
          </a:xfrm>
          <a:prstGeom prst="line">
            <a:avLst/>
          </a:prstGeom>
          <a:noFill/>
          <a:ln w="5715">
            <a:solidFill>
              <a:srgbClr val="E5E7EB"/>
            </a:solidFill>
            <a:prstDash val="solid"/>
            <a:headEnd type="none"/>
            <a:tailEnd type="none"/>
          </a:ln>
        </p:spPr>
      </p:sp>
      <p:sp>
        <p:nvSpPr>
          <p:cNvPr id="102" name="Text 100"/>
          <p:cNvSpPr/>
          <p:nvPr/>
        </p:nvSpPr>
        <p:spPr>
          <a:xfrm>
            <a:off x="2194560" y="5509260"/>
            <a:ext cx="588874" cy="2758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20" dirty="0">
                <a:solidFill>
                  <a:srgbClr val="0F172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3月</a:t>
            </a:r>
            <a:endParaRPr lang="en-US" sz="620" dirty="0"/>
          </a:p>
        </p:txBody>
      </p:sp>
      <p:sp>
        <p:nvSpPr>
          <p:cNvPr id="103" name="Text 101"/>
          <p:cNvSpPr/>
          <p:nvPr/>
        </p:nvSpPr>
        <p:spPr>
          <a:xfrm>
            <a:off x="2874874" y="5509260"/>
            <a:ext cx="758952" cy="2758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20" dirty="0">
                <a:solidFill>
                  <a:srgbClr val="64748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03/25</a:t>
            </a:r>
            <a:endParaRPr lang="en-US" sz="620" dirty="0"/>
          </a:p>
        </p:txBody>
      </p:sp>
      <p:sp>
        <p:nvSpPr>
          <p:cNvPr id="104" name="Text 102"/>
          <p:cNvSpPr/>
          <p:nvPr/>
        </p:nvSpPr>
        <p:spPr>
          <a:xfrm>
            <a:off x="3725266" y="5509260"/>
            <a:ext cx="758952" cy="2758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20" dirty="0">
                <a:solidFill>
                  <a:srgbClr val="64748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03/26</a:t>
            </a:r>
            <a:endParaRPr lang="en-US" sz="620" dirty="0"/>
          </a:p>
        </p:txBody>
      </p:sp>
      <p:sp>
        <p:nvSpPr>
          <p:cNvPr id="105" name="Shape 103"/>
          <p:cNvSpPr/>
          <p:nvPr/>
        </p:nvSpPr>
        <p:spPr>
          <a:xfrm>
            <a:off x="4575658" y="5554980"/>
            <a:ext cx="621792" cy="182880"/>
          </a:xfrm>
          <a:prstGeom prst="roundRect">
            <a:avLst>
              <a:gd name="adj" fmla="val 60000"/>
            </a:avLst>
          </a:prstGeom>
          <a:solidFill>
            <a:srgbClr val="D1FAE5"/>
          </a:solidFill>
          <a:ln w="7620">
            <a:solidFill>
              <a:srgbClr val="D1FAE5"/>
            </a:solidFill>
            <a:prstDash val="solid"/>
          </a:ln>
        </p:spPr>
      </p:sp>
      <p:sp>
        <p:nvSpPr>
          <p:cNvPr id="106" name="Text 104"/>
          <p:cNvSpPr/>
          <p:nvPr/>
        </p:nvSpPr>
        <p:spPr>
          <a:xfrm>
            <a:off x="4575658" y="5559552"/>
            <a:ext cx="6217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20" b="1" dirty="0">
                <a:solidFill>
                  <a:srgbClr val="10B98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已完成</a:t>
            </a:r>
            <a:endParaRPr lang="en-US" sz="620" dirty="0"/>
          </a:p>
        </p:txBody>
      </p:sp>
      <p:sp>
        <p:nvSpPr>
          <p:cNvPr id="107" name="Text 105"/>
          <p:cNvSpPr/>
          <p:nvPr/>
        </p:nvSpPr>
        <p:spPr>
          <a:xfrm>
            <a:off x="5369357" y="5509260"/>
            <a:ext cx="1042416" cy="2758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20" dirty="0">
                <a:solidFill>
                  <a:srgbClr val="64748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轻微偏差</a:t>
            </a:r>
            <a:endParaRPr lang="en-US" sz="620" dirty="0"/>
          </a:p>
        </p:txBody>
      </p:sp>
      <p:sp>
        <p:nvSpPr>
          <p:cNvPr id="108" name="Text 106"/>
          <p:cNvSpPr/>
          <p:nvPr/>
        </p:nvSpPr>
        <p:spPr>
          <a:xfrm>
            <a:off x="6503213" y="5509260"/>
            <a:ext cx="702259" cy="2758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20" dirty="0">
                <a:solidFill>
                  <a:srgbClr val="64748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李晓晨</a:t>
            </a:r>
            <a:endParaRPr lang="en-US" sz="620" dirty="0"/>
          </a:p>
        </p:txBody>
      </p:sp>
      <p:sp>
        <p:nvSpPr>
          <p:cNvPr id="109" name="Text 107"/>
          <p:cNvSpPr/>
          <p:nvPr/>
        </p:nvSpPr>
        <p:spPr>
          <a:xfrm>
            <a:off x="7296912" y="5509260"/>
            <a:ext cx="475488" cy="2758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20" dirty="0">
                <a:solidFill>
                  <a:srgbClr val="64748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3</a:t>
            </a:r>
            <a:endParaRPr lang="en-US" sz="620" dirty="0"/>
          </a:p>
        </p:txBody>
      </p:sp>
      <p:sp>
        <p:nvSpPr>
          <p:cNvPr id="110" name="Shape 108"/>
          <p:cNvSpPr/>
          <p:nvPr/>
        </p:nvSpPr>
        <p:spPr>
          <a:xfrm>
            <a:off x="2148840" y="5821680"/>
            <a:ext cx="5669280" cy="358140"/>
          </a:xfrm>
          <a:prstGeom prst="rect">
            <a:avLst>
              <a:gd name="adj" fmla="val 20426"/>
            </a:avLst>
          </a:prstGeom>
          <a:solidFill>
            <a:srgbClr val="FAFBFC"/>
          </a:solidFill>
          <a:ln w="7620">
            <a:solidFill>
              <a:srgbClr val="FAFBFC"/>
            </a:solidFill>
            <a:prstDash val="solid"/>
          </a:ln>
        </p:spPr>
      </p:sp>
      <p:sp>
        <p:nvSpPr>
          <p:cNvPr id="111" name="Shape 109"/>
          <p:cNvSpPr/>
          <p:nvPr/>
        </p:nvSpPr>
        <p:spPr>
          <a:xfrm>
            <a:off x="2148840" y="5821680"/>
            <a:ext cx="5669280" cy="0"/>
          </a:xfrm>
          <a:prstGeom prst="line">
            <a:avLst/>
          </a:prstGeom>
          <a:noFill/>
          <a:ln w="5715">
            <a:solidFill>
              <a:srgbClr val="E5E7EB"/>
            </a:solidFill>
            <a:prstDash val="solid"/>
            <a:headEnd type="none"/>
            <a:tailEnd type="none"/>
          </a:ln>
        </p:spPr>
      </p:sp>
      <p:sp>
        <p:nvSpPr>
          <p:cNvPr id="112" name="Text 110"/>
          <p:cNvSpPr/>
          <p:nvPr/>
        </p:nvSpPr>
        <p:spPr>
          <a:xfrm>
            <a:off x="2194560" y="5867400"/>
            <a:ext cx="588874" cy="2758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20" dirty="0">
                <a:solidFill>
                  <a:srgbClr val="0F172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4月</a:t>
            </a:r>
            <a:endParaRPr lang="en-US" sz="620" dirty="0"/>
          </a:p>
        </p:txBody>
      </p:sp>
      <p:sp>
        <p:nvSpPr>
          <p:cNvPr id="113" name="Text 111"/>
          <p:cNvSpPr/>
          <p:nvPr/>
        </p:nvSpPr>
        <p:spPr>
          <a:xfrm>
            <a:off x="2874874" y="5867400"/>
            <a:ext cx="758952" cy="2758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20" dirty="0">
                <a:solidFill>
                  <a:srgbClr val="64748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04/25</a:t>
            </a:r>
            <a:endParaRPr lang="en-US" sz="620" dirty="0"/>
          </a:p>
        </p:txBody>
      </p:sp>
      <p:sp>
        <p:nvSpPr>
          <p:cNvPr id="114" name="Text 112"/>
          <p:cNvSpPr/>
          <p:nvPr/>
        </p:nvSpPr>
        <p:spPr>
          <a:xfrm>
            <a:off x="3725266" y="5867400"/>
            <a:ext cx="758952" cy="2758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20" dirty="0">
                <a:solidFill>
                  <a:srgbClr val="64748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—</a:t>
            </a:r>
            <a:endParaRPr lang="en-US" sz="620" dirty="0"/>
          </a:p>
        </p:txBody>
      </p:sp>
      <p:sp>
        <p:nvSpPr>
          <p:cNvPr id="115" name="Shape 113"/>
          <p:cNvSpPr/>
          <p:nvPr/>
        </p:nvSpPr>
        <p:spPr>
          <a:xfrm>
            <a:off x="4575658" y="5913120"/>
            <a:ext cx="621792" cy="182880"/>
          </a:xfrm>
          <a:prstGeom prst="roundRect">
            <a:avLst>
              <a:gd name="adj" fmla="val 60000"/>
            </a:avLst>
          </a:prstGeom>
          <a:solidFill>
            <a:srgbClr val="FEF3C7"/>
          </a:solidFill>
          <a:ln w="7620">
            <a:solidFill>
              <a:srgbClr val="FEF3C7"/>
            </a:solidFill>
            <a:prstDash val="solid"/>
          </a:ln>
        </p:spPr>
      </p:sp>
      <p:sp>
        <p:nvSpPr>
          <p:cNvPr id="116" name="Text 114"/>
          <p:cNvSpPr/>
          <p:nvPr/>
        </p:nvSpPr>
        <p:spPr>
          <a:xfrm>
            <a:off x="4575658" y="5917692"/>
            <a:ext cx="6217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20" b="1" dirty="0">
                <a:solidFill>
                  <a:srgbClr val="F59E0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待评审</a:t>
            </a:r>
            <a:endParaRPr lang="en-US" sz="620" dirty="0"/>
          </a:p>
        </p:txBody>
      </p:sp>
      <p:sp>
        <p:nvSpPr>
          <p:cNvPr id="117" name="Text 115"/>
          <p:cNvSpPr/>
          <p:nvPr/>
        </p:nvSpPr>
        <p:spPr>
          <a:xfrm>
            <a:off x="5369357" y="5867400"/>
            <a:ext cx="1042416" cy="2758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20" dirty="0">
                <a:solidFill>
                  <a:srgbClr val="64748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—</a:t>
            </a:r>
            <a:endParaRPr lang="en-US" sz="620" dirty="0"/>
          </a:p>
        </p:txBody>
      </p:sp>
      <p:sp>
        <p:nvSpPr>
          <p:cNvPr id="118" name="Text 116"/>
          <p:cNvSpPr/>
          <p:nvPr/>
        </p:nvSpPr>
        <p:spPr>
          <a:xfrm>
            <a:off x="6503213" y="5867400"/>
            <a:ext cx="702259" cy="2758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20" dirty="0">
                <a:solidFill>
                  <a:srgbClr val="64748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李晓晨</a:t>
            </a:r>
            <a:endParaRPr lang="en-US" sz="620" dirty="0"/>
          </a:p>
        </p:txBody>
      </p:sp>
      <p:sp>
        <p:nvSpPr>
          <p:cNvPr id="119" name="Text 117"/>
          <p:cNvSpPr/>
          <p:nvPr/>
        </p:nvSpPr>
        <p:spPr>
          <a:xfrm>
            <a:off x="7296912" y="5867400"/>
            <a:ext cx="475488" cy="2758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20" dirty="0">
                <a:solidFill>
                  <a:srgbClr val="64748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</a:t>
            </a:r>
            <a:endParaRPr lang="en-US" sz="620" dirty="0"/>
          </a:p>
        </p:txBody>
      </p:sp>
      <p:sp>
        <p:nvSpPr>
          <p:cNvPr id="120" name="Shape 118"/>
          <p:cNvSpPr/>
          <p:nvPr/>
        </p:nvSpPr>
        <p:spPr>
          <a:xfrm>
            <a:off x="2148840" y="6179820"/>
            <a:ext cx="5669280" cy="0"/>
          </a:xfrm>
          <a:prstGeom prst="line">
            <a:avLst/>
          </a:prstGeom>
          <a:noFill/>
          <a:ln w="5715">
            <a:solidFill>
              <a:srgbClr val="E5E7EB"/>
            </a:solidFill>
            <a:prstDash val="solid"/>
            <a:headEnd type="none"/>
            <a:tailEnd type="none"/>
          </a:ln>
        </p:spPr>
      </p:sp>
      <p:sp>
        <p:nvSpPr>
          <p:cNvPr id="121" name="Text 119"/>
          <p:cNvSpPr/>
          <p:nvPr/>
        </p:nvSpPr>
        <p:spPr>
          <a:xfrm>
            <a:off x="2194560" y="6225540"/>
            <a:ext cx="588874" cy="2758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20" dirty="0">
                <a:solidFill>
                  <a:srgbClr val="0F172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5月</a:t>
            </a:r>
            <a:endParaRPr lang="en-US" sz="620" dirty="0"/>
          </a:p>
        </p:txBody>
      </p:sp>
      <p:sp>
        <p:nvSpPr>
          <p:cNvPr id="122" name="Text 120"/>
          <p:cNvSpPr/>
          <p:nvPr/>
        </p:nvSpPr>
        <p:spPr>
          <a:xfrm>
            <a:off x="2874874" y="6225540"/>
            <a:ext cx="758952" cy="2758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20" dirty="0">
                <a:solidFill>
                  <a:srgbClr val="64748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05/25</a:t>
            </a:r>
            <a:endParaRPr lang="en-US" sz="620" dirty="0"/>
          </a:p>
        </p:txBody>
      </p:sp>
      <p:sp>
        <p:nvSpPr>
          <p:cNvPr id="123" name="Text 121"/>
          <p:cNvSpPr/>
          <p:nvPr/>
        </p:nvSpPr>
        <p:spPr>
          <a:xfrm>
            <a:off x="3725266" y="6225540"/>
            <a:ext cx="758952" cy="2758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20" dirty="0">
                <a:solidFill>
                  <a:srgbClr val="64748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—</a:t>
            </a:r>
            <a:endParaRPr lang="en-US" sz="620" dirty="0"/>
          </a:p>
        </p:txBody>
      </p:sp>
      <p:sp>
        <p:nvSpPr>
          <p:cNvPr id="124" name="Shape 122"/>
          <p:cNvSpPr/>
          <p:nvPr/>
        </p:nvSpPr>
        <p:spPr>
          <a:xfrm>
            <a:off x="4575658" y="6271260"/>
            <a:ext cx="621792" cy="182880"/>
          </a:xfrm>
          <a:prstGeom prst="roundRect">
            <a:avLst>
              <a:gd name="adj" fmla="val 60000"/>
            </a:avLst>
          </a:prstGeom>
          <a:solidFill>
            <a:srgbClr val="FEE2E2"/>
          </a:solidFill>
          <a:ln w="7620">
            <a:solidFill>
              <a:srgbClr val="FEE2E2"/>
            </a:solidFill>
            <a:prstDash val="solid"/>
          </a:ln>
        </p:spPr>
      </p:sp>
      <p:sp>
        <p:nvSpPr>
          <p:cNvPr id="125" name="Text 123"/>
          <p:cNvSpPr/>
          <p:nvPr/>
        </p:nvSpPr>
        <p:spPr>
          <a:xfrm>
            <a:off x="4575658" y="6275832"/>
            <a:ext cx="6217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20" b="1" dirty="0">
                <a:solidFill>
                  <a:srgbClr val="EF444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已逾期</a:t>
            </a:r>
            <a:endParaRPr lang="en-US" sz="620" dirty="0"/>
          </a:p>
        </p:txBody>
      </p:sp>
      <p:sp>
        <p:nvSpPr>
          <p:cNvPr id="126" name="Text 124"/>
          <p:cNvSpPr/>
          <p:nvPr/>
        </p:nvSpPr>
        <p:spPr>
          <a:xfrm>
            <a:off x="5369357" y="6225540"/>
            <a:ext cx="1042416" cy="2758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20" dirty="0">
                <a:solidFill>
                  <a:srgbClr val="64748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—</a:t>
            </a:r>
            <a:endParaRPr lang="en-US" sz="620" dirty="0"/>
          </a:p>
        </p:txBody>
      </p:sp>
      <p:sp>
        <p:nvSpPr>
          <p:cNvPr id="127" name="Text 125"/>
          <p:cNvSpPr/>
          <p:nvPr/>
        </p:nvSpPr>
        <p:spPr>
          <a:xfrm>
            <a:off x="6503213" y="6225540"/>
            <a:ext cx="702259" cy="2758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20" dirty="0">
                <a:solidFill>
                  <a:srgbClr val="64748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田强</a:t>
            </a:r>
            <a:endParaRPr lang="en-US" sz="620" dirty="0"/>
          </a:p>
        </p:txBody>
      </p:sp>
      <p:sp>
        <p:nvSpPr>
          <p:cNvPr id="128" name="Text 126"/>
          <p:cNvSpPr/>
          <p:nvPr/>
        </p:nvSpPr>
        <p:spPr>
          <a:xfrm>
            <a:off x="7296912" y="6225540"/>
            <a:ext cx="475488" cy="2758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20" dirty="0">
                <a:solidFill>
                  <a:srgbClr val="64748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</a:t>
            </a:r>
            <a:endParaRPr lang="en-US" sz="620" dirty="0"/>
          </a:p>
        </p:txBody>
      </p:sp>
      <p:sp>
        <p:nvSpPr>
          <p:cNvPr id="129" name="Shape 127"/>
          <p:cNvSpPr/>
          <p:nvPr/>
        </p:nvSpPr>
        <p:spPr>
          <a:xfrm>
            <a:off x="8046720" y="4389120"/>
            <a:ext cx="3017520" cy="2148840"/>
          </a:xfrm>
          <a:prstGeom prst="roundRect">
            <a:avLst>
              <a:gd name="adj" fmla="val 5957"/>
            </a:avLst>
          </a:prstGeom>
          <a:solidFill>
            <a:srgbClr val="FFFFFF"/>
          </a:solidFill>
          <a:ln w="7620">
            <a:solidFill>
              <a:srgbClr val="D9E2EC"/>
            </a:solidFill>
            <a:prstDash val="solid"/>
          </a:ln>
          <a:effectLst>
            <a:outerShdw sx="100000" sy="100000" kx="0" ky="0" algn="bl" rotWithShape="0" blurRad="2.440126393660934e+201" dist="4.880252787321868e+201" dir="6.062109580985733e+235">
              <a:srgbClr val="CBD5E1">
                <a:alpha val="1.1999999999999992e+244"/>
              </a:srgbClr>
            </a:outerShdw>
          </a:effectLst>
        </p:spPr>
      </p:sp>
      <p:sp>
        <p:nvSpPr>
          <p:cNvPr id="130" name="Text 128"/>
          <p:cNvSpPr/>
          <p:nvPr/>
        </p:nvSpPr>
        <p:spPr>
          <a:xfrm>
            <a:off x="8275320" y="4636008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本月评审详情</a:t>
            </a:r>
            <a:endParaRPr lang="en-US" sz="1100" dirty="0"/>
          </a:p>
        </p:txBody>
      </p:sp>
      <p:sp>
        <p:nvSpPr>
          <p:cNvPr id="131" name="Text 129"/>
          <p:cNvSpPr/>
          <p:nvPr/>
        </p:nvSpPr>
        <p:spPr>
          <a:xfrm>
            <a:off x="8275320" y="4965192"/>
            <a:ext cx="1463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59E0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2026年4月 · 待评审</a:t>
            </a:r>
            <a:endParaRPr lang="en-US" sz="900" dirty="0"/>
          </a:p>
        </p:txBody>
      </p:sp>
      <p:sp>
        <p:nvSpPr>
          <p:cNvPr id="132" name="Shape 130"/>
          <p:cNvSpPr/>
          <p:nvPr/>
        </p:nvSpPr>
        <p:spPr>
          <a:xfrm>
            <a:off x="8275320" y="5330952"/>
            <a:ext cx="64008" cy="64008"/>
          </a:xfrm>
          <a:prstGeom prst="ellipse">
            <a:avLst/>
          </a:prstGeom>
          <a:solidFill>
            <a:srgbClr val="06B6D4"/>
          </a:solidFill>
          <a:ln w="6350">
            <a:solidFill>
              <a:srgbClr val="06B6D4"/>
            </a:solidFill>
            <a:prstDash val="solid"/>
          </a:ln>
        </p:spPr>
      </p:sp>
      <p:sp>
        <p:nvSpPr>
          <p:cNvPr id="133" name="Text 131"/>
          <p:cNvSpPr/>
          <p:nvPr/>
        </p:nvSpPr>
        <p:spPr>
          <a:xfrm>
            <a:off x="8421624" y="5276088"/>
            <a:ext cx="22311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60" dirty="0">
                <a:solidFill>
                  <a:srgbClr val="0F172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责任人：李晓晨</a:t>
            </a:r>
            <a:endParaRPr lang="en-US" sz="660" dirty="0"/>
          </a:p>
        </p:txBody>
      </p:sp>
      <p:sp>
        <p:nvSpPr>
          <p:cNvPr id="134" name="Shape 132"/>
          <p:cNvSpPr/>
          <p:nvPr/>
        </p:nvSpPr>
        <p:spPr>
          <a:xfrm>
            <a:off x="8275320" y="5559552"/>
            <a:ext cx="64008" cy="64008"/>
          </a:xfrm>
          <a:prstGeom prst="ellipse">
            <a:avLst/>
          </a:prstGeom>
          <a:solidFill>
            <a:srgbClr val="06B6D4"/>
          </a:solidFill>
          <a:ln w="6350">
            <a:solidFill>
              <a:srgbClr val="06B6D4"/>
            </a:solidFill>
            <a:prstDash val="solid"/>
          </a:ln>
        </p:spPr>
      </p:sp>
      <p:sp>
        <p:nvSpPr>
          <p:cNvPr id="135" name="Text 133"/>
          <p:cNvSpPr/>
          <p:nvPr/>
        </p:nvSpPr>
        <p:spPr>
          <a:xfrm>
            <a:off x="8421624" y="5504688"/>
            <a:ext cx="22311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60" dirty="0">
                <a:solidFill>
                  <a:srgbClr val="0F172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截止：04/25</a:t>
            </a:r>
            <a:endParaRPr lang="en-US" sz="660" dirty="0"/>
          </a:p>
        </p:txBody>
      </p:sp>
      <p:sp>
        <p:nvSpPr>
          <p:cNvPr id="136" name="Shape 134"/>
          <p:cNvSpPr/>
          <p:nvPr/>
        </p:nvSpPr>
        <p:spPr>
          <a:xfrm>
            <a:off x="8275320" y="5788152"/>
            <a:ext cx="64008" cy="64008"/>
          </a:xfrm>
          <a:prstGeom prst="ellipse">
            <a:avLst/>
          </a:prstGeom>
          <a:solidFill>
            <a:srgbClr val="06B6D4"/>
          </a:solidFill>
          <a:ln w="6350">
            <a:solidFill>
              <a:srgbClr val="06B6D4"/>
            </a:solidFill>
            <a:prstDash val="solid"/>
          </a:ln>
        </p:spPr>
      </p:sp>
      <p:sp>
        <p:nvSpPr>
          <p:cNvPr id="137" name="Text 135"/>
          <p:cNvSpPr/>
          <p:nvPr/>
        </p:nvSpPr>
        <p:spPr>
          <a:xfrm>
            <a:off x="8421624" y="5733288"/>
            <a:ext cx="22311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60" dirty="0">
                <a:solidFill>
                  <a:srgbClr val="0F172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必传：月度色差评审表、现场照片</a:t>
            </a:r>
            <a:endParaRPr lang="en-US" sz="660" dirty="0"/>
          </a:p>
        </p:txBody>
      </p:sp>
      <p:sp>
        <p:nvSpPr>
          <p:cNvPr id="138" name="Shape 136"/>
          <p:cNvSpPr/>
          <p:nvPr/>
        </p:nvSpPr>
        <p:spPr>
          <a:xfrm>
            <a:off x="8275320" y="6016752"/>
            <a:ext cx="64008" cy="64008"/>
          </a:xfrm>
          <a:prstGeom prst="ellipse">
            <a:avLst/>
          </a:prstGeom>
          <a:solidFill>
            <a:srgbClr val="06B6D4"/>
          </a:solidFill>
          <a:ln w="6350">
            <a:solidFill>
              <a:srgbClr val="06B6D4"/>
            </a:solidFill>
            <a:prstDash val="solid"/>
          </a:ln>
        </p:spPr>
      </p:sp>
      <p:sp>
        <p:nvSpPr>
          <p:cNvPr id="139" name="Text 137"/>
          <p:cNvSpPr/>
          <p:nvPr/>
        </p:nvSpPr>
        <p:spPr>
          <a:xfrm>
            <a:off x="8421624" y="5961888"/>
            <a:ext cx="22311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60" dirty="0">
                <a:solidFill>
                  <a:srgbClr val="0F172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问题项：待填写</a:t>
            </a:r>
            <a:endParaRPr lang="en-US" sz="660" dirty="0"/>
          </a:p>
        </p:txBody>
      </p:sp>
      <p:sp>
        <p:nvSpPr>
          <p:cNvPr id="140" name="Shape 138"/>
          <p:cNvSpPr/>
          <p:nvPr/>
        </p:nvSpPr>
        <p:spPr>
          <a:xfrm>
            <a:off x="8275320" y="6245352"/>
            <a:ext cx="64008" cy="64008"/>
          </a:xfrm>
          <a:prstGeom prst="ellipse">
            <a:avLst/>
          </a:prstGeom>
          <a:solidFill>
            <a:srgbClr val="06B6D4"/>
          </a:solidFill>
          <a:ln w="6350">
            <a:solidFill>
              <a:srgbClr val="06B6D4"/>
            </a:solidFill>
            <a:prstDash val="solid"/>
          </a:ln>
        </p:spPr>
      </p:sp>
      <p:sp>
        <p:nvSpPr>
          <p:cNvPr id="141" name="Text 139"/>
          <p:cNvSpPr/>
          <p:nvPr/>
        </p:nvSpPr>
        <p:spPr>
          <a:xfrm>
            <a:off x="8421624" y="6190488"/>
            <a:ext cx="22311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60" dirty="0">
                <a:solidFill>
                  <a:srgbClr val="0F172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整改状态：未开始</a:t>
            </a:r>
            <a:endParaRPr lang="en-US" sz="660" dirty="0"/>
          </a:p>
        </p:txBody>
      </p:sp>
      <p:sp>
        <p:nvSpPr>
          <p:cNvPr id="142" name="Shape 140"/>
          <p:cNvSpPr/>
          <p:nvPr/>
        </p:nvSpPr>
        <p:spPr>
          <a:xfrm>
            <a:off x="8275320" y="6245352"/>
            <a:ext cx="749808" cy="219456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 w="7620">
            <a:solidFill>
              <a:srgbClr val="2563EB"/>
            </a:solidFill>
            <a:prstDash val="solid"/>
          </a:ln>
        </p:spPr>
      </p:sp>
      <p:sp>
        <p:nvSpPr>
          <p:cNvPr id="143" name="Text 141"/>
          <p:cNvSpPr/>
          <p:nvPr/>
        </p:nvSpPr>
        <p:spPr>
          <a:xfrm>
            <a:off x="8275320" y="6249924"/>
            <a:ext cx="7498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4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进入评审</a:t>
            </a:r>
            <a:endParaRPr lang="en-US" sz="640" dirty="0"/>
          </a:p>
        </p:txBody>
      </p:sp>
      <p:sp>
        <p:nvSpPr>
          <p:cNvPr id="144" name="Text 142"/>
          <p:cNvSpPr/>
          <p:nvPr/>
        </p:nvSpPr>
        <p:spPr>
          <a:xfrm>
            <a:off x="11567160" y="6492240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12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6766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12｜第18步专项：颜色退出治理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02920" y="786384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人工录入年产量，系统基于阈值给出退出建议；最终结论必须人工确认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02920" y="1143000"/>
            <a:ext cx="11201400" cy="0"/>
          </a:xfrm>
          <a:prstGeom prst="line">
            <a:avLst/>
          </a:prstGeom>
          <a:noFill/>
          <a:ln w="8890">
            <a:solidFill>
              <a:srgbClr val="D9E2EC"/>
            </a:solidFill>
            <a:prstDash val="solid"/>
            <a:headEnd type="none"/>
            <a:tailEnd type="none"/>
          </a:ln>
        </p:spPr>
      </p:sp>
      <p:sp>
        <p:nvSpPr>
          <p:cNvPr id="5" name="Shape 3"/>
          <p:cNvSpPr/>
          <p:nvPr/>
        </p:nvSpPr>
        <p:spPr>
          <a:xfrm>
            <a:off x="502920" y="1051560"/>
            <a:ext cx="11201400" cy="5623560"/>
          </a:xfrm>
          <a:prstGeom prst="roundRect">
            <a:avLst>
              <a:gd name="adj" fmla="val 2602"/>
            </a:avLst>
          </a:prstGeom>
          <a:solidFill>
            <a:srgbClr val="FFFFFF"/>
          </a:solidFill>
          <a:ln w="7620">
            <a:solidFill>
              <a:srgbClr val="D9E2EC"/>
            </a:solidFill>
            <a:prstDash val="solid"/>
          </a:ln>
          <a:effectLst>
            <a:outerShdw sx="100000" sy="100000" kx="0" ky="0" algn="bl" rotWithShape="0" blurRad="6.70763816568011e+53" dist="8.943517554240149e+53" dir="5.877312307200001e+63">
              <a:srgbClr val="CBD5E1">
                <a:alpha val="2.2e+64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02920" y="1051560"/>
            <a:ext cx="11201400" cy="438912"/>
          </a:xfrm>
          <a:prstGeom prst="roundRect">
            <a:avLst>
              <a:gd name="adj" fmla="val 33333"/>
            </a:avLst>
          </a:prstGeom>
          <a:solidFill>
            <a:srgbClr val="EFF6FF"/>
          </a:solidFill>
          <a:ln w="7620">
            <a:solidFill>
              <a:srgbClr val="D9E2E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04088" y="1216152"/>
            <a:ext cx="109728" cy="109728"/>
          </a:xfrm>
          <a:prstGeom prst="ellipse">
            <a:avLst/>
          </a:prstGeom>
          <a:solidFill>
            <a:srgbClr val="F87171"/>
          </a:solidFill>
          <a:ln w="6350">
            <a:solidFill>
              <a:srgbClr val="F8717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86968" y="1216152"/>
            <a:ext cx="109728" cy="109728"/>
          </a:xfrm>
          <a:prstGeom prst="ellipse">
            <a:avLst/>
          </a:prstGeom>
          <a:solidFill>
            <a:srgbClr val="FBBF24"/>
          </a:solidFill>
          <a:ln w="6350">
            <a:solidFill>
              <a:srgbClr val="FBBF2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69848" y="1216152"/>
            <a:ext cx="109728" cy="109728"/>
          </a:xfrm>
          <a:prstGeom prst="ellipse">
            <a:avLst/>
          </a:prstGeom>
          <a:solidFill>
            <a:srgbClr val="34D399"/>
          </a:solidFill>
          <a:ln w="6350">
            <a:solidFill>
              <a:srgbClr val="34D39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344168" y="1170432"/>
            <a:ext cx="10104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颜色退出 / 年度治理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502920" y="1490472"/>
            <a:ext cx="1417320" cy="5184648"/>
          </a:xfrm>
          <a:prstGeom prst="rect">
            <a:avLst>
              <a:gd name="adj" fmla="val 5161"/>
            </a:avLst>
          </a:prstGeom>
          <a:solidFill>
            <a:srgbClr val="0F172A"/>
          </a:solidFill>
          <a:ln w="7620">
            <a:solidFill>
              <a:srgbClr val="0F172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67512" y="1673352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颜色开发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67512" y="1929384"/>
            <a:ext cx="1143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60" dirty="0">
                <a:solidFill>
                  <a:srgbClr val="CBD5E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项目管理系统</a:t>
            </a:r>
            <a:endParaRPr lang="en-US" sz="760" dirty="0"/>
          </a:p>
        </p:txBody>
      </p:sp>
      <p:sp>
        <p:nvSpPr>
          <p:cNvPr id="14" name="Shape 12"/>
          <p:cNvSpPr/>
          <p:nvPr/>
        </p:nvSpPr>
        <p:spPr>
          <a:xfrm>
            <a:off x="621792" y="2386584"/>
            <a:ext cx="1179576" cy="301752"/>
          </a:xfrm>
          <a:prstGeom prst="roundRect">
            <a:avLst>
              <a:gd name="adj" fmla="val 24242"/>
            </a:avLst>
          </a:prstGeom>
          <a:solidFill>
            <a:srgbClr val="0F172A"/>
          </a:solidFill>
          <a:ln w="7620">
            <a:solidFill>
              <a:srgbClr val="0F172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58952" y="2450592"/>
            <a:ext cx="10058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CBD5E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工作台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621792" y="2807208"/>
            <a:ext cx="1179576" cy="301752"/>
          </a:xfrm>
          <a:prstGeom prst="roundRect">
            <a:avLst>
              <a:gd name="adj" fmla="val 24242"/>
            </a:avLst>
          </a:prstGeom>
          <a:solidFill>
            <a:srgbClr val="2563EB"/>
          </a:solidFill>
          <a:ln w="7620">
            <a:solidFill>
              <a:srgbClr val="2563E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58952" y="2871216"/>
            <a:ext cx="10058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项目管理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621792" y="3227832"/>
            <a:ext cx="1179576" cy="301752"/>
          </a:xfrm>
          <a:prstGeom prst="roundRect">
            <a:avLst>
              <a:gd name="adj" fmla="val 24242"/>
            </a:avLst>
          </a:prstGeom>
          <a:solidFill>
            <a:srgbClr val="0F172A"/>
          </a:solidFill>
          <a:ln w="7620">
            <a:solidFill>
              <a:srgbClr val="0F172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58952" y="3291840"/>
            <a:ext cx="10058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CBD5E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工序管理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621792" y="3648456"/>
            <a:ext cx="1179576" cy="301752"/>
          </a:xfrm>
          <a:prstGeom prst="roundRect">
            <a:avLst>
              <a:gd name="adj" fmla="val 24242"/>
            </a:avLst>
          </a:prstGeom>
          <a:solidFill>
            <a:srgbClr val="0F172A"/>
          </a:solidFill>
          <a:ln w="7620">
            <a:solidFill>
              <a:srgbClr val="0F172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58952" y="3712464"/>
            <a:ext cx="10058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CBD5E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材料中心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621792" y="4069080"/>
            <a:ext cx="1179576" cy="301752"/>
          </a:xfrm>
          <a:prstGeom prst="roundRect">
            <a:avLst>
              <a:gd name="adj" fmla="val 24242"/>
            </a:avLst>
          </a:prstGeom>
          <a:solidFill>
            <a:srgbClr val="0F172A"/>
          </a:solidFill>
          <a:ln w="7620">
            <a:solidFill>
              <a:srgbClr val="0F172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58952" y="4133088"/>
            <a:ext cx="10058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CBD5E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月度评审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621792" y="4489704"/>
            <a:ext cx="1179576" cy="301752"/>
          </a:xfrm>
          <a:prstGeom prst="roundRect">
            <a:avLst>
              <a:gd name="adj" fmla="val 24242"/>
            </a:avLst>
          </a:prstGeom>
          <a:solidFill>
            <a:srgbClr val="0F172A"/>
          </a:solidFill>
          <a:ln w="7620">
            <a:solidFill>
              <a:srgbClr val="0F172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58952" y="4553712"/>
            <a:ext cx="10058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CBD5E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数据中心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621792" y="4910328"/>
            <a:ext cx="1179576" cy="301752"/>
          </a:xfrm>
          <a:prstGeom prst="roundRect">
            <a:avLst>
              <a:gd name="adj" fmla="val 24242"/>
            </a:avLst>
          </a:prstGeom>
          <a:solidFill>
            <a:srgbClr val="0F172A"/>
          </a:solidFill>
          <a:ln w="7620">
            <a:solidFill>
              <a:srgbClr val="0F172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58952" y="4974336"/>
            <a:ext cx="10058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CBD5E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系统设置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1920240" y="1490472"/>
            <a:ext cx="9784080" cy="512064"/>
          </a:xfrm>
          <a:prstGeom prst="rect">
            <a:avLst>
              <a:gd name="adj" fmla="val 14286"/>
            </a:avLst>
          </a:prstGeom>
          <a:solidFill>
            <a:srgbClr val="FFFFFF"/>
          </a:solidFill>
          <a:ln w="7620">
            <a:solidFill>
              <a:srgbClr val="D9E2E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212848" y="1645920"/>
            <a:ext cx="1920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20" dirty="0">
                <a:solidFill>
                  <a:srgbClr val="94A3B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搜索项目 / 颜色 / 负责人</a:t>
            </a:r>
            <a:endParaRPr lang="en-US" sz="720" dirty="0"/>
          </a:p>
        </p:txBody>
      </p:sp>
      <p:sp>
        <p:nvSpPr>
          <p:cNvPr id="30" name="Shape 28"/>
          <p:cNvSpPr/>
          <p:nvPr/>
        </p:nvSpPr>
        <p:spPr>
          <a:xfrm>
            <a:off x="9784080" y="1600200"/>
            <a:ext cx="685800" cy="274320"/>
          </a:xfrm>
          <a:prstGeom prst="roundRect">
            <a:avLst>
              <a:gd name="adj" fmla="val 26667"/>
            </a:avLst>
          </a:prstGeom>
          <a:solidFill>
            <a:srgbClr val="DBEAFE"/>
          </a:solidFill>
          <a:ln w="7620">
            <a:solidFill>
              <a:srgbClr val="DBEAFE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9838944" y="1655064"/>
            <a:ext cx="57607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60" b="1" dirty="0">
                <a:solidFill>
                  <a:srgbClr val="2563E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立即刷新</a:t>
            </a:r>
            <a:endParaRPr lang="en-US" sz="660" dirty="0"/>
          </a:p>
        </p:txBody>
      </p:sp>
      <p:sp>
        <p:nvSpPr>
          <p:cNvPr id="32" name="Text 30"/>
          <p:cNvSpPr/>
          <p:nvPr/>
        </p:nvSpPr>
        <p:spPr>
          <a:xfrm>
            <a:off x="10561320" y="1645920"/>
            <a:ext cx="9601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80" dirty="0">
                <a:solidFill>
                  <a:srgbClr val="64748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最近更新 14:32</a:t>
            </a:r>
            <a:endParaRPr lang="en-US" sz="680" dirty="0"/>
          </a:p>
        </p:txBody>
      </p:sp>
      <p:sp>
        <p:nvSpPr>
          <p:cNvPr id="33" name="Text 31"/>
          <p:cNvSpPr/>
          <p:nvPr/>
        </p:nvSpPr>
        <p:spPr>
          <a:xfrm>
            <a:off x="2148840" y="2148840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颜色退出治理</a:t>
            </a:r>
            <a:endParaRPr lang="en-US" sz="1400" dirty="0"/>
          </a:p>
        </p:txBody>
      </p:sp>
      <p:sp>
        <p:nvSpPr>
          <p:cNvPr id="34" name="Shape 32"/>
          <p:cNvSpPr/>
          <p:nvPr/>
        </p:nvSpPr>
        <p:spPr>
          <a:xfrm>
            <a:off x="2148840" y="2697480"/>
            <a:ext cx="2560320" cy="395020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7620">
            <a:solidFill>
              <a:srgbClr val="D9E2EC"/>
            </a:solidFill>
            <a:prstDash val="solid"/>
          </a:ln>
          <a:effectLst>
            <a:outerShdw sx="100000" sy="100000" kx="0" ky="0" algn="bl" rotWithShape="0" blurRad="3.0989605199493864e+205" dist="6.197921039898773e+205" dir="3.63726574859144e+240">
              <a:srgbClr val="CBD5E1">
                <a:alpha val="1.1999999999999991e+249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2377440" y="29718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年度统计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2377440" y="3319272"/>
            <a:ext cx="91440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80" dirty="0">
                <a:solidFill>
                  <a:srgbClr val="64748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统计周期</a:t>
            </a:r>
            <a:endParaRPr lang="en-US" sz="680" dirty="0"/>
          </a:p>
        </p:txBody>
      </p:sp>
      <p:sp>
        <p:nvSpPr>
          <p:cNvPr id="37" name="Shape 35"/>
          <p:cNvSpPr/>
          <p:nvPr/>
        </p:nvSpPr>
        <p:spPr>
          <a:xfrm>
            <a:off x="3291840" y="3273552"/>
            <a:ext cx="1234440" cy="256032"/>
          </a:xfrm>
          <a:prstGeom prst="roundRect">
            <a:avLst>
              <a:gd name="adj" fmla="val 21429"/>
            </a:avLst>
          </a:prstGeom>
          <a:solidFill>
            <a:srgbClr val="F8FAFC"/>
          </a:solidFill>
          <a:ln w="7620">
            <a:solidFill>
              <a:srgbClr val="D9E2EC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374136" y="3337560"/>
            <a:ext cx="1024128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80" dirty="0">
                <a:solidFill>
                  <a:srgbClr val="0F172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2026年度</a:t>
            </a:r>
            <a:endParaRPr lang="en-US" sz="680" dirty="0"/>
          </a:p>
        </p:txBody>
      </p:sp>
      <p:sp>
        <p:nvSpPr>
          <p:cNvPr id="39" name="Text 37"/>
          <p:cNvSpPr/>
          <p:nvPr/>
        </p:nvSpPr>
        <p:spPr>
          <a:xfrm>
            <a:off x="2377440" y="3739896"/>
            <a:ext cx="91440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80" dirty="0">
                <a:solidFill>
                  <a:srgbClr val="64748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年产量（人工录入）</a:t>
            </a:r>
            <a:endParaRPr lang="en-US" sz="680" dirty="0"/>
          </a:p>
        </p:txBody>
      </p:sp>
      <p:sp>
        <p:nvSpPr>
          <p:cNvPr id="40" name="Shape 38"/>
          <p:cNvSpPr/>
          <p:nvPr/>
        </p:nvSpPr>
        <p:spPr>
          <a:xfrm>
            <a:off x="3291840" y="3694176"/>
            <a:ext cx="1234440" cy="256032"/>
          </a:xfrm>
          <a:prstGeom prst="roundRect">
            <a:avLst>
              <a:gd name="adj" fmla="val 21429"/>
            </a:avLst>
          </a:prstGeom>
          <a:solidFill>
            <a:srgbClr val="F8FAFC"/>
          </a:solidFill>
          <a:ln w="7620">
            <a:solidFill>
              <a:srgbClr val="D9E2EC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374136" y="3758184"/>
            <a:ext cx="1024128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80" dirty="0">
                <a:solidFill>
                  <a:srgbClr val="0F172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18 台</a:t>
            </a:r>
            <a:endParaRPr lang="en-US" sz="680" dirty="0"/>
          </a:p>
        </p:txBody>
      </p:sp>
      <p:sp>
        <p:nvSpPr>
          <p:cNvPr id="42" name="Text 40"/>
          <p:cNvSpPr/>
          <p:nvPr/>
        </p:nvSpPr>
        <p:spPr>
          <a:xfrm>
            <a:off x="2377440" y="4160520"/>
            <a:ext cx="91440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80" dirty="0">
                <a:solidFill>
                  <a:srgbClr val="64748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退出阈值</a:t>
            </a:r>
            <a:endParaRPr lang="en-US" sz="680" dirty="0"/>
          </a:p>
        </p:txBody>
      </p:sp>
      <p:sp>
        <p:nvSpPr>
          <p:cNvPr id="43" name="Shape 41"/>
          <p:cNvSpPr/>
          <p:nvPr/>
        </p:nvSpPr>
        <p:spPr>
          <a:xfrm>
            <a:off x="3291840" y="4114800"/>
            <a:ext cx="1234440" cy="256032"/>
          </a:xfrm>
          <a:prstGeom prst="roundRect">
            <a:avLst>
              <a:gd name="adj" fmla="val 21429"/>
            </a:avLst>
          </a:prstGeom>
          <a:solidFill>
            <a:srgbClr val="F8FAFC"/>
          </a:solidFill>
          <a:ln w="7620">
            <a:solidFill>
              <a:srgbClr val="D9E2EC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3374136" y="4178808"/>
            <a:ext cx="1024128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80" dirty="0">
                <a:solidFill>
                  <a:srgbClr val="0F172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≤ 20 台</a:t>
            </a:r>
            <a:endParaRPr lang="en-US" sz="680" dirty="0"/>
          </a:p>
        </p:txBody>
      </p:sp>
      <p:sp>
        <p:nvSpPr>
          <p:cNvPr id="45" name="Text 43"/>
          <p:cNvSpPr/>
          <p:nvPr/>
        </p:nvSpPr>
        <p:spPr>
          <a:xfrm>
            <a:off x="2377440" y="4581144"/>
            <a:ext cx="91440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80" dirty="0">
                <a:solidFill>
                  <a:srgbClr val="64748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系统建议</a:t>
            </a:r>
            <a:endParaRPr lang="en-US" sz="680" dirty="0"/>
          </a:p>
        </p:txBody>
      </p:sp>
      <p:sp>
        <p:nvSpPr>
          <p:cNvPr id="46" name="Shape 44"/>
          <p:cNvSpPr/>
          <p:nvPr/>
        </p:nvSpPr>
        <p:spPr>
          <a:xfrm>
            <a:off x="3291840" y="4535424"/>
            <a:ext cx="1234440" cy="256032"/>
          </a:xfrm>
          <a:prstGeom prst="roundRect">
            <a:avLst>
              <a:gd name="adj" fmla="val 21429"/>
            </a:avLst>
          </a:prstGeom>
          <a:solidFill>
            <a:srgbClr val="FFEDD5"/>
          </a:solidFill>
          <a:ln w="7620">
            <a:solidFill>
              <a:srgbClr val="D9E2EC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3374136" y="4599432"/>
            <a:ext cx="1024128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80" b="1" dirty="0">
                <a:solidFill>
                  <a:srgbClr val="C2410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建议退出</a:t>
            </a:r>
            <a:endParaRPr lang="en-US" sz="680" dirty="0"/>
          </a:p>
        </p:txBody>
      </p:sp>
      <p:sp>
        <p:nvSpPr>
          <p:cNvPr id="48" name="Text 46"/>
          <p:cNvSpPr/>
          <p:nvPr/>
        </p:nvSpPr>
        <p:spPr>
          <a:xfrm>
            <a:off x="2377440" y="5001768"/>
            <a:ext cx="91440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80" dirty="0">
                <a:solidFill>
                  <a:srgbClr val="64748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人工结论</a:t>
            </a:r>
            <a:endParaRPr lang="en-US" sz="680" dirty="0"/>
          </a:p>
        </p:txBody>
      </p:sp>
      <p:sp>
        <p:nvSpPr>
          <p:cNvPr id="49" name="Shape 47"/>
          <p:cNvSpPr/>
          <p:nvPr/>
        </p:nvSpPr>
        <p:spPr>
          <a:xfrm>
            <a:off x="3291840" y="4956048"/>
            <a:ext cx="1234440" cy="256032"/>
          </a:xfrm>
          <a:prstGeom prst="roundRect">
            <a:avLst>
              <a:gd name="adj" fmla="val 21429"/>
            </a:avLst>
          </a:prstGeom>
          <a:solidFill>
            <a:srgbClr val="F8FAFC"/>
          </a:solidFill>
          <a:ln w="7620">
            <a:solidFill>
              <a:srgbClr val="D9E2EC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3374136" y="5020056"/>
            <a:ext cx="1024128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80" dirty="0">
                <a:solidFill>
                  <a:srgbClr val="0F172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待确认</a:t>
            </a:r>
            <a:endParaRPr lang="en-US" sz="680" dirty="0"/>
          </a:p>
        </p:txBody>
      </p:sp>
      <p:sp>
        <p:nvSpPr>
          <p:cNvPr id="51" name="Text 49"/>
          <p:cNvSpPr/>
          <p:nvPr/>
        </p:nvSpPr>
        <p:spPr>
          <a:xfrm>
            <a:off x="2377440" y="5422392"/>
            <a:ext cx="91440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80" dirty="0">
                <a:solidFill>
                  <a:srgbClr val="64748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生效日期</a:t>
            </a:r>
            <a:endParaRPr lang="en-US" sz="680" dirty="0"/>
          </a:p>
        </p:txBody>
      </p:sp>
      <p:sp>
        <p:nvSpPr>
          <p:cNvPr id="52" name="Shape 50"/>
          <p:cNvSpPr/>
          <p:nvPr/>
        </p:nvSpPr>
        <p:spPr>
          <a:xfrm>
            <a:off x="3291840" y="5376672"/>
            <a:ext cx="1234440" cy="256032"/>
          </a:xfrm>
          <a:prstGeom prst="roundRect">
            <a:avLst>
              <a:gd name="adj" fmla="val 21429"/>
            </a:avLst>
          </a:prstGeom>
          <a:solidFill>
            <a:srgbClr val="F8FAFC"/>
          </a:solidFill>
          <a:ln w="7620">
            <a:solidFill>
              <a:srgbClr val="D9E2EC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3374136" y="5440680"/>
            <a:ext cx="1024128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80" dirty="0">
                <a:solidFill>
                  <a:srgbClr val="0F172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未填写</a:t>
            </a:r>
            <a:endParaRPr lang="en-US" sz="680" dirty="0"/>
          </a:p>
        </p:txBody>
      </p:sp>
      <p:sp>
        <p:nvSpPr>
          <p:cNvPr id="54" name="Shape 52"/>
          <p:cNvSpPr/>
          <p:nvPr/>
        </p:nvSpPr>
        <p:spPr>
          <a:xfrm>
            <a:off x="2377440" y="6428232"/>
            <a:ext cx="676656" cy="219456"/>
          </a:xfrm>
          <a:prstGeom prst="roundRect">
            <a:avLst>
              <a:gd name="adj" fmla="val 50000"/>
            </a:avLst>
          </a:prstGeom>
          <a:solidFill>
            <a:srgbClr val="F8FAFC"/>
          </a:solidFill>
          <a:ln w="7620">
            <a:solidFill>
              <a:srgbClr val="F8FAFC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2377440" y="6432804"/>
            <a:ext cx="6766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40" b="1" dirty="0">
                <a:solidFill>
                  <a:srgbClr val="64748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保存草稿</a:t>
            </a:r>
            <a:endParaRPr lang="en-US" sz="640" dirty="0"/>
          </a:p>
        </p:txBody>
      </p:sp>
      <p:sp>
        <p:nvSpPr>
          <p:cNvPr id="56" name="Shape 54"/>
          <p:cNvSpPr/>
          <p:nvPr/>
        </p:nvSpPr>
        <p:spPr>
          <a:xfrm>
            <a:off x="3172968" y="6428232"/>
            <a:ext cx="960120" cy="219456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 w="7620">
            <a:solidFill>
              <a:srgbClr val="2563EB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3172968" y="6432804"/>
            <a:ext cx="960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4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提交治理结论</a:t>
            </a:r>
            <a:endParaRPr lang="en-US" sz="640" dirty="0"/>
          </a:p>
        </p:txBody>
      </p:sp>
      <p:sp>
        <p:nvSpPr>
          <p:cNvPr id="58" name="Shape 56"/>
          <p:cNvSpPr/>
          <p:nvPr/>
        </p:nvSpPr>
        <p:spPr>
          <a:xfrm>
            <a:off x="5029200" y="2697480"/>
            <a:ext cx="2926080" cy="3950208"/>
          </a:xfrm>
          <a:prstGeom prst="roundRect">
            <a:avLst>
              <a:gd name="adj" fmla="val 4375"/>
            </a:avLst>
          </a:prstGeom>
          <a:solidFill>
            <a:srgbClr val="FFFFFF"/>
          </a:solidFill>
          <a:ln w="7620">
            <a:solidFill>
              <a:srgbClr val="D9E2EC"/>
            </a:solidFill>
            <a:prstDash val="solid"/>
          </a:ln>
          <a:effectLst>
            <a:outerShdw sx="100000" sy="100000" kx="0" ky="0" algn="bl" rotWithShape="0" blurRad="3.9356798603357206e+209" dist="7.871359720671441e+209" dir="2.182359449154864e+245">
              <a:srgbClr val="CBD5E1">
                <a:alpha val="1.1999999999999991e+254"/>
              </a:srgbClr>
            </a:outerShdw>
          </a:effectLst>
        </p:spPr>
      </p:sp>
      <p:sp>
        <p:nvSpPr>
          <p:cNvPr id="59" name="Text 57"/>
          <p:cNvSpPr/>
          <p:nvPr/>
        </p:nvSpPr>
        <p:spPr>
          <a:xfrm>
            <a:off x="5257800" y="29718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退出判断</a:t>
            </a:r>
            <a:endParaRPr lang="en-US" sz="1100" dirty="0"/>
          </a:p>
        </p:txBody>
      </p:sp>
      <p:sp>
        <p:nvSpPr>
          <p:cNvPr id="60" name="Shape 58"/>
          <p:cNvSpPr/>
          <p:nvPr/>
        </p:nvSpPr>
        <p:spPr>
          <a:xfrm>
            <a:off x="5257800" y="3355848"/>
            <a:ext cx="2331720" cy="960120"/>
          </a:xfrm>
          <a:prstGeom prst="roundRect">
            <a:avLst>
              <a:gd name="adj" fmla="val 11429"/>
            </a:avLst>
          </a:prstGeom>
          <a:solidFill>
            <a:srgbClr val="FFEDD5"/>
          </a:solidFill>
          <a:ln w="7620">
            <a:solidFill>
              <a:srgbClr val="FDBA74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5440680" y="3611880"/>
            <a:ext cx="1645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2410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系统建议：建议退出</a:t>
            </a:r>
            <a:endParaRPr lang="en-US" sz="1200" dirty="0"/>
          </a:p>
        </p:txBody>
      </p:sp>
      <p:sp>
        <p:nvSpPr>
          <p:cNvPr id="62" name="Text 60"/>
          <p:cNvSpPr/>
          <p:nvPr/>
        </p:nvSpPr>
        <p:spPr>
          <a:xfrm>
            <a:off x="5486400" y="3931920"/>
            <a:ext cx="160020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80" dirty="0">
                <a:solidFill>
                  <a:srgbClr val="C2410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原因：年产量 18 台 ≤ 阈值 20 台</a:t>
            </a:r>
            <a:endParaRPr lang="en-US" sz="680" dirty="0"/>
          </a:p>
        </p:txBody>
      </p:sp>
      <p:sp>
        <p:nvSpPr>
          <p:cNvPr id="63" name="Shape 61"/>
          <p:cNvSpPr/>
          <p:nvPr/>
        </p:nvSpPr>
        <p:spPr>
          <a:xfrm>
            <a:off x="5303520" y="4718304"/>
            <a:ext cx="64008" cy="64008"/>
          </a:xfrm>
          <a:prstGeom prst="ellipse">
            <a:avLst/>
          </a:prstGeom>
          <a:solidFill>
            <a:srgbClr val="C2410C"/>
          </a:solidFill>
          <a:ln w="6350">
            <a:solidFill>
              <a:srgbClr val="C2410C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5449824" y="4663440"/>
            <a:ext cx="22311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40" dirty="0">
                <a:solidFill>
                  <a:srgbClr val="0F172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最终结论可选择：退出 / 保留</a:t>
            </a:r>
            <a:endParaRPr lang="en-US" sz="740" dirty="0"/>
          </a:p>
        </p:txBody>
      </p:sp>
      <p:sp>
        <p:nvSpPr>
          <p:cNvPr id="65" name="Shape 63"/>
          <p:cNvSpPr/>
          <p:nvPr/>
        </p:nvSpPr>
        <p:spPr>
          <a:xfrm>
            <a:off x="5303520" y="5029200"/>
            <a:ext cx="64008" cy="64008"/>
          </a:xfrm>
          <a:prstGeom prst="ellipse">
            <a:avLst/>
          </a:prstGeom>
          <a:solidFill>
            <a:srgbClr val="C2410C"/>
          </a:solidFill>
          <a:ln w="6350">
            <a:solidFill>
              <a:srgbClr val="C2410C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5449824" y="4974336"/>
            <a:ext cx="22311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40" dirty="0">
                <a:solidFill>
                  <a:srgbClr val="0F172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必须填写退出原因或保留原因</a:t>
            </a:r>
            <a:endParaRPr lang="en-US" sz="740" dirty="0"/>
          </a:p>
        </p:txBody>
      </p:sp>
      <p:sp>
        <p:nvSpPr>
          <p:cNvPr id="67" name="Shape 65"/>
          <p:cNvSpPr/>
          <p:nvPr/>
        </p:nvSpPr>
        <p:spPr>
          <a:xfrm>
            <a:off x="5303520" y="5340096"/>
            <a:ext cx="64008" cy="64008"/>
          </a:xfrm>
          <a:prstGeom prst="ellipse">
            <a:avLst/>
          </a:prstGeom>
          <a:solidFill>
            <a:srgbClr val="C2410C"/>
          </a:solidFill>
          <a:ln w="6350">
            <a:solidFill>
              <a:srgbClr val="C2410C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5449824" y="5285232"/>
            <a:ext cx="22311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40" dirty="0">
                <a:solidFill>
                  <a:srgbClr val="0F172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生成颜色整合清单并归档</a:t>
            </a:r>
            <a:endParaRPr lang="en-US" sz="740" dirty="0"/>
          </a:p>
        </p:txBody>
      </p:sp>
      <p:sp>
        <p:nvSpPr>
          <p:cNvPr id="69" name="Shape 67"/>
          <p:cNvSpPr/>
          <p:nvPr/>
        </p:nvSpPr>
        <p:spPr>
          <a:xfrm>
            <a:off x="5303520" y="5650992"/>
            <a:ext cx="64008" cy="64008"/>
          </a:xfrm>
          <a:prstGeom prst="ellipse">
            <a:avLst/>
          </a:prstGeom>
          <a:solidFill>
            <a:srgbClr val="C2410C"/>
          </a:solidFill>
          <a:ln w="6350">
            <a:solidFill>
              <a:srgbClr val="C2410C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5449824" y="5596128"/>
            <a:ext cx="22311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40" dirty="0">
                <a:solidFill>
                  <a:srgbClr val="0F172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动作全部写入审计日志</a:t>
            </a:r>
            <a:endParaRPr lang="en-US" sz="740" dirty="0"/>
          </a:p>
        </p:txBody>
      </p:sp>
      <p:sp>
        <p:nvSpPr>
          <p:cNvPr id="71" name="Shape 69"/>
          <p:cNvSpPr/>
          <p:nvPr/>
        </p:nvSpPr>
        <p:spPr>
          <a:xfrm>
            <a:off x="8275320" y="2697480"/>
            <a:ext cx="2743200" cy="3950208"/>
          </a:xfrm>
          <a:prstGeom prst="roundRect">
            <a:avLst>
              <a:gd name="adj" fmla="val 4667"/>
            </a:avLst>
          </a:prstGeom>
          <a:solidFill>
            <a:srgbClr val="FFFFFF"/>
          </a:solidFill>
          <a:ln w="7620">
            <a:solidFill>
              <a:srgbClr val="D9E2EC"/>
            </a:solidFill>
            <a:prstDash val="solid"/>
          </a:ln>
          <a:effectLst>
            <a:outerShdw sx="100000" sy="100000" kx="0" ky="0" algn="bl" rotWithShape="0" blurRad="4.9983134226263654e+213" dist="9.996626845252731e+213" dir="1.3094156694929184e+250">
              <a:srgbClr val="CBD5E1">
                <a:alpha val="1.1999999999999991e+259"/>
              </a:srgbClr>
            </a:outerShdw>
          </a:effectLst>
        </p:spPr>
      </p:sp>
      <p:sp>
        <p:nvSpPr>
          <p:cNvPr id="72" name="Text 70"/>
          <p:cNvSpPr/>
          <p:nvPr/>
        </p:nvSpPr>
        <p:spPr>
          <a:xfrm>
            <a:off x="8503920" y="297180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材料与历史</a:t>
            </a:r>
            <a:endParaRPr lang="en-US" sz="1100" dirty="0"/>
          </a:p>
        </p:txBody>
      </p:sp>
      <p:sp>
        <p:nvSpPr>
          <p:cNvPr id="73" name="Shape 71"/>
          <p:cNvSpPr/>
          <p:nvPr/>
        </p:nvSpPr>
        <p:spPr>
          <a:xfrm>
            <a:off x="8503920" y="3319272"/>
            <a:ext cx="2148840" cy="384048"/>
          </a:xfrm>
          <a:prstGeom prst="roundRect">
            <a:avLst>
              <a:gd name="adj" fmla="val 19048"/>
            </a:avLst>
          </a:prstGeom>
          <a:solidFill>
            <a:srgbClr val="F8FAFC"/>
          </a:solidFill>
          <a:ln w="7620">
            <a:solidFill>
              <a:srgbClr val="D9E2EC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8641080" y="3429000"/>
            <a:ext cx="1097280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70" dirty="0">
                <a:solidFill>
                  <a:srgbClr val="0F172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年产量记录</a:t>
            </a:r>
            <a:endParaRPr lang="en-US" sz="670" dirty="0"/>
          </a:p>
        </p:txBody>
      </p:sp>
      <p:sp>
        <p:nvSpPr>
          <p:cNvPr id="75" name="Shape 73"/>
          <p:cNvSpPr/>
          <p:nvPr/>
        </p:nvSpPr>
        <p:spPr>
          <a:xfrm>
            <a:off x="9848088" y="3410712"/>
            <a:ext cx="621792" cy="182880"/>
          </a:xfrm>
          <a:prstGeom prst="roundRect">
            <a:avLst>
              <a:gd name="adj" fmla="val 60000"/>
            </a:avLst>
          </a:prstGeom>
          <a:solidFill>
            <a:srgbClr val="D1FAE5"/>
          </a:solidFill>
          <a:ln w="7620">
            <a:solidFill>
              <a:srgbClr val="D1FAE5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9848088" y="3415284"/>
            <a:ext cx="6217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20" b="1" dirty="0">
                <a:solidFill>
                  <a:srgbClr val="10B98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已提交</a:t>
            </a:r>
            <a:endParaRPr lang="en-US" sz="620" dirty="0"/>
          </a:p>
        </p:txBody>
      </p:sp>
      <p:sp>
        <p:nvSpPr>
          <p:cNvPr id="77" name="Shape 75"/>
          <p:cNvSpPr/>
          <p:nvPr/>
        </p:nvSpPr>
        <p:spPr>
          <a:xfrm>
            <a:off x="8503920" y="3849624"/>
            <a:ext cx="2148840" cy="384048"/>
          </a:xfrm>
          <a:prstGeom prst="roundRect">
            <a:avLst>
              <a:gd name="adj" fmla="val 19048"/>
            </a:avLst>
          </a:prstGeom>
          <a:solidFill>
            <a:srgbClr val="F8FAFC"/>
          </a:solidFill>
          <a:ln w="7620">
            <a:solidFill>
              <a:srgbClr val="D9E2EC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8641080" y="3959352"/>
            <a:ext cx="1097280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70" dirty="0">
                <a:solidFill>
                  <a:srgbClr val="0F172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颜色整合清单</a:t>
            </a:r>
            <a:endParaRPr lang="en-US" sz="670" dirty="0"/>
          </a:p>
        </p:txBody>
      </p:sp>
      <p:sp>
        <p:nvSpPr>
          <p:cNvPr id="79" name="Shape 77"/>
          <p:cNvSpPr/>
          <p:nvPr/>
        </p:nvSpPr>
        <p:spPr>
          <a:xfrm>
            <a:off x="9848088" y="3941064"/>
            <a:ext cx="621792" cy="182880"/>
          </a:xfrm>
          <a:prstGeom prst="roundRect">
            <a:avLst>
              <a:gd name="adj" fmla="val 60000"/>
            </a:avLst>
          </a:prstGeom>
          <a:solidFill>
            <a:srgbClr val="F1F5F9"/>
          </a:solidFill>
          <a:ln w="7620">
            <a:solidFill>
              <a:srgbClr val="F1F5F9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9848088" y="3945636"/>
            <a:ext cx="6217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20" b="1" dirty="0">
                <a:solidFill>
                  <a:srgbClr val="64748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未提交</a:t>
            </a:r>
            <a:endParaRPr lang="en-US" sz="620" dirty="0"/>
          </a:p>
        </p:txBody>
      </p:sp>
      <p:sp>
        <p:nvSpPr>
          <p:cNvPr id="81" name="Shape 79"/>
          <p:cNvSpPr/>
          <p:nvPr/>
        </p:nvSpPr>
        <p:spPr>
          <a:xfrm>
            <a:off x="8503920" y="4379976"/>
            <a:ext cx="2148840" cy="384048"/>
          </a:xfrm>
          <a:prstGeom prst="roundRect">
            <a:avLst>
              <a:gd name="adj" fmla="val 19048"/>
            </a:avLst>
          </a:prstGeom>
          <a:solidFill>
            <a:srgbClr val="F8FAFC"/>
          </a:solidFill>
          <a:ln w="7620">
            <a:solidFill>
              <a:srgbClr val="D9E2EC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8641080" y="4489704"/>
            <a:ext cx="1097280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70" dirty="0">
                <a:solidFill>
                  <a:srgbClr val="0F172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退出评审记录</a:t>
            </a:r>
            <a:endParaRPr lang="en-US" sz="670" dirty="0"/>
          </a:p>
        </p:txBody>
      </p:sp>
      <p:sp>
        <p:nvSpPr>
          <p:cNvPr id="83" name="Shape 81"/>
          <p:cNvSpPr/>
          <p:nvPr/>
        </p:nvSpPr>
        <p:spPr>
          <a:xfrm>
            <a:off x="9848088" y="4471416"/>
            <a:ext cx="621792" cy="182880"/>
          </a:xfrm>
          <a:prstGeom prst="roundRect">
            <a:avLst>
              <a:gd name="adj" fmla="val 60000"/>
            </a:avLst>
          </a:prstGeom>
          <a:solidFill>
            <a:srgbClr val="F1F5F9"/>
          </a:solidFill>
          <a:ln w="7620">
            <a:solidFill>
              <a:srgbClr val="F1F5F9"/>
            </a:solidFill>
            <a:prstDash val="solid"/>
          </a:ln>
        </p:spPr>
      </p:sp>
      <p:sp>
        <p:nvSpPr>
          <p:cNvPr id="84" name="Text 82"/>
          <p:cNvSpPr/>
          <p:nvPr/>
        </p:nvSpPr>
        <p:spPr>
          <a:xfrm>
            <a:off x="9848088" y="4475988"/>
            <a:ext cx="6217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20" b="1" dirty="0">
                <a:solidFill>
                  <a:srgbClr val="64748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未提交</a:t>
            </a:r>
            <a:endParaRPr lang="en-US" sz="620" dirty="0"/>
          </a:p>
        </p:txBody>
      </p:sp>
      <p:sp>
        <p:nvSpPr>
          <p:cNvPr id="85" name="Text 83"/>
          <p:cNvSpPr/>
          <p:nvPr/>
        </p:nvSpPr>
        <p:spPr>
          <a:xfrm>
            <a:off x="8503920" y="5212080"/>
            <a:ext cx="7315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20" b="1" dirty="0">
                <a:solidFill>
                  <a:srgbClr val="0F172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历史年度</a:t>
            </a:r>
            <a:endParaRPr lang="en-US" sz="720" dirty="0"/>
          </a:p>
        </p:txBody>
      </p:sp>
      <p:sp>
        <p:nvSpPr>
          <p:cNvPr id="86" name="Text 84"/>
          <p:cNvSpPr/>
          <p:nvPr/>
        </p:nvSpPr>
        <p:spPr>
          <a:xfrm>
            <a:off x="8503920" y="548640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80" dirty="0">
                <a:solidFill>
                  <a:srgbClr val="64748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2025：年产量 32 台，保留</a:t>
            </a:r>
            <a:endParaRPr lang="en-US" sz="680" dirty="0"/>
          </a:p>
          <a:p>
            <a:pPr algn="l" indent="0" marL="0">
              <a:buNone/>
            </a:pPr>
            <a:r>
              <a:rPr lang="en-US" sz="680" dirty="0">
                <a:solidFill>
                  <a:srgbClr val="64748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2026：年产量 18 台，建议退出</a:t>
            </a:r>
            <a:endParaRPr lang="en-US" sz="680" dirty="0"/>
          </a:p>
        </p:txBody>
      </p:sp>
      <p:sp>
        <p:nvSpPr>
          <p:cNvPr id="87" name="Text 85"/>
          <p:cNvSpPr/>
          <p:nvPr/>
        </p:nvSpPr>
        <p:spPr>
          <a:xfrm>
            <a:off x="11567160" y="6492240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13</a:t>
            </a:r>
            <a:endParaRPr lang="en-US" sz="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6766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13｜数据中心：总数据收集与管理分析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02920" y="786384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从流程数据自动汇总项目周期、部门责任、返工、费用、月度评审与退出治理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02920" y="1143000"/>
            <a:ext cx="11201400" cy="0"/>
          </a:xfrm>
          <a:prstGeom prst="line">
            <a:avLst/>
          </a:prstGeom>
          <a:noFill/>
          <a:ln w="8890">
            <a:solidFill>
              <a:srgbClr val="D9E2EC"/>
            </a:solidFill>
            <a:prstDash val="solid"/>
            <a:headEnd type="none"/>
            <a:tailEnd type="none"/>
          </a:ln>
        </p:spPr>
      </p:sp>
      <p:sp>
        <p:nvSpPr>
          <p:cNvPr id="5" name="Shape 3"/>
          <p:cNvSpPr/>
          <p:nvPr/>
        </p:nvSpPr>
        <p:spPr>
          <a:xfrm>
            <a:off x="502920" y="1051560"/>
            <a:ext cx="11201400" cy="5623560"/>
          </a:xfrm>
          <a:prstGeom prst="roundRect">
            <a:avLst>
              <a:gd name="adj" fmla="val 2602"/>
            </a:avLst>
          </a:prstGeom>
          <a:solidFill>
            <a:srgbClr val="FFFFFF"/>
          </a:solidFill>
          <a:ln w="7620">
            <a:solidFill>
              <a:srgbClr val="D9E2EC"/>
            </a:solidFill>
            <a:prstDash val="solid"/>
          </a:ln>
          <a:effectLst>
            <a:outerShdw sx="100000" sy="100000" kx="0" ky="0" algn="bl" rotWithShape="0" blurRad="8.518700470413739e+57" dist="1.1358267293884988e+58" dir="3.526387384320001e+68">
              <a:srgbClr val="CBD5E1">
                <a:alpha val="2.2e+69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02920" y="1051560"/>
            <a:ext cx="11201400" cy="438912"/>
          </a:xfrm>
          <a:prstGeom prst="roundRect">
            <a:avLst>
              <a:gd name="adj" fmla="val 33333"/>
            </a:avLst>
          </a:prstGeom>
          <a:solidFill>
            <a:srgbClr val="EFF6FF"/>
          </a:solidFill>
          <a:ln w="7620">
            <a:solidFill>
              <a:srgbClr val="D9E2E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04088" y="1216152"/>
            <a:ext cx="109728" cy="109728"/>
          </a:xfrm>
          <a:prstGeom prst="ellipse">
            <a:avLst/>
          </a:prstGeom>
          <a:solidFill>
            <a:srgbClr val="F87171"/>
          </a:solidFill>
          <a:ln w="6350">
            <a:solidFill>
              <a:srgbClr val="F8717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86968" y="1216152"/>
            <a:ext cx="109728" cy="109728"/>
          </a:xfrm>
          <a:prstGeom prst="ellipse">
            <a:avLst/>
          </a:prstGeom>
          <a:solidFill>
            <a:srgbClr val="FBBF24"/>
          </a:solidFill>
          <a:ln w="6350">
            <a:solidFill>
              <a:srgbClr val="FBBF2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69848" y="1216152"/>
            <a:ext cx="109728" cy="109728"/>
          </a:xfrm>
          <a:prstGeom prst="ellipse">
            <a:avLst/>
          </a:prstGeom>
          <a:solidFill>
            <a:srgbClr val="34D399"/>
          </a:solidFill>
          <a:ln w="6350">
            <a:solidFill>
              <a:srgbClr val="34D39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344168" y="1170432"/>
            <a:ext cx="10104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数据中心 / 项目分析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502920" y="1490472"/>
            <a:ext cx="1417320" cy="5184648"/>
          </a:xfrm>
          <a:prstGeom prst="rect">
            <a:avLst>
              <a:gd name="adj" fmla="val 5161"/>
            </a:avLst>
          </a:prstGeom>
          <a:solidFill>
            <a:srgbClr val="0F172A"/>
          </a:solidFill>
          <a:ln w="7620">
            <a:solidFill>
              <a:srgbClr val="0F172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67512" y="1673352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颜色开发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67512" y="1929384"/>
            <a:ext cx="1143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60" dirty="0">
                <a:solidFill>
                  <a:srgbClr val="CBD5E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项目管理系统</a:t>
            </a:r>
            <a:endParaRPr lang="en-US" sz="760" dirty="0"/>
          </a:p>
        </p:txBody>
      </p:sp>
      <p:sp>
        <p:nvSpPr>
          <p:cNvPr id="14" name="Shape 12"/>
          <p:cNvSpPr/>
          <p:nvPr/>
        </p:nvSpPr>
        <p:spPr>
          <a:xfrm>
            <a:off x="621792" y="2386584"/>
            <a:ext cx="1179576" cy="301752"/>
          </a:xfrm>
          <a:prstGeom prst="roundRect">
            <a:avLst>
              <a:gd name="adj" fmla="val 24242"/>
            </a:avLst>
          </a:prstGeom>
          <a:solidFill>
            <a:srgbClr val="0F172A"/>
          </a:solidFill>
          <a:ln w="7620">
            <a:solidFill>
              <a:srgbClr val="0F172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58952" y="2450592"/>
            <a:ext cx="10058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CBD5E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工作台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621792" y="2807208"/>
            <a:ext cx="1179576" cy="301752"/>
          </a:xfrm>
          <a:prstGeom prst="roundRect">
            <a:avLst>
              <a:gd name="adj" fmla="val 24242"/>
            </a:avLst>
          </a:prstGeom>
          <a:solidFill>
            <a:srgbClr val="0F172A"/>
          </a:solidFill>
          <a:ln w="7620">
            <a:solidFill>
              <a:srgbClr val="0F172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58952" y="2871216"/>
            <a:ext cx="10058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CBD5E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项目管理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621792" y="3227832"/>
            <a:ext cx="1179576" cy="301752"/>
          </a:xfrm>
          <a:prstGeom prst="roundRect">
            <a:avLst>
              <a:gd name="adj" fmla="val 24242"/>
            </a:avLst>
          </a:prstGeom>
          <a:solidFill>
            <a:srgbClr val="0F172A"/>
          </a:solidFill>
          <a:ln w="7620">
            <a:solidFill>
              <a:srgbClr val="0F172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58952" y="3291840"/>
            <a:ext cx="10058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CBD5E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工序管理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621792" y="3648456"/>
            <a:ext cx="1179576" cy="301752"/>
          </a:xfrm>
          <a:prstGeom prst="roundRect">
            <a:avLst>
              <a:gd name="adj" fmla="val 24242"/>
            </a:avLst>
          </a:prstGeom>
          <a:solidFill>
            <a:srgbClr val="0F172A"/>
          </a:solidFill>
          <a:ln w="7620">
            <a:solidFill>
              <a:srgbClr val="0F172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58952" y="3712464"/>
            <a:ext cx="10058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CBD5E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材料中心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621792" y="4069080"/>
            <a:ext cx="1179576" cy="301752"/>
          </a:xfrm>
          <a:prstGeom prst="roundRect">
            <a:avLst>
              <a:gd name="adj" fmla="val 24242"/>
            </a:avLst>
          </a:prstGeom>
          <a:solidFill>
            <a:srgbClr val="0F172A"/>
          </a:solidFill>
          <a:ln w="7620">
            <a:solidFill>
              <a:srgbClr val="0F172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58952" y="4133088"/>
            <a:ext cx="10058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CBD5E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月度评审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621792" y="4489704"/>
            <a:ext cx="1179576" cy="301752"/>
          </a:xfrm>
          <a:prstGeom prst="roundRect">
            <a:avLst>
              <a:gd name="adj" fmla="val 24242"/>
            </a:avLst>
          </a:prstGeom>
          <a:solidFill>
            <a:srgbClr val="2563EB"/>
          </a:solidFill>
          <a:ln w="7620">
            <a:solidFill>
              <a:srgbClr val="2563E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58952" y="4553712"/>
            <a:ext cx="10058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数据中心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621792" y="4910328"/>
            <a:ext cx="1179576" cy="301752"/>
          </a:xfrm>
          <a:prstGeom prst="roundRect">
            <a:avLst>
              <a:gd name="adj" fmla="val 24242"/>
            </a:avLst>
          </a:prstGeom>
          <a:solidFill>
            <a:srgbClr val="0F172A"/>
          </a:solidFill>
          <a:ln w="7620">
            <a:solidFill>
              <a:srgbClr val="0F172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58952" y="4974336"/>
            <a:ext cx="10058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CBD5E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系统设置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1920240" y="1490472"/>
            <a:ext cx="9784080" cy="512064"/>
          </a:xfrm>
          <a:prstGeom prst="rect">
            <a:avLst>
              <a:gd name="adj" fmla="val 14286"/>
            </a:avLst>
          </a:prstGeom>
          <a:solidFill>
            <a:srgbClr val="FFFFFF"/>
          </a:solidFill>
          <a:ln w="7620">
            <a:solidFill>
              <a:srgbClr val="D9E2E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212848" y="1645920"/>
            <a:ext cx="1920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20" dirty="0">
                <a:solidFill>
                  <a:srgbClr val="94A3B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搜索项目 / 颜色 / 负责人</a:t>
            </a:r>
            <a:endParaRPr lang="en-US" sz="720" dirty="0"/>
          </a:p>
        </p:txBody>
      </p:sp>
      <p:sp>
        <p:nvSpPr>
          <p:cNvPr id="30" name="Shape 28"/>
          <p:cNvSpPr/>
          <p:nvPr/>
        </p:nvSpPr>
        <p:spPr>
          <a:xfrm>
            <a:off x="9784080" y="1600200"/>
            <a:ext cx="685800" cy="274320"/>
          </a:xfrm>
          <a:prstGeom prst="roundRect">
            <a:avLst>
              <a:gd name="adj" fmla="val 26667"/>
            </a:avLst>
          </a:prstGeom>
          <a:solidFill>
            <a:srgbClr val="DBEAFE"/>
          </a:solidFill>
          <a:ln w="7620">
            <a:solidFill>
              <a:srgbClr val="DBEAFE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9838944" y="1655064"/>
            <a:ext cx="57607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60" b="1" dirty="0">
                <a:solidFill>
                  <a:srgbClr val="2563E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立即刷新</a:t>
            </a:r>
            <a:endParaRPr lang="en-US" sz="660" dirty="0"/>
          </a:p>
        </p:txBody>
      </p:sp>
      <p:sp>
        <p:nvSpPr>
          <p:cNvPr id="32" name="Text 30"/>
          <p:cNvSpPr/>
          <p:nvPr/>
        </p:nvSpPr>
        <p:spPr>
          <a:xfrm>
            <a:off x="10561320" y="1645920"/>
            <a:ext cx="9601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80" dirty="0">
                <a:solidFill>
                  <a:srgbClr val="64748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最近更新 14:32</a:t>
            </a:r>
            <a:endParaRPr lang="en-US" sz="680" dirty="0"/>
          </a:p>
        </p:txBody>
      </p:sp>
      <p:sp>
        <p:nvSpPr>
          <p:cNvPr id="33" name="Text 31"/>
          <p:cNvSpPr/>
          <p:nvPr/>
        </p:nvSpPr>
        <p:spPr>
          <a:xfrm>
            <a:off x="2148840" y="214884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数据中心</a:t>
            </a:r>
            <a:endParaRPr lang="en-US" sz="1400" dirty="0"/>
          </a:p>
        </p:txBody>
      </p:sp>
      <p:sp>
        <p:nvSpPr>
          <p:cNvPr id="34" name="Shape 32"/>
          <p:cNvSpPr/>
          <p:nvPr/>
        </p:nvSpPr>
        <p:spPr>
          <a:xfrm>
            <a:off x="2148840" y="2624328"/>
            <a:ext cx="1417320" cy="621792"/>
          </a:xfrm>
          <a:prstGeom prst="roundRect">
            <a:avLst>
              <a:gd name="adj" fmla="val 19118"/>
            </a:avLst>
          </a:prstGeom>
          <a:solidFill>
            <a:srgbClr val="FFFFFF"/>
          </a:solidFill>
          <a:ln w="7620">
            <a:solidFill>
              <a:srgbClr val="D9E2EC"/>
            </a:solidFill>
            <a:prstDash val="solid"/>
          </a:ln>
          <a:effectLst>
            <a:outerShdw sx="100000" sy="100000" kx="0" ky="0" algn="bl" rotWithShape="0" blurRad="6.347858046735484e+217" dist="1.2695716093470969e+218" dir="7.85649401695751e+254">
              <a:srgbClr val="CBD5E1">
                <a:alpha val="1.199999999999999e+264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2258568" y="2734056"/>
            <a:ext cx="292608" cy="292608"/>
          </a:xfrm>
          <a:prstGeom prst="roundRect">
            <a:avLst>
              <a:gd name="adj" fmla="val 25000"/>
            </a:avLst>
          </a:prstGeom>
          <a:solidFill>
            <a:srgbClr val="2563EB"/>
          </a:solidFill>
          <a:ln w="7620">
            <a:solidFill>
              <a:srgbClr val="2563EB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258568" y="2779776"/>
            <a:ext cx="29260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周</a:t>
            </a:r>
            <a:endParaRPr lang="en-US" sz="700" dirty="0"/>
          </a:p>
        </p:txBody>
      </p:sp>
      <p:sp>
        <p:nvSpPr>
          <p:cNvPr id="37" name="Text 35"/>
          <p:cNvSpPr/>
          <p:nvPr/>
        </p:nvSpPr>
        <p:spPr>
          <a:xfrm>
            <a:off x="2624328" y="2752344"/>
            <a:ext cx="868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40" dirty="0">
                <a:solidFill>
                  <a:srgbClr val="64748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平均开发周期</a:t>
            </a:r>
            <a:endParaRPr lang="en-US" sz="740" dirty="0"/>
          </a:p>
        </p:txBody>
      </p:sp>
      <p:sp>
        <p:nvSpPr>
          <p:cNvPr id="38" name="Text 36"/>
          <p:cNvSpPr/>
          <p:nvPr/>
        </p:nvSpPr>
        <p:spPr>
          <a:xfrm>
            <a:off x="2624328" y="2971800"/>
            <a:ext cx="502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68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3108960" y="3026664"/>
            <a:ext cx="4114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20" dirty="0">
                <a:solidFill>
                  <a:srgbClr val="64748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天</a:t>
            </a:r>
            <a:endParaRPr lang="en-US" sz="720" dirty="0"/>
          </a:p>
        </p:txBody>
      </p:sp>
      <p:sp>
        <p:nvSpPr>
          <p:cNvPr id="40" name="Shape 38"/>
          <p:cNvSpPr/>
          <p:nvPr/>
        </p:nvSpPr>
        <p:spPr>
          <a:xfrm>
            <a:off x="3721608" y="2624328"/>
            <a:ext cx="1417320" cy="621792"/>
          </a:xfrm>
          <a:prstGeom prst="roundRect">
            <a:avLst>
              <a:gd name="adj" fmla="val 19118"/>
            </a:avLst>
          </a:prstGeom>
          <a:solidFill>
            <a:srgbClr val="FFFFFF"/>
          </a:solidFill>
          <a:ln w="7620">
            <a:solidFill>
              <a:srgbClr val="D9E2EC"/>
            </a:solidFill>
            <a:prstDash val="solid"/>
          </a:ln>
          <a:effectLst>
            <a:outerShdw sx="100000" sy="100000" kx="0" ky="0" algn="bl" rotWithShape="0" blurRad="8.061779719354066e+221" dist="1.612355943870813e+222" dir="4.713896410174506e+259">
              <a:srgbClr val="CBD5E1">
                <a:alpha val="1.1999999999999991e+269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3831336" y="2734056"/>
            <a:ext cx="292608" cy="292608"/>
          </a:xfrm>
          <a:prstGeom prst="roundRect">
            <a:avLst>
              <a:gd name="adj" fmla="val 25000"/>
            </a:avLst>
          </a:prstGeom>
          <a:solidFill>
            <a:srgbClr val="10B981"/>
          </a:solidFill>
          <a:ln w="7620">
            <a:solidFill>
              <a:srgbClr val="10B981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831336" y="2779776"/>
            <a:ext cx="29260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率</a:t>
            </a:r>
            <a:endParaRPr lang="en-US" sz="700" dirty="0"/>
          </a:p>
        </p:txBody>
      </p:sp>
      <p:sp>
        <p:nvSpPr>
          <p:cNvPr id="43" name="Text 41"/>
          <p:cNvSpPr/>
          <p:nvPr/>
        </p:nvSpPr>
        <p:spPr>
          <a:xfrm>
            <a:off x="4197096" y="2752344"/>
            <a:ext cx="868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40" dirty="0">
                <a:solidFill>
                  <a:srgbClr val="64748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按时完成率</a:t>
            </a:r>
            <a:endParaRPr lang="en-US" sz="740" dirty="0"/>
          </a:p>
        </p:txBody>
      </p:sp>
      <p:sp>
        <p:nvSpPr>
          <p:cNvPr id="44" name="Text 42"/>
          <p:cNvSpPr/>
          <p:nvPr/>
        </p:nvSpPr>
        <p:spPr>
          <a:xfrm>
            <a:off x="4197096" y="2971800"/>
            <a:ext cx="502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82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4681728" y="3026664"/>
            <a:ext cx="4114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20" dirty="0">
                <a:solidFill>
                  <a:srgbClr val="64748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%</a:t>
            </a:r>
            <a:endParaRPr lang="en-US" sz="720" dirty="0"/>
          </a:p>
        </p:txBody>
      </p:sp>
      <p:sp>
        <p:nvSpPr>
          <p:cNvPr id="46" name="Shape 44"/>
          <p:cNvSpPr/>
          <p:nvPr/>
        </p:nvSpPr>
        <p:spPr>
          <a:xfrm>
            <a:off x="5294376" y="2624328"/>
            <a:ext cx="1417320" cy="621792"/>
          </a:xfrm>
          <a:prstGeom prst="roundRect">
            <a:avLst>
              <a:gd name="adj" fmla="val 19118"/>
            </a:avLst>
          </a:prstGeom>
          <a:solidFill>
            <a:srgbClr val="FFFFFF"/>
          </a:solidFill>
          <a:ln w="7620">
            <a:solidFill>
              <a:srgbClr val="D9E2EC"/>
            </a:solidFill>
            <a:prstDash val="solid"/>
          </a:ln>
          <a:effectLst>
            <a:outerShdw sx="100000" sy="100000" kx="0" ky="0" algn="bl" rotWithShape="0" blurRad="1.0238460243579663e+226" dist="2.0476920487159326e+226" dir="2.8283378461047036e+264">
              <a:srgbClr val="CBD5E1">
                <a:alpha val="1.199999999999999e+274"/>
              </a:srgbClr>
            </a:outerShdw>
          </a:effectLst>
        </p:spPr>
      </p:sp>
      <p:sp>
        <p:nvSpPr>
          <p:cNvPr id="47" name="Shape 45"/>
          <p:cNvSpPr/>
          <p:nvPr/>
        </p:nvSpPr>
        <p:spPr>
          <a:xfrm>
            <a:off x="5404104" y="2734056"/>
            <a:ext cx="292608" cy="292608"/>
          </a:xfrm>
          <a:prstGeom prst="roundRect">
            <a:avLst>
              <a:gd name="adj" fmla="val 25000"/>
            </a:avLst>
          </a:prstGeom>
          <a:solidFill>
            <a:srgbClr val="8B5CF6"/>
          </a:solidFill>
          <a:ln w="7620">
            <a:solidFill>
              <a:srgbClr val="8B5CF6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5404104" y="2779776"/>
            <a:ext cx="29260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返</a:t>
            </a:r>
            <a:endParaRPr lang="en-US" sz="700" dirty="0"/>
          </a:p>
        </p:txBody>
      </p:sp>
      <p:sp>
        <p:nvSpPr>
          <p:cNvPr id="49" name="Text 47"/>
          <p:cNvSpPr/>
          <p:nvPr/>
        </p:nvSpPr>
        <p:spPr>
          <a:xfrm>
            <a:off x="5769864" y="2752344"/>
            <a:ext cx="868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40" dirty="0">
                <a:solidFill>
                  <a:srgbClr val="64748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第12步返工</a:t>
            </a:r>
            <a:endParaRPr lang="en-US" sz="740" dirty="0"/>
          </a:p>
        </p:txBody>
      </p:sp>
      <p:sp>
        <p:nvSpPr>
          <p:cNvPr id="50" name="Text 48"/>
          <p:cNvSpPr/>
          <p:nvPr/>
        </p:nvSpPr>
        <p:spPr>
          <a:xfrm>
            <a:off x="5769864" y="2971800"/>
            <a:ext cx="502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5</a:t>
            </a:r>
            <a:endParaRPr lang="en-US" sz="1600" dirty="0"/>
          </a:p>
        </p:txBody>
      </p:sp>
      <p:sp>
        <p:nvSpPr>
          <p:cNvPr id="51" name="Text 49"/>
          <p:cNvSpPr/>
          <p:nvPr/>
        </p:nvSpPr>
        <p:spPr>
          <a:xfrm>
            <a:off x="6254496" y="3026664"/>
            <a:ext cx="4114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20" dirty="0">
                <a:solidFill>
                  <a:srgbClr val="64748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次</a:t>
            </a:r>
            <a:endParaRPr lang="en-US" sz="720" dirty="0"/>
          </a:p>
        </p:txBody>
      </p:sp>
      <p:sp>
        <p:nvSpPr>
          <p:cNvPr id="52" name="Shape 50"/>
          <p:cNvSpPr/>
          <p:nvPr/>
        </p:nvSpPr>
        <p:spPr>
          <a:xfrm>
            <a:off x="6867144" y="2624328"/>
            <a:ext cx="1417320" cy="621792"/>
          </a:xfrm>
          <a:prstGeom prst="roundRect">
            <a:avLst>
              <a:gd name="adj" fmla="val 19118"/>
            </a:avLst>
          </a:prstGeom>
          <a:solidFill>
            <a:srgbClr val="FFFFFF"/>
          </a:solidFill>
          <a:ln w="7620">
            <a:solidFill>
              <a:srgbClr val="D9E2EC"/>
            </a:solidFill>
            <a:prstDash val="solid"/>
          </a:ln>
          <a:effectLst>
            <a:outerShdw sx="100000" sy="100000" kx="0" ky="0" algn="bl" rotWithShape="0" blurRad="1.3002844509346172e+230" dist="2.6005689018692344e+230" dir="1.6970027076628222e+269">
              <a:srgbClr val="CBD5E1">
                <a:alpha val="1.199999999999999e+279"/>
              </a:srgbClr>
            </a:outerShdw>
          </a:effectLst>
        </p:spPr>
      </p:sp>
      <p:sp>
        <p:nvSpPr>
          <p:cNvPr id="53" name="Shape 51"/>
          <p:cNvSpPr/>
          <p:nvPr/>
        </p:nvSpPr>
        <p:spPr>
          <a:xfrm>
            <a:off x="6976872" y="2734056"/>
            <a:ext cx="292608" cy="292608"/>
          </a:xfrm>
          <a:prstGeom prst="roundRect">
            <a:avLst>
              <a:gd name="adj" fmla="val 25000"/>
            </a:avLst>
          </a:prstGeom>
          <a:solidFill>
            <a:srgbClr val="06B6D4"/>
          </a:solidFill>
          <a:ln w="7620">
            <a:solidFill>
              <a:srgbClr val="06B6D4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6976872" y="2779776"/>
            <a:ext cx="29260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月</a:t>
            </a:r>
            <a:endParaRPr lang="en-US" sz="700" dirty="0"/>
          </a:p>
        </p:txBody>
      </p:sp>
      <p:sp>
        <p:nvSpPr>
          <p:cNvPr id="55" name="Text 53"/>
          <p:cNvSpPr/>
          <p:nvPr/>
        </p:nvSpPr>
        <p:spPr>
          <a:xfrm>
            <a:off x="7342632" y="2752344"/>
            <a:ext cx="868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40" dirty="0">
                <a:solidFill>
                  <a:srgbClr val="64748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月度评审完成</a:t>
            </a:r>
            <a:endParaRPr lang="en-US" sz="740" dirty="0"/>
          </a:p>
        </p:txBody>
      </p:sp>
      <p:sp>
        <p:nvSpPr>
          <p:cNvPr id="56" name="Text 54"/>
          <p:cNvSpPr/>
          <p:nvPr/>
        </p:nvSpPr>
        <p:spPr>
          <a:xfrm>
            <a:off x="7342632" y="2971800"/>
            <a:ext cx="502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75</a:t>
            </a:r>
            <a:endParaRPr lang="en-US" sz="1600" dirty="0"/>
          </a:p>
        </p:txBody>
      </p:sp>
      <p:sp>
        <p:nvSpPr>
          <p:cNvPr id="57" name="Text 55"/>
          <p:cNvSpPr/>
          <p:nvPr/>
        </p:nvSpPr>
        <p:spPr>
          <a:xfrm>
            <a:off x="7827264" y="3026664"/>
            <a:ext cx="4114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20" dirty="0">
                <a:solidFill>
                  <a:srgbClr val="64748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%</a:t>
            </a:r>
            <a:endParaRPr lang="en-US" sz="720" dirty="0"/>
          </a:p>
        </p:txBody>
      </p:sp>
      <p:sp>
        <p:nvSpPr>
          <p:cNvPr id="58" name="Shape 56"/>
          <p:cNvSpPr/>
          <p:nvPr/>
        </p:nvSpPr>
        <p:spPr>
          <a:xfrm>
            <a:off x="8439912" y="2624328"/>
            <a:ext cx="1417320" cy="621792"/>
          </a:xfrm>
          <a:prstGeom prst="roundRect">
            <a:avLst>
              <a:gd name="adj" fmla="val 19118"/>
            </a:avLst>
          </a:prstGeom>
          <a:solidFill>
            <a:srgbClr val="FFFFFF"/>
          </a:solidFill>
          <a:ln w="7620">
            <a:solidFill>
              <a:srgbClr val="D9E2EC"/>
            </a:solidFill>
            <a:prstDash val="solid"/>
          </a:ln>
          <a:effectLst>
            <a:outerShdw sx="100000" sy="100000" kx="0" ky="0" algn="bl" rotWithShape="0" blurRad="1.6513612526869638e+234" dist="3.3027225053739275e+234" dir="1.0182016245976934e+274">
              <a:srgbClr val="CBD5E1">
                <a:alpha val="1.199999999999999e+284"/>
              </a:srgbClr>
            </a:outerShdw>
          </a:effectLst>
        </p:spPr>
      </p:sp>
      <p:sp>
        <p:nvSpPr>
          <p:cNvPr id="59" name="Shape 57"/>
          <p:cNvSpPr/>
          <p:nvPr/>
        </p:nvSpPr>
        <p:spPr>
          <a:xfrm>
            <a:off x="8549640" y="2734056"/>
            <a:ext cx="292608" cy="292608"/>
          </a:xfrm>
          <a:prstGeom prst="roundRect">
            <a:avLst>
              <a:gd name="adj" fmla="val 25000"/>
            </a:avLst>
          </a:prstGeom>
          <a:solidFill>
            <a:srgbClr val="C2410C"/>
          </a:solidFill>
          <a:ln w="7620">
            <a:solidFill>
              <a:srgbClr val="C2410C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8549640" y="2779776"/>
            <a:ext cx="29260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退</a:t>
            </a:r>
            <a:endParaRPr lang="en-US" sz="700" dirty="0"/>
          </a:p>
        </p:txBody>
      </p:sp>
      <p:sp>
        <p:nvSpPr>
          <p:cNvPr id="61" name="Text 59"/>
          <p:cNvSpPr/>
          <p:nvPr/>
        </p:nvSpPr>
        <p:spPr>
          <a:xfrm>
            <a:off x="8915400" y="2752344"/>
            <a:ext cx="868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40" dirty="0">
                <a:solidFill>
                  <a:srgbClr val="64748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待退出颜色</a:t>
            </a:r>
            <a:endParaRPr lang="en-US" sz="740" dirty="0"/>
          </a:p>
        </p:txBody>
      </p:sp>
      <p:sp>
        <p:nvSpPr>
          <p:cNvPr id="62" name="Text 60"/>
          <p:cNvSpPr/>
          <p:nvPr/>
        </p:nvSpPr>
        <p:spPr>
          <a:xfrm>
            <a:off x="8915400" y="2971800"/>
            <a:ext cx="502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3</a:t>
            </a:r>
            <a:endParaRPr lang="en-US" sz="1600" dirty="0"/>
          </a:p>
        </p:txBody>
      </p:sp>
      <p:sp>
        <p:nvSpPr>
          <p:cNvPr id="63" name="Text 61"/>
          <p:cNvSpPr/>
          <p:nvPr/>
        </p:nvSpPr>
        <p:spPr>
          <a:xfrm>
            <a:off x="9400032" y="3026664"/>
            <a:ext cx="4114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20" dirty="0">
                <a:solidFill>
                  <a:srgbClr val="64748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色</a:t>
            </a:r>
            <a:endParaRPr lang="en-US" sz="720" dirty="0"/>
          </a:p>
        </p:txBody>
      </p:sp>
      <p:sp>
        <p:nvSpPr>
          <p:cNvPr id="64" name="Shape 62"/>
          <p:cNvSpPr/>
          <p:nvPr/>
        </p:nvSpPr>
        <p:spPr>
          <a:xfrm>
            <a:off x="2148840" y="3474720"/>
            <a:ext cx="3977640" cy="3063240"/>
          </a:xfrm>
          <a:prstGeom prst="roundRect">
            <a:avLst>
              <a:gd name="adj" fmla="val 4179"/>
            </a:avLst>
          </a:prstGeom>
          <a:solidFill>
            <a:srgbClr val="FFFFFF"/>
          </a:solidFill>
          <a:ln w="7620">
            <a:solidFill>
              <a:srgbClr val="D9E2EC"/>
            </a:solidFill>
            <a:prstDash val="solid"/>
          </a:ln>
          <a:effectLst>
            <a:outerShdw sx="100000" sy="100000" kx="0" ky="0" algn="bl" rotWithShape="0" blurRad="2.097228790912444e+238" dist="4.194457581824888e+238" dir="6.10920974758616e+278">
              <a:srgbClr val="CBD5E1">
                <a:alpha val="1.199999999999999e+289"/>
              </a:srgbClr>
            </a:outerShdw>
          </a:effectLst>
        </p:spPr>
      </p:sp>
      <p:sp>
        <p:nvSpPr>
          <p:cNvPr id="65" name="Text 63"/>
          <p:cNvSpPr/>
          <p:nvPr/>
        </p:nvSpPr>
        <p:spPr>
          <a:xfrm>
            <a:off x="2350008" y="3721608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工序平均耗时 / 超期次数</a:t>
            </a:r>
            <a:endParaRPr lang="en-US" sz="1100" dirty="0"/>
          </a:p>
        </p:txBody>
      </p:sp>
      <p:sp>
        <p:nvSpPr>
          <p:cNvPr id="66" name="Text 64"/>
          <p:cNvSpPr/>
          <p:nvPr/>
        </p:nvSpPr>
        <p:spPr>
          <a:xfrm>
            <a:off x="2377440" y="4123944"/>
            <a:ext cx="7315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20" dirty="0">
                <a:solidFill>
                  <a:srgbClr val="64748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涂料开发</a:t>
            </a:r>
            <a:endParaRPr lang="en-US" sz="620" dirty="0"/>
          </a:p>
        </p:txBody>
      </p:sp>
      <p:sp>
        <p:nvSpPr>
          <p:cNvPr id="67" name="Shape 65"/>
          <p:cNvSpPr/>
          <p:nvPr/>
        </p:nvSpPr>
        <p:spPr>
          <a:xfrm>
            <a:off x="3246120" y="4151376"/>
            <a:ext cx="2011680" cy="109728"/>
          </a:xfrm>
          <a:prstGeom prst="roundRect">
            <a:avLst>
              <a:gd name="adj" fmla="val 33333"/>
            </a:avLst>
          </a:prstGeom>
          <a:solidFill>
            <a:srgbClr val="E2E8F0"/>
          </a:solidFill>
          <a:ln w="7620">
            <a:solidFill>
              <a:srgbClr val="E2E8F0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3246120" y="4151376"/>
            <a:ext cx="838200" cy="109728"/>
          </a:xfrm>
          <a:prstGeom prst="roundRect">
            <a:avLst>
              <a:gd name="adj" fmla="val 33333"/>
            </a:avLst>
          </a:prstGeom>
          <a:solidFill>
            <a:srgbClr val="2563EB"/>
          </a:solidFill>
          <a:ln w="7620">
            <a:solidFill>
              <a:srgbClr val="2563EB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5349240" y="4123944"/>
            <a:ext cx="6400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00" dirty="0">
                <a:solidFill>
                  <a:srgbClr val="64748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5天 / 超期1</a:t>
            </a:r>
            <a:endParaRPr lang="en-US" sz="600" dirty="0"/>
          </a:p>
        </p:txBody>
      </p:sp>
      <p:sp>
        <p:nvSpPr>
          <p:cNvPr id="70" name="Text 68"/>
          <p:cNvSpPr/>
          <p:nvPr/>
        </p:nvSpPr>
        <p:spPr>
          <a:xfrm>
            <a:off x="2377440" y="4453128"/>
            <a:ext cx="7315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20" dirty="0">
                <a:solidFill>
                  <a:srgbClr val="64748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涂料采购</a:t>
            </a:r>
            <a:endParaRPr lang="en-US" sz="620" dirty="0"/>
          </a:p>
        </p:txBody>
      </p:sp>
      <p:sp>
        <p:nvSpPr>
          <p:cNvPr id="71" name="Shape 69"/>
          <p:cNvSpPr/>
          <p:nvPr/>
        </p:nvSpPr>
        <p:spPr>
          <a:xfrm>
            <a:off x="3246120" y="4480560"/>
            <a:ext cx="2011680" cy="109728"/>
          </a:xfrm>
          <a:prstGeom prst="roundRect">
            <a:avLst>
              <a:gd name="adj" fmla="val 33333"/>
            </a:avLst>
          </a:prstGeom>
          <a:solidFill>
            <a:srgbClr val="E2E8F0"/>
          </a:solidFill>
          <a:ln w="7620">
            <a:solidFill>
              <a:srgbClr val="E2E8F0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3246120" y="4480560"/>
            <a:ext cx="1676400" cy="109728"/>
          </a:xfrm>
          <a:prstGeom prst="roundRect">
            <a:avLst>
              <a:gd name="adj" fmla="val 33333"/>
            </a:avLst>
          </a:prstGeom>
          <a:solidFill>
            <a:srgbClr val="2563EB"/>
          </a:solidFill>
          <a:ln w="7620">
            <a:solidFill>
              <a:srgbClr val="2563EB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5349240" y="4453128"/>
            <a:ext cx="6400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00" dirty="0">
                <a:solidFill>
                  <a:srgbClr val="64748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10天 / 超期2</a:t>
            </a:r>
            <a:endParaRPr lang="en-US" sz="600" dirty="0"/>
          </a:p>
        </p:txBody>
      </p:sp>
      <p:sp>
        <p:nvSpPr>
          <p:cNvPr id="74" name="Text 72"/>
          <p:cNvSpPr/>
          <p:nvPr/>
        </p:nvSpPr>
        <p:spPr>
          <a:xfrm>
            <a:off x="2377440" y="4782312"/>
            <a:ext cx="7315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20" dirty="0">
                <a:solidFill>
                  <a:srgbClr val="64748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样车试制</a:t>
            </a:r>
            <a:endParaRPr lang="en-US" sz="620" dirty="0"/>
          </a:p>
        </p:txBody>
      </p:sp>
      <p:sp>
        <p:nvSpPr>
          <p:cNvPr id="75" name="Shape 73"/>
          <p:cNvSpPr/>
          <p:nvPr/>
        </p:nvSpPr>
        <p:spPr>
          <a:xfrm>
            <a:off x="3246120" y="4809744"/>
            <a:ext cx="2011680" cy="109728"/>
          </a:xfrm>
          <a:prstGeom prst="roundRect">
            <a:avLst>
              <a:gd name="adj" fmla="val 33333"/>
            </a:avLst>
          </a:prstGeom>
          <a:solidFill>
            <a:srgbClr val="E2E8F0"/>
          </a:solidFill>
          <a:ln w="7620">
            <a:solidFill>
              <a:srgbClr val="E2E8F0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3246120" y="4809744"/>
            <a:ext cx="502920" cy="109728"/>
          </a:xfrm>
          <a:prstGeom prst="roundRect">
            <a:avLst>
              <a:gd name="adj" fmla="val 33333"/>
            </a:avLst>
          </a:prstGeom>
          <a:solidFill>
            <a:srgbClr val="2563EB"/>
          </a:solidFill>
          <a:ln w="7620">
            <a:solidFill>
              <a:srgbClr val="2563EB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5349240" y="4782312"/>
            <a:ext cx="6400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00" dirty="0">
                <a:solidFill>
                  <a:srgbClr val="64748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3天 / 超期0</a:t>
            </a:r>
            <a:endParaRPr lang="en-US" sz="600" dirty="0"/>
          </a:p>
        </p:txBody>
      </p:sp>
      <p:sp>
        <p:nvSpPr>
          <p:cNvPr id="78" name="Text 76"/>
          <p:cNvSpPr/>
          <p:nvPr/>
        </p:nvSpPr>
        <p:spPr>
          <a:xfrm>
            <a:off x="2377440" y="5111496"/>
            <a:ext cx="7315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20" dirty="0">
                <a:solidFill>
                  <a:srgbClr val="64748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样车评审</a:t>
            </a:r>
            <a:endParaRPr lang="en-US" sz="620" dirty="0"/>
          </a:p>
        </p:txBody>
      </p:sp>
      <p:sp>
        <p:nvSpPr>
          <p:cNvPr id="79" name="Shape 77"/>
          <p:cNvSpPr/>
          <p:nvPr/>
        </p:nvSpPr>
        <p:spPr>
          <a:xfrm>
            <a:off x="3246120" y="5138928"/>
            <a:ext cx="2011680" cy="109728"/>
          </a:xfrm>
          <a:prstGeom prst="roundRect">
            <a:avLst>
              <a:gd name="adj" fmla="val 33333"/>
            </a:avLst>
          </a:prstGeom>
          <a:solidFill>
            <a:srgbClr val="E2E8F0"/>
          </a:solidFill>
          <a:ln w="7620">
            <a:solidFill>
              <a:srgbClr val="E2E8F0"/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3246120" y="5138928"/>
            <a:ext cx="335280" cy="109728"/>
          </a:xfrm>
          <a:prstGeom prst="roundRect">
            <a:avLst>
              <a:gd name="adj" fmla="val 33333"/>
            </a:avLst>
          </a:prstGeom>
          <a:solidFill>
            <a:srgbClr val="2563EB"/>
          </a:solidFill>
          <a:ln w="7620">
            <a:solidFill>
              <a:srgbClr val="2563EB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5349240" y="5111496"/>
            <a:ext cx="6400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00" dirty="0">
                <a:solidFill>
                  <a:srgbClr val="EF444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2天 / 超期4</a:t>
            </a:r>
            <a:endParaRPr lang="en-US" sz="600" dirty="0"/>
          </a:p>
        </p:txBody>
      </p:sp>
      <p:sp>
        <p:nvSpPr>
          <p:cNvPr id="82" name="Text 80"/>
          <p:cNvSpPr/>
          <p:nvPr/>
        </p:nvSpPr>
        <p:spPr>
          <a:xfrm>
            <a:off x="2377440" y="5440680"/>
            <a:ext cx="7315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20" dirty="0">
                <a:solidFill>
                  <a:srgbClr val="64748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批量生产</a:t>
            </a:r>
            <a:endParaRPr lang="en-US" sz="620" dirty="0"/>
          </a:p>
        </p:txBody>
      </p:sp>
      <p:sp>
        <p:nvSpPr>
          <p:cNvPr id="83" name="Shape 81"/>
          <p:cNvSpPr/>
          <p:nvPr/>
        </p:nvSpPr>
        <p:spPr>
          <a:xfrm>
            <a:off x="3246120" y="5468112"/>
            <a:ext cx="2011680" cy="109728"/>
          </a:xfrm>
          <a:prstGeom prst="roundRect">
            <a:avLst>
              <a:gd name="adj" fmla="val 33333"/>
            </a:avLst>
          </a:prstGeom>
          <a:solidFill>
            <a:srgbClr val="E2E8F0"/>
          </a:solidFill>
          <a:ln w="7620">
            <a:solidFill>
              <a:srgbClr val="E2E8F0"/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3246120" y="5468112"/>
            <a:ext cx="838200" cy="109728"/>
          </a:xfrm>
          <a:prstGeom prst="roundRect">
            <a:avLst>
              <a:gd name="adj" fmla="val 33333"/>
            </a:avLst>
          </a:prstGeom>
          <a:solidFill>
            <a:srgbClr val="2563EB"/>
          </a:solidFill>
          <a:ln w="7620">
            <a:solidFill>
              <a:srgbClr val="2563EB"/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5349240" y="5440680"/>
            <a:ext cx="6400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00" dirty="0">
                <a:solidFill>
                  <a:srgbClr val="64748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5天 / 超期1</a:t>
            </a:r>
            <a:endParaRPr lang="en-US" sz="600" dirty="0"/>
          </a:p>
        </p:txBody>
      </p:sp>
      <p:sp>
        <p:nvSpPr>
          <p:cNvPr id="86" name="Text 84"/>
          <p:cNvSpPr/>
          <p:nvPr/>
        </p:nvSpPr>
        <p:spPr>
          <a:xfrm>
            <a:off x="2377440" y="5769864"/>
            <a:ext cx="7315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20" dirty="0">
                <a:solidFill>
                  <a:srgbClr val="64748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月度评审</a:t>
            </a:r>
            <a:endParaRPr lang="en-US" sz="620" dirty="0"/>
          </a:p>
        </p:txBody>
      </p:sp>
      <p:sp>
        <p:nvSpPr>
          <p:cNvPr id="87" name="Shape 85"/>
          <p:cNvSpPr/>
          <p:nvPr/>
        </p:nvSpPr>
        <p:spPr>
          <a:xfrm>
            <a:off x="3246120" y="5797296"/>
            <a:ext cx="2011680" cy="109728"/>
          </a:xfrm>
          <a:prstGeom prst="roundRect">
            <a:avLst>
              <a:gd name="adj" fmla="val 33333"/>
            </a:avLst>
          </a:prstGeom>
          <a:solidFill>
            <a:srgbClr val="E2E8F0"/>
          </a:solidFill>
          <a:ln w="7620">
            <a:solidFill>
              <a:srgbClr val="E2E8F0"/>
            </a:solidFill>
            <a:prstDash val="solid"/>
          </a:ln>
        </p:spPr>
      </p:sp>
      <p:sp>
        <p:nvSpPr>
          <p:cNvPr id="88" name="Shape 86"/>
          <p:cNvSpPr/>
          <p:nvPr/>
        </p:nvSpPr>
        <p:spPr>
          <a:xfrm>
            <a:off x="3246120" y="5797296"/>
            <a:ext cx="2011680" cy="109728"/>
          </a:xfrm>
          <a:prstGeom prst="roundRect">
            <a:avLst>
              <a:gd name="adj" fmla="val 33333"/>
            </a:avLst>
          </a:prstGeom>
          <a:solidFill>
            <a:srgbClr val="2563EB"/>
          </a:solidFill>
          <a:ln w="7620">
            <a:solidFill>
              <a:srgbClr val="2563EB"/>
            </a:solidFill>
            <a:prstDash val="solid"/>
          </a:ln>
        </p:spPr>
      </p:sp>
      <p:sp>
        <p:nvSpPr>
          <p:cNvPr id="89" name="Text 87"/>
          <p:cNvSpPr/>
          <p:nvPr/>
        </p:nvSpPr>
        <p:spPr>
          <a:xfrm>
            <a:off x="5349240" y="5769864"/>
            <a:ext cx="6400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00" dirty="0">
                <a:solidFill>
                  <a:srgbClr val="EF444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12天 / 超期3</a:t>
            </a:r>
            <a:endParaRPr lang="en-US" sz="600" dirty="0"/>
          </a:p>
        </p:txBody>
      </p:sp>
      <p:sp>
        <p:nvSpPr>
          <p:cNvPr id="90" name="Shape 88"/>
          <p:cNvSpPr/>
          <p:nvPr/>
        </p:nvSpPr>
        <p:spPr>
          <a:xfrm>
            <a:off x="6400800" y="3474720"/>
            <a:ext cx="2148840" cy="3063240"/>
          </a:xfrm>
          <a:prstGeom prst="roundRect">
            <a:avLst>
              <a:gd name="adj" fmla="val 5957"/>
            </a:avLst>
          </a:prstGeom>
          <a:solidFill>
            <a:srgbClr val="FFFFFF"/>
          </a:solidFill>
          <a:ln w="7620">
            <a:solidFill>
              <a:srgbClr val="D9E2EC"/>
            </a:solidFill>
            <a:prstDash val="solid"/>
          </a:ln>
          <a:effectLst>
            <a:outerShdw sx="100000" sy="100000" kx="0" ky="0" algn="bl" rotWithShape="0" blurRad="2.663480564458804e+242" dist="5.326961128917608e+242" dir="3.6655258485516963e+283">
              <a:srgbClr val="CBD5E1">
                <a:alpha val="1.199999999999999e+294"/>
              </a:srgbClr>
            </a:outerShdw>
          </a:effectLst>
        </p:spPr>
      </p:sp>
      <p:sp>
        <p:nvSpPr>
          <p:cNvPr id="91" name="Text 89"/>
          <p:cNvSpPr/>
          <p:nvPr/>
        </p:nvSpPr>
        <p:spPr>
          <a:xfrm>
            <a:off x="6611112" y="3721608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部门超期统计</a:t>
            </a:r>
            <a:endParaRPr lang="en-US" sz="1100" dirty="0"/>
          </a:p>
        </p:txBody>
      </p:sp>
      <p:sp>
        <p:nvSpPr>
          <p:cNvPr id="92" name="Text 90"/>
          <p:cNvSpPr/>
          <p:nvPr/>
        </p:nvSpPr>
        <p:spPr>
          <a:xfrm>
            <a:off x="6629400" y="4123944"/>
            <a:ext cx="7772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20" dirty="0">
                <a:solidFill>
                  <a:srgbClr val="64748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营销公司</a:t>
            </a:r>
            <a:endParaRPr lang="en-US" sz="620" dirty="0"/>
          </a:p>
        </p:txBody>
      </p:sp>
      <p:sp>
        <p:nvSpPr>
          <p:cNvPr id="93" name="Shape 91"/>
          <p:cNvSpPr/>
          <p:nvPr/>
        </p:nvSpPr>
        <p:spPr>
          <a:xfrm>
            <a:off x="7470648" y="4160520"/>
            <a:ext cx="868680" cy="91440"/>
          </a:xfrm>
          <a:prstGeom prst="roundRect">
            <a:avLst>
              <a:gd name="adj" fmla="val 40000"/>
            </a:avLst>
          </a:prstGeom>
          <a:solidFill>
            <a:srgbClr val="E2E8F0"/>
          </a:solidFill>
          <a:ln w="7620">
            <a:solidFill>
              <a:srgbClr val="E2E8F0"/>
            </a:solidFill>
            <a:prstDash val="solid"/>
          </a:ln>
        </p:spPr>
      </p:sp>
      <p:sp>
        <p:nvSpPr>
          <p:cNvPr id="94" name="Shape 92"/>
          <p:cNvSpPr/>
          <p:nvPr/>
        </p:nvSpPr>
        <p:spPr>
          <a:xfrm>
            <a:off x="7470648" y="4160520"/>
            <a:ext cx="173736" cy="91440"/>
          </a:xfrm>
          <a:prstGeom prst="roundRect">
            <a:avLst>
              <a:gd name="adj" fmla="val 40000"/>
            </a:avLst>
          </a:prstGeom>
          <a:solidFill>
            <a:srgbClr val="F59E0B"/>
          </a:solidFill>
          <a:ln w="7620">
            <a:solidFill>
              <a:srgbClr val="F59E0B"/>
            </a:solidFill>
            <a:prstDash val="solid"/>
          </a:ln>
        </p:spPr>
      </p:sp>
      <p:sp>
        <p:nvSpPr>
          <p:cNvPr id="95" name="Text 93"/>
          <p:cNvSpPr/>
          <p:nvPr/>
        </p:nvSpPr>
        <p:spPr>
          <a:xfrm>
            <a:off x="8385048" y="4123944"/>
            <a:ext cx="16459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20" dirty="0">
                <a:solidFill>
                  <a:srgbClr val="0F172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</a:t>
            </a:r>
            <a:endParaRPr lang="en-US" sz="620" dirty="0"/>
          </a:p>
        </p:txBody>
      </p:sp>
      <p:sp>
        <p:nvSpPr>
          <p:cNvPr id="96" name="Text 94"/>
          <p:cNvSpPr/>
          <p:nvPr/>
        </p:nvSpPr>
        <p:spPr>
          <a:xfrm>
            <a:off x="6629400" y="4489704"/>
            <a:ext cx="7772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20" dirty="0">
                <a:solidFill>
                  <a:srgbClr val="64748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涂装工艺部</a:t>
            </a:r>
            <a:endParaRPr lang="en-US" sz="620" dirty="0"/>
          </a:p>
        </p:txBody>
      </p:sp>
      <p:sp>
        <p:nvSpPr>
          <p:cNvPr id="97" name="Shape 95"/>
          <p:cNvSpPr/>
          <p:nvPr/>
        </p:nvSpPr>
        <p:spPr>
          <a:xfrm>
            <a:off x="7470648" y="4526280"/>
            <a:ext cx="868680" cy="91440"/>
          </a:xfrm>
          <a:prstGeom prst="roundRect">
            <a:avLst>
              <a:gd name="adj" fmla="val 40000"/>
            </a:avLst>
          </a:prstGeom>
          <a:solidFill>
            <a:srgbClr val="E2E8F0"/>
          </a:solidFill>
          <a:ln w="7620">
            <a:solidFill>
              <a:srgbClr val="E2E8F0"/>
            </a:solidFill>
            <a:prstDash val="solid"/>
          </a:ln>
        </p:spPr>
      </p:sp>
      <p:sp>
        <p:nvSpPr>
          <p:cNvPr id="98" name="Shape 96"/>
          <p:cNvSpPr/>
          <p:nvPr/>
        </p:nvSpPr>
        <p:spPr>
          <a:xfrm>
            <a:off x="7470648" y="4526280"/>
            <a:ext cx="521208" cy="91440"/>
          </a:xfrm>
          <a:prstGeom prst="roundRect">
            <a:avLst>
              <a:gd name="adj" fmla="val 40000"/>
            </a:avLst>
          </a:prstGeom>
          <a:solidFill>
            <a:srgbClr val="EF4444"/>
          </a:solidFill>
          <a:ln w="7620">
            <a:solidFill>
              <a:srgbClr val="EF4444"/>
            </a:solidFill>
            <a:prstDash val="solid"/>
          </a:ln>
        </p:spPr>
      </p:sp>
      <p:sp>
        <p:nvSpPr>
          <p:cNvPr id="99" name="Text 97"/>
          <p:cNvSpPr/>
          <p:nvPr/>
        </p:nvSpPr>
        <p:spPr>
          <a:xfrm>
            <a:off x="8385048" y="4489704"/>
            <a:ext cx="16459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20" dirty="0">
                <a:solidFill>
                  <a:srgbClr val="0F172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3</a:t>
            </a:r>
            <a:endParaRPr lang="en-US" sz="620" dirty="0"/>
          </a:p>
        </p:txBody>
      </p:sp>
      <p:sp>
        <p:nvSpPr>
          <p:cNvPr id="100" name="Text 98"/>
          <p:cNvSpPr/>
          <p:nvPr/>
        </p:nvSpPr>
        <p:spPr>
          <a:xfrm>
            <a:off x="6629400" y="4855464"/>
            <a:ext cx="7772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20" dirty="0">
                <a:solidFill>
                  <a:srgbClr val="64748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采购部</a:t>
            </a:r>
            <a:endParaRPr lang="en-US" sz="620" dirty="0"/>
          </a:p>
        </p:txBody>
      </p:sp>
      <p:sp>
        <p:nvSpPr>
          <p:cNvPr id="101" name="Shape 99"/>
          <p:cNvSpPr/>
          <p:nvPr/>
        </p:nvSpPr>
        <p:spPr>
          <a:xfrm>
            <a:off x="7470648" y="4892040"/>
            <a:ext cx="868680" cy="91440"/>
          </a:xfrm>
          <a:prstGeom prst="roundRect">
            <a:avLst>
              <a:gd name="adj" fmla="val 40000"/>
            </a:avLst>
          </a:prstGeom>
          <a:solidFill>
            <a:srgbClr val="E2E8F0"/>
          </a:solidFill>
          <a:ln w="7620">
            <a:solidFill>
              <a:srgbClr val="E2E8F0"/>
            </a:solidFill>
            <a:prstDash val="solid"/>
          </a:ln>
        </p:spPr>
      </p:sp>
      <p:sp>
        <p:nvSpPr>
          <p:cNvPr id="102" name="Shape 100"/>
          <p:cNvSpPr/>
          <p:nvPr/>
        </p:nvSpPr>
        <p:spPr>
          <a:xfrm>
            <a:off x="7470648" y="4892040"/>
            <a:ext cx="347472" cy="91440"/>
          </a:xfrm>
          <a:prstGeom prst="roundRect">
            <a:avLst>
              <a:gd name="adj" fmla="val 40000"/>
            </a:avLst>
          </a:prstGeom>
          <a:solidFill>
            <a:srgbClr val="F59E0B"/>
          </a:solidFill>
          <a:ln w="7620">
            <a:solidFill>
              <a:srgbClr val="F59E0B"/>
            </a:solidFill>
            <a:prstDash val="solid"/>
          </a:ln>
        </p:spPr>
      </p:sp>
      <p:sp>
        <p:nvSpPr>
          <p:cNvPr id="103" name="Text 101"/>
          <p:cNvSpPr/>
          <p:nvPr/>
        </p:nvSpPr>
        <p:spPr>
          <a:xfrm>
            <a:off x="8385048" y="4855464"/>
            <a:ext cx="16459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20" dirty="0">
                <a:solidFill>
                  <a:srgbClr val="0F172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2</a:t>
            </a:r>
            <a:endParaRPr lang="en-US" sz="620" dirty="0"/>
          </a:p>
        </p:txBody>
      </p:sp>
      <p:sp>
        <p:nvSpPr>
          <p:cNvPr id="104" name="Text 102"/>
          <p:cNvSpPr/>
          <p:nvPr/>
        </p:nvSpPr>
        <p:spPr>
          <a:xfrm>
            <a:off x="6629400" y="5221224"/>
            <a:ext cx="7772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20" dirty="0">
                <a:solidFill>
                  <a:srgbClr val="64748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质量管理部</a:t>
            </a:r>
            <a:endParaRPr lang="en-US" sz="620" dirty="0"/>
          </a:p>
        </p:txBody>
      </p:sp>
      <p:sp>
        <p:nvSpPr>
          <p:cNvPr id="105" name="Shape 103"/>
          <p:cNvSpPr/>
          <p:nvPr/>
        </p:nvSpPr>
        <p:spPr>
          <a:xfrm>
            <a:off x="7470648" y="5257800"/>
            <a:ext cx="868680" cy="91440"/>
          </a:xfrm>
          <a:prstGeom prst="roundRect">
            <a:avLst>
              <a:gd name="adj" fmla="val 40000"/>
            </a:avLst>
          </a:prstGeom>
          <a:solidFill>
            <a:srgbClr val="E2E8F0"/>
          </a:solidFill>
          <a:ln w="7620">
            <a:solidFill>
              <a:srgbClr val="E2E8F0"/>
            </a:solidFill>
            <a:prstDash val="solid"/>
          </a:ln>
        </p:spPr>
      </p:sp>
      <p:sp>
        <p:nvSpPr>
          <p:cNvPr id="106" name="Shape 104"/>
          <p:cNvSpPr/>
          <p:nvPr/>
        </p:nvSpPr>
        <p:spPr>
          <a:xfrm>
            <a:off x="7470648" y="5257800"/>
            <a:ext cx="694944" cy="91440"/>
          </a:xfrm>
          <a:prstGeom prst="roundRect">
            <a:avLst>
              <a:gd name="adj" fmla="val 40000"/>
            </a:avLst>
          </a:prstGeom>
          <a:solidFill>
            <a:srgbClr val="EF4444"/>
          </a:solidFill>
          <a:ln w="7620">
            <a:solidFill>
              <a:srgbClr val="EF4444"/>
            </a:solidFill>
            <a:prstDash val="solid"/>
          </a:ln>
        </p:spPr>
      </p:sp>
      <p:sp>
        <p:nvSpPr>
          <p:cNvPr id="107" name="Text 105"/>
          <p:cNvSpPr/>
          <p:nvPr/>
        </p:nvSpPr>
        <p:spPr>
          <a:xfrm>
            <a:off x="8385048" y="5221224"/>
            <a:ext cx="16459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20" dirty="0">
                <a:solidFill>
                  <a:srgbClr val="0F172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4</a:t>
            </a:r>
            <a:endParaRPr lang="en-US" sz="620" dirty="0"/>
          </a:p>
        </p:txBody>
      </p:sp>
      <p:sp>
        <p:nvSpPr>
          <p:cNvPr id="108" name="Text 106"/>
          <p:cNvSpPr/>
          <p:nvPr/>
        </p:nvSpPr>
        <p:spPr>
          <a:xfrm>
            <a:off x="6629400" y="5586984"/>
            <a:ext cx="7772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20" dirty="0">
                <a:solidFill>
                  <a:srgbClr val="64748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生产部</a:t>
            </a:r>
            <a:endParaRPr lang="en-US" sz="620" dirty="0"/>
          </a:p>
        </p:txBody>
      </p:sp>
      <p:sp>
        <p:nvSpPr>
          <p:cNvPr id="109" name="Shape 107"/>
          <p:cNvSpPr/>
          <p:nvPr/>
        </p:nvSpPr>
        <p:spPr>
          <a:xfrm>
            <a:off x="7470648" y="5623560"/>
            <a:ext cx="868680" cy="91440"/>
          </a:xfrm>
          <a:prstGeom prst="roundRect">
            <a:avLst>
              <a:gd name="adj" fmla="val 40000"/>
            </a:avLst>
          </a:prstGeom>
          <a:solidFill>
            <a:srgbClr val="E2E8F0"/>
          </a:solidFill>
          <a:ln w="7620">
            <a:solidFill>
              <a:srgbClr val="E2E8F0"/>
            </a:solidFill>
            <a:prstDash val="solid"/>
          </a:ln>
        </p:spPr>
      </p:sp>
      <p:sp>
        <p:nvSpPr>
          <p:cNvPr id="110" name="Shape 108"/>
          <p:cNvSpPr/>
          <p:nvPr/>
        </p:nvSpPr>
        <p:spPr>
          <a:xfrm>
            <a:off x="7470648" y="5623560"/>
            <a:ext cx="173736" cy="91440"/>
          </a:xfrm>
          <a:prstGeom prst="roundRect">
            <a:avLst>
              <a:gd name="adj" fmla="val 40000"/>
            </a:avLst>
          </a:prstGeom>
          <a:solidFill>
            <a:srgbClr val="F59E0B"/>
          </a:solidFill>
          <a:ln w="7620">
            <a:solidFill>
              <a:srgbClr val="F59E0B"/>
            </a:solidFill>
            <a:prstDash val="solid"/>
          </a:ln>
        </p:spPr>
      </p:sp>
      <p:sp>
        <p:nvSpPr>
          <p:cNvPr id="111" name="Text 109"/>
          <p:cNvSpPr/>
          <p:nvPr/>
        </p:nvSpPr>
        <p:spPr>
          <a:xfrm>
            <a:off x="8385048" y="5586984"/>
            <a:ext cx="16459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20" dirty="0">
                <a:solidFill>
                  <a:srgbClr val="0F172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</a:t>
            </a:r>
            <a:endParaRPr lang="en-US" sz="620" dirty="0"/>
          </a:p>
        </p:txBody>
      </p:sp>
      <p:sp>
        <p:nvSpPr>
          <p:cNvPr id="112" name="Shape 110"/>
          <p:cNvSpPr/>
          <p:nvPr/>
        </p:nvSpPr>
        <p:spPr>
          <a:xfrm>
            <a:off x="8778240" y="3474720"/>
            <a:ext cx="2148840" cy="3063240"/>
          </a:xfrm>
          <a:prstGeom prst="roundRect">
            <a:avLst>
              <a:gd name="adj" fmla="val 5957"/>
            </a:avLst>
          </a:prstGeom>
          <a:solidFill>
            <a:srgbClr val="FFFFFF"/>
          </a:solidFill>
          <a:ln w="7620">
            <a:solidFill>
              <a:srgbClr val="D9E2EC"/>
            </a:solidFill>
            <a:prstDash val="solid"/>
          </a:ln>
          <a:effectLst>
            <a:outerShdw sx="100000" sy="100000" kx="0" ky="0" algn="bl" rotWithShape="0" blurRad="3.3826203168626813e+246" dist="6.765240633725363e+246" dir="2.1993155091310177e+288">
              <a:srgbClr val="CBD5E1">
                <a:alpha val="1.199999999999999e+299"/>
              </a:srgbClr>
            </a:outerShdw>
          </a:effectLst>
        </p:spPr>
      </p:sp>
      <p:sp>
        <p:nvSpPr>
          <p:cNvPr id="113" name="Text 111"/>
          <p:cNvSpPr/>
          <p:nvPr/>
        </p:nvSpPr>
        <p:spPr>
          <a:xfrm>
            <a:off x="8988552" y="3721608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费用与退出</a:t>
            </a:r>
            <a:endParaRPr lang="en-US" sz="1100" dirty="0"/>
          </a:p>
        </p:txBody>
      </p:sp>
      <p:sp>
        <p:nvSpPr>
          <p:cNvPr id="114" name="Text 112"/>
          <p:cNvSpPr/>
          <p:nvPr/>
        </p:nvSpPr>
        <p:spPr>
          <a:xfrm>
            <a:off x="9006840" y="4069080"/>
            <a:ext cx="109728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20" b="1" dirty="0">
                <a:solidFill>
                  <a:srgbClr val="0F172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颜色开发收费</a:t>
            </a:r>
            <a:endParaRPr lang="en-US" sz="720" dirty="0"/>
          </a:p>
        </p:txBody>
      </p:sp>
      <p:sp>
        <p:nvSpPr>
          <p:cNvPr id="115" name="Text 113"/>
          <p:cNvSpPr/>
          <p:nvPr/>
        </p:nvSpPr>
        <p:spPr>
          <a:xfrm>
            <a:off x="9006840" y="4343400"/>
            <a:ext cx="13716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40" dirty="0">
                <a:solidFill>
                  <a:srgbClr val="64748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固定金额：10000元/色</a:t>
            </a:r>
            <a:endParaRPr lang="en-US" sz="640" dirty="0"/>
          </a:p>
        </p:txBody>
      </p:sp>
      <p:sp>
        <p:nvSpPr>
          <p:cNvPr id="116" name="Shape 114"/>
          <p:cNvSpPr/>
          <p:nvPr/>
        </p:nvSpPr>
        <p:spPr>
          <a:xfrm>
            <a:off x="9006840" y="4617720"/>
            <a:ext cx="1463040" cy="164592"/>
          </a:xfrm>
          <a:prstGeom prst="roundRect">
            <a:avLst>
              <a:gd name="adj" fmla="val 33333"/>
            </a:avLst>
          </a:prstGeom>
          <a:solidFill>
            <a:srgbClr val="E2E8F0"/>
          </a:solidFill>
          <a:ln w="7620">
            <a:solidFill>
              <a:srgbClr val="E2E8F0"/>
            </a:solidFill>
            <a:prstDash val="solid"/>
          </a:ln>
        </p:spPr>
      </p:sp>
      <p:sp>
        <p:nvSpPr>
          <p:cNvPr id="117" name="Shape 115"/>
          <p:cNvSpPr/>
          <p:nvPr/>
        </p:nvSpPr>
        <p:spPr>
          <a:xfrm>
            <a:off x="9006840" y="4617720"/>
            <a:ext cx="1005840" cy="164592"/>
          </a:xfrm>
          <a:prstGeom prst="roundRect">
            <a:avLst>
              <a:gd name="adj" fmla="val 33333"/>
            </a:avLst>
          </a:prstGeom>
          <a:solidFill>
            <a:srgbClr val="10B981"/>
          </a:solidFill>
          <a:ln w="7620">
            <a:solidFill>
              <a:srgbClr val="10B981"/>
            </a:solidFill>
            <a:prstDash val="solid"/>
          </a:ln>
        </p:spPr>
      </p:sp>
      <p:sp>
        <p:nvSpPr>
          <p:cNvPr id="118" name="Text 116"/>
          <p:cNvSpPr/>
          <p:nvPr/>
        </p:nvSpPr>
        <p:spPr>
          <a:xfrm>
            <a:off x="9006840" y="4892040"/>
            <a:ext cx="8229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40" dirty="0">
                <a:solidFill>
                  <a:srgbClr val="10B98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已收费 70%</a:t>
            </a:r>
            <a:endParaRPr lang="en-US" sz="640" dirty="0"/>
          </a:p>
        </p:txBody>
      </p:sp>
      <p:sp>
        <p:nvSpPr>
          <p:cNvPr id="119" name="Text 117"/>
          <p:cNvSpPr/>
          <p:nvPr/>
        </p:nvSpPr>
        <p:spPr>
          <a:xfrm>
            <a:off x="9006840" y="5303520"/>
            <a:ext cx="109728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20" b="1" dirty="0">
                <a:solidFill>
                  <a:srgbClr val="0F172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颜色退出治理</a:t>
            </a:r>
            <a:endParaRPr lang="en-US" sz="720" dirty="0"/>
          </a:p>
        </p:txBody>
      </p:sp>
      <p:sp>
        <p:nvSpPr>
          <p:cNvPr id="120" name="Shape 118"/>
          <p:cNvSpPr/>
          <p:nvPr/>
        </p:nvSpPr>
        <p:spPr>
          <a:xfrm>
            <a:off x="9006840" y="5678424"/>
            <a:ext cx="64008" cy="64008"/>
          </a:xfrm>
          <a:prstGeom prst="ellipse">
            <a:avLst/>
          </a:prstGeom>
          <a:solidFill>
            <a:srgbClr val="C2410C"/>
          </a:solidFill>
          <a:ln w="6350">
            <a:solidFill>
              <a:srgbClr val="C2410C"/>
            </a:solidFill>
            <a:prstDash val="solid"/>
          </a:ln>
        </p:spPr>
      </p:sp>
      <p:sp>
        <p:nvSpPr>
          <p:cNvPr id="121" name="Text 119"/>
          <p:cNvSpPr/>
          <p:nvPr/>
        </p:nvSpPr>
        <p:spPr>
          <a:xfrm>
            <a:off x="9153144" y="5623560"/>
            <a:ext cx="13167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50" dirty="0">
                <a:solidFill>
                  <a:srgbClr val="0F172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建议退出：3色</a:t>
            </a:r>
            <a:endParaRPr lang="en-US" sz="650" dirty="0"/>
          </a:p>
        </p:txBody>
      </p:sp>
      <p:sp>
        <p:nvSpPr>
          <p:cNvPr id="122" name="Shape 120"/>
          <p:cNvSpPr/>
          <p:nvPr/>
        </p:nvSpPr>
        <p:spPr>
          <a:xfrm>
            <a:off x="9006840" y="5934456"/>
            <a:ext cx="64008" cy="64008"/>
          </a:xfrm>
          <a:prstGeom prst="ellipse">
            <a:avLst/>
          </a:prstGeom>
          <a:solidFill>
            <a:srgbClr val="C2410C"/>
          </a:solidFill>
          <a:ln w="6350">
            <a:solidFill>
              <a:srgbClr val="C2410C"/>
            </a:solidFill>
            <a:prstDash val="solid"/>
          </a:ln>
        </p:spPr>
      </p:sp>
      <p:sp>
        <p:nvSpPr>
          <p:cNvPr id="123" name="Text 121"/>
          <p:cNvSpPr/>
          <p:nvPr/>
        </p:nvSpPr>
        <p:spPr>
          <a:xfrm>
            <a:off x="9153144" y="5879592"/>
            <a:ext cx="13167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50" dirty="0">
                <a:solidFill>
                  <a:srgbClr val="0F172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已退出：1色</a:t>
            </a:r>
            <a:endParaRPr lang="en-US" sz="650" dirty="0"/>
          </a:p>
        </p:txBody>
      </p:sp>
      <p:sp>
        <p:nvSpPr>
          <p:cNvPr id="124" name="Shape 122"/>
          <p:cNvSpPr/>
          <p:nvPr/>
        </p:nvSpPr>
        <p:spPr>
          <a:xfrm>
            <a:off x="9006840" y="6190488"/>
            <a:ext cx="64008" cy="64008"/>
          </a:xfrm>
          <a:prstGeom prst="ellipse">
            <a:avLst/>
          </a:prstGeom>
          <a:solidFill>
            <a:srgbClr val="C2410C"/>
          </a:solidFill>
          <a:ln w="6350">
            <a:solidFill>
              <a:srgbClr val="C2410C"/>
            </a:solidFill>
            <a:prstDash val="solid"/>
          </a:ln>
        </p:spPr>
      </p:sp>
      <p:sp>
        <p:nvSpPr>
          <p:cNvPr id="125" name="Text 123"/>
          <p:cNvSpPr/>
          <p:nvPr/>
        </p:nvSpPr>
        <p:spPr>
          <a:xfrm>
            <a:off x="9153144" y="6135624"/>
            <a:ext cx="13167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50" dirty="0">
                <a:solidFill>
                  <a:srgbClr val="0F172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保留：12色</a:t>
            </a:r>
            <a:endParaRPr lang="en-US" sz="650" dirty="0"/>
          </a:p>
        </p:txBody>
      </p:sp>
      <p:sp>
        <p:nvSpPr>
          <p:cNvPr id="126" name="Text 124"/>
          <p:cNvSpPr/>
          <p:nvPr/>
        </p:nvSpPr>
        <p:spPr>
          <a:xfrm>
            <a:off x="11567160" y="6492240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14</a:t>
            </a:r>
            <a:endParaRPr lang="en-US" sz="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6766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14｜交互原则：实时、清晰、不中断用户输入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02920" y="786384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重点保障“看得清、点得准、状态实时、表单不被刷新覆盖”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02920" y="1143000"/>
            <a:ext cx="11201400" cy="0"/>
          </a:xfrm>
          <a:prstGeom prst="line">
            <a:avLst/>
          </a:prstGeom>
          <a:noFill/>
          <a:ln w="8890">
            <a:solidFill>
              <a:srgbClr val="D9E2EC"/>
            </a:solidFill>
            <a:prstDash val="solid"/>
            <a:headEnd type="none"/>
            <a:tailEnd type="none"/>
          </a:ln>
        </p:spPr>
      </p:sp>
      <p:sp>
        <p:nvSpPr>
          <p:cNvPr id="5" name="Shape 3"/>
          <p:cNvSpPr/>
          <p:nvPr/>
        </p:nvSpPr>
        <p:spPr>
          <a:xfrm>
            <a:off x="685800" y="1234440"/>
            <a:ext cx="3474720" cy="484632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7620">
            <a:solidFill>
              <a:srgbClr val="D9E2EC"/>
            </a:solidFill>
            <a:prstDash val="solid"/>
          </a:ln>
          <a:effectLst>
            <a:outerShdw sx="100000" sy="100000" kx="0" ky="0" algn="bl" rotWithShape="0" blurRad="4.295927802415605e+250" dist="8.59185560483121e+250" dir="1.3195893054786106e+293">
              <a:srgbClr val="CBD5E1">
                <a:alpha val="1.199999999999999e+304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005840" y="1554480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自动刷新策略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1005840" y="1993392"/>
            <a:ext cx="64008" cy="64008"/>
          </a:xfrm>
          <a:prstGeom prst="ellipse">
            <a:avLst/>
          </a:prstGeom>
          <a:solidFill>
            <a:srgbClr val="06B6D4"/>
          </a:solidFill>
          <a:ln w="6350">
            <a:solidFill>
              <a:srgbClr val="06B6D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52144" y="1938528"/>
            <a:ext cx="2596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20" dirty="0">
                <a:solidFill>
                  <a:srgbClr val="0F172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工作台 / 时间线看板：30秒轮询</a:t>
            </a:r>
            <a:endParaRPr lang="en-US" sz="920" dirty="0"/>
          </a:p>
        </p:txBody>
      </p:sp>
      <p:sp>
        <p:nvSpPr>
          <p:cNvPr id="9" name="Shape 7"/>
          <p:cNvSpPr/>
          <p:nvPr/>
        </p:nvSpPr>
        <p:spPr>
          <a:xfrm>
            <a:off x="1005840" y="2377440"/>
            <a:ext cx="64008" cy="64008"/>
          </a:xfrm>
          <a:prstGeom prst="ellipse">
            <a:avLst/>
          </a:prstGeom>
          <a:solidFill>
            <a:srgbClr val="06B6D4"/>
          </a:solidFill>
          <a:ln w="6350">
            <a:solidFill>
              <a:srgbClr val="06B6D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152144" y="2322576"/>
            <a:ext cx="2596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20" dirty="0">
                <a:solidFill>
                  <a:srgbClr val="0F172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项目详情 / 工序清单：15秒轮询</a:t>
            </a:r>
            <a:endParaRPr lang="en-US" sz="920" dirty="0"/>
          </a:p>
        </p:txBody>
      </p:sp>
      <p:sp>
        <p:nvSpPr>
          <p:cNvPr id="11" name="Shape 9"/>
          <p:cNvSpPr/>
          <p:nvPr/>
        </p:nvSpPr>
        <p:spPr>
          <a:xfrm>
            <a:off x="1005840" y="2761488"/>
            <a:ext cx="64008" cy="64008"/>
          </a:xfrm>
          <a:prstGeom prst="ellipse">
            <a:avLst/>
          </a:prstGeom>
          <a:solidFill>
            <a:srgbClr val="06B6D4"/>
          </a:solidFill>
          <a:ln w="6350">
            <a:solidFill>
              <a:srgbClr val="06B6D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152144" y="2706624"/>
            <a:ext cx="2596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20" dirty="0">
                <a:solidFill>
                  <a:srgbClr val="0F172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显示最近更新时间与立即刷新按钮</a:t>
            </a:r>
            <a:endParaRPr lang="en-US" sz="920" dirty="0"/>
          </a:p>
        </p:txBody>
      </p:sp>
      <p:sp>
        <p:nvSpPr>
          <p:cNvPr id="13" name="Shape 11"/>
          <p:cNvSpPr/>
          <p:nvPr/>
        </p:nvSpPr>
        <p:spPr>
          <a:xfrm>
            <a:off x="1005840" y="3145536"/>
            <a:ext cx="64008" cy="64008"/>
          </a:xfrm>
          <a:prstGeom prst="ellipse">
            <a:avLst/>
          </a:prstGeom>
          <a:solidFill>
            <a:srgbClr val="06B6D4"/>
          </a:solidFill>
          <a:ln w="6350">
            <a:solidFill>
              <a:srgbClr val="06B6D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152144" y="3090672"/>
            <a:ext cx="2596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20" dirty="0">
                <a:solidFill>
                  <a:srgbClr val="0F172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用户编辑表单时暂停刷新，避免覆盖输入</a:t>
            </a:r>
            <a:endParaRPr lang="en-US" sz="920" dirty="0"/>
          </a:p>
        </p:txBody>
      </p:sp>
      <p:sp>
        <p:nvSpPr>
          <p:cNvPr id="15" name="Shape 13"/>
          <p:cNvSpPr/>
          <p:nvPr/>
        </p:nvSpPr>
        <p:spPr>
          <a:xfrm>
            <a:off x="1005840" y="4114800"/>
            <a:ext cx="2788920" cy="640080"/>
          </a:xfrm>
          <a:prstGeom prst="roundRect">
            <a:avLst>
              <a:gd name="adj" fmla="val 17143"/>
            </a:avLst>
          </a:prstGeom>
          <a:solidFill>
            <a:srgbClr val="F8FAFC"/>
          </a:solidFill>
          <a:ln w="7620">
            <a:solidFill>
              <a:srgbClr val="D9E2E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234440" y="4279392"/>
            <a:ext cx="15087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最近更新：14:32:18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2880360" y="4242816"/>
            <a:ext cx="685800" cy="210312"/>
          </a:xfrm>
          <a:prstGeom prst="roundRect">
            <a:avLst>
              <a:gd name="adj" fmla="val 52174"/>
            </a:avLst>
          </a:prstGeom>
          <a:solidFill>
            <a:srgbClr val="DBEAFE"/>
          </a:solidFill>
          <a:ln w="7620">
            <a:solidFill>
              <a:srgbClr val="DBEAF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880360" y="4247388"/>
            <a:ext cx="6858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2563E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立即刷新</a:t>
            </a:r>
            <a:endParaRPr lang="en-US" sz="650" dirty="0"/>
          </a:p>
        </p:txBody>
      </p:sp>
      <p:sp>
        <p:nvSpPr>
          <p:cNvPr id="19" name="Shape 17"/>
          <p:cNvSpPr/>
          <p:nvPr/>
        </p:nvSpPr>
        <p:spPr>
          <a:xfrm>
            <a:off x="4526280" y="1234440"/>
            <a:ext cx="3474720" cy="484632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7620">
            <a:solidFill>
              <a:srgbClr val="D9E2EC"/>
            </a:solidFill>
            <a:prstDash val="solid"/>
          </a:ln>
          <a:effectLst>
            <a:outerShdw sx="100000" sy="100000" kx="0" ky="0" algn="bl" rotWithShape="0" blurRad="5.455828309067819e+254" dist="1.0911656618135637e+255" dir="7.917535832871664e+297">
              <a:srgbClr val="CBD5E1">
                <a:alpha val="Infinity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846320" y="155448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操作反馈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846320" y="1993392"/>
            <a:ext cx="64008" cy="64008"/>
          </a:xfrm>
          <a:prstGeom prst="ellipse">
            <a:avLst/>
          </a:prstGeom>
          <a:solidFill>
            <a:srgbClr val="2563EB"/>
          </a:solidFill>
          <a:ln w="6350">
            <a:solidFill>
              <a:srgbClr val="2563E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992624" y="1938528"/>
            <a:ext cx="2596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20" dirty="0">
                <a:solidFill>
                  <a:srgbClr val="0F172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完成、驳回、上传、保存均显示 loading</a:t>
            </a:r>
            <a:endParaRPr lang="en-US" sz="920" dirty="0"/>
          </a:p>
        </p:txBody>
      </p:sp>
      <p:sp>
        <p:nvSpPr>
          <p:cNvPr id="23" name="Shape 21"/>
          <p:cNvSpPr/>
          <p:nvPr/>
        </p:nvSpPr>
        <p:spPr>
          <a:xfrm>
            <a:off x="4846320" y="2377440"/>
            <a:ext cx="64008" cy="64008"/>
          </a:xfrm>
          <a:prstGeom prst="ellipse">
            <a:avLst/>
          </a:prstGeom>
          <a:solidFill>
            <a:srgbClr val="2563EB"/>
          </a:solidFill>
          <a:ln w="6350">
            <a:solidFill>
              <a:srgbClr val="2563E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992624" y="2322576"/>
            <a:ext cx="2596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20" dirty="0">
                <a:solidFill>
                  <a:srgbClr val="0F172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成功 / 失败 toast 中文化</a:t>
            </a:r>
            <a:endParaRPr lang="en-US" sz="920" dirty="0"/>
          </a:p>
        </p:txBody>
      </p:sp>
      <p:sp>
        <p:nvSpPr>
          <p:cNvPr id="25" name="Shape 23"/>
          <p:cNvSpPr/>
          <p:nvPr/>
        </p:nvSpPr>
        <p:spPr>
          <a:xfrm>
            <a:off x="4846320" y="2761488"/>
            <a:ext cx="64008" cy="64008"/>
          </a:xfrm>
          <a:prstGeom prst="ellipse">
            <a:avLst/>
          </a:prstGeom>
          <a:solidFill>
            <a:srgbClr val="2563EB"/>
          </a:solidFill>
          <a:ln w="6350">
            <a:solidFill>
              <a:srgbClr val="2563E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992624" y="2706624"/>
            <a:ext cx="2596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20" dirty="0">
                <a:solidFill>
                  <a:srgbClr val="0F172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危险动作二次确认</a:t>
            </a:r>
            <a:endParaRPr lang="en-US" sz="920" dirty="0"/>
          </a:p>
        </p:txBody>
      </p:sp>
      <p:sp>
        <p:nvSpPr>
          <p:cNvPr id="27" name="Shape 25"/>
          <p:cNvSpPr/>
          <p:nvPr/>
        </p:nvSpPr>
        <p:spPr>
          <a:xfrm>
            <a:off x="4846320" y="3145536"/>
            <a:ext cx="64008" cy="64008"/>
          </a:xfrm>
          <a:prstGeom prst="ellipse">
            <a:avLst/>
          </a:prstGeom>
          <a:solidFill>
            <a:srgbClr val="2563EB"/>
          </a:solidFill>
          <a:ln w="6350">
            <a:solidFill>
              <a:srgbClr val="2563E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992624" y="3090672"/>
            <a:ext cx="2596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20" dirty="0">
                <a:solidFill>
                  <a:srgbClr val="0F172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材料上传显示进度和版本</a:t>
            </a:r>
            <a:endParaRPr lang="en-US" sz="920" dirty="0"/>
          </a:p>
        </p:txBody>
      </p:sp>
      <p:sp>
        <p:nvSpPr>
          <p:cNvPr id="29" name="Shape 27"/>
          <p:cNvSpPr/>
          <p:nvPr/>
        </p:nvSpPr>
        <p:spPr>
          <a:xfrm>
            <a:off x="4846320" y="3529584"/>
            <a:ext cx="64008" cy="64008"/>
          </a:xfrm>
          <a:prstGeom prst="ellipse">
            <a:avLst/>
          </a:prstGeom>
          <a:solidFill>
            <a:srgbClr val="2563EB"/>
          </a:solidFill>
          <a:ln w="6350">
            <a:solidFill>
              <a:srgbClr val="2563E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992624" y="3474720"/>
            <a:ext cx="2596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20" dirty="0">
                <a:solidFill>
                  <a:srgbClr val="0F172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无权限 / 空数据 / 错误页统一样式</a:t>
            </a:r>
            <a:endParaRPr lang="en-US" sz="920" dirty="0"/>
          </a:p>
        </p:txBody>
      </p:sp>
      <p:sp>
        <p:nvSpPr>
          <p:cNvPr id="31" name="Shape 29"/>
          <p:cNvSpPr/>
          <p:nvPr/>
        </p:nvSpPr>
        <p:spPr>
          <a:xfrm>
            <a:off x="8366760" y="1234440"/>
            <a:ext cx="2743200" cy="484632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7620">
            <a:solidFill>
              <a:srgbClr val="D9E2EC"/>
            </a:solidFill>
            <a:prstDash val="solid"/>
          </a:ln>
          <a:effectLst>
            <a:outerShdw sx="100000" sy="100000" kx="0" ky="0" algn="bl" rotWithShape="0" blurRad="6.928901952516129e+258" dist="1.3857803905032259e+259" dir="4.750521499722998e+302">
              <a:srgbClr val="CBD5E1">
                <a:alpha val="Infinity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8686800" y="1554480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响应式适配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8732520" y="2011680"/>
            <a:ext cx="1783080" cy="1143000"/>
          </a:xfrm>
          <a:prstGeom prst="roundRect">
            <a:avLst>
              <a:gd name="adj" fmla="val 6400"/>
            </a:avLst>
          </a:prstGeom>
          <a:solidFill>
            <a:srgbClr val="F8FAFC"/>
          </a:solidFill>
          <a:ln w="7620">
            <a:solidFill>
              <a:srgbClr val="D9E2EC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8887968" y="2176272"/>
            <a:ext cx="320040" cy="777240"/>
          </a:xfrm>
          <a:prstGeom prst="roundRect">
            <a:avLst>
              <a:gd name="adj" fmla="val 5714"/>
            </a:avLst>
          </a:prstGeom>
          <a:solidFill>
            <a:srgbClr val="0B1220"/>
          </a:solidFill>
          <a:ln w="7620">
            <a:solidFill>
              <a:srgbClr val="0B122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9308592" y="2176272"/>
            <a:ext cx="1051560" cy="182880"/>
          </a:xfrm>
          <a:prstGeom prst="roundRect">
            <a:avLst>
              <a:gd name="adj" fmla="val 20000"/>
            </a:avLst>
          </a:prstGeom>
          <a:solidFill>
            <a:srgbClr val="DBEAFE"/>
          </a:solidFill>
          <a:ln w="7620">
            <a:solidFill>
              <a:srgbClr val="DBEAFE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9308592" y="2487168"/>
            <a:ext cx="1051560" cy="438912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7620">
            <a:solidFill>
              <a:srgbClr val="D9E2EC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9171432" y="3474720"/>
            <a:ext cx="868680" cy="1417320"/>
          </a:xfrm>
          <a:prstGeom prst="roundRect">
            <a:avLst>
              <a:gd name="adj" fmla="val 12632"/>
            </a:avLst>
          </a:prstGeom>
          <a:solidFill>
            <a:srgbClr val="F8FAFC"/>
          </a:solidFill>
          <a:ln w="7620">
            <a:solidFill>
              <a:srgbClr val="D9E2EC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9281160" y="3639312"/>
            <a:ext cx="658368" cy="201168"/>
          </a:xfrm>
          <a:prstGeom prst="roundRect">
            <a:avLst>
              <a:gd name="adj" fmla="val 18182"/>
            </a:avLst>
          </a:prstGeom>
          <a:solidFill>
            <a:srgbClr val="DBEAFE"/>
          </a:solidFill>
          <a:ln w="7620">
            <a:solidFill>
              <a:srgbClr val="DBEAFE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9281160" y="3950208"/>
            <a:ext cx="658368" cy="457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7620">
            <a:solidFill>
              <a:srgbClr val="D9E2EC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8686800" y="516636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1440px / 1920px：信息密度高</a:t>
            </a:r>
            <a:endParaRPr lang="en-US" sz="800" dirty="0"/>
          </a:p>
          <a:p>
            <a:pPr algn="l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移动端：保留待办与关键动作</a:t>
            </a:r>
            <a:endParaRPr lang="en-US" sz="800" dirty="0"/>
          </a:p>
          <a:p>
            <a:pPr algn="l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大屏：时间线看板与数据中心优先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11567160" y="6492240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15</a:t>
            </a:r>
            <a:endParaRPr lang="en-US" sz="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6766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15｜UI 产品化开发路线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02920" y="786384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把前台从“可用”升级为“业务人员愿意每天打开”的系统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02920" y="1143000"/>
            <a:ext cx="11201400" cy="0"/>
          </a:xfrm>
          <a:prstGeom prst="line">
            <a:avLst/>
          </a:prstGeom>
          <a:noFill/>
          <a:ln w="8890">
            <a:solidFill>
              <a:srgbClr val="D9E2EC"/>
            </a:solidFill>
            <a:prstDash val="solid"/>
            <a:headEnd type="none"/>
            <a:tailEnd type="none"/>
          </a:ln>
        </p:spPr>
      </p:sp>
      <p:sp>
        <p:nvSpPr>
          <p:cNvPr id="5" name="Shape 3"/>
          <p:cNvSpPr/>
          <p:nvPr/>
        </p:nvSpPr>
        <p:spPr>
          <a:xfrm>
            <a:off x="777240" y="1417320"/>
            <a:ext cx="2423160" cy="3611880"/>
          </a:xfrm>
          <a:prstGeom prst="roundRect">
            <a:avLst>
              <a:gd name="adj" fmla="val 6792"/>
            </a:avLst>
          </a:prstGeom>
          <a:solidFill>
            <a:srgbClr val="FFFFFF"/>
          </a:solidFill>
          <a:ln w="7620">
            <a:solidFill>
              <a:srgbClr val="D9E2EC"/>
            </a:solidFill>
            <a:prstDash val="solid"/>
          </a:ln>
          <a:effectLst>
            <a:outerShdw sx="100000" sy="100000" kx="0" ky="0" algn="bl" rotWithShape="0" blurRad="8.799705479695485e+262" dist="1.759941095939097e+263" dir="2.850312899833799e+307">
              <a:srgbClr val="CBD5E1">
                <a:alpha val="Infinity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005840" y="1691640"/>
            <a:ext cx="502920" cy="502920"/>
          </a:xfrm>
          <a:prstGeom prst="roundRect">
            <a:avLst>
              <a:gd name="adj" fmla="val 21818"/>
            </a:avLst>
          </a:prstGeom>
          <a:solidFill>
            <a:srgbClr val="DBEAFE"/>
          </a:solidFill>
          <a:ln w="7620">
            <a:solidFill>
              <a:srgbClr val="DBEAF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5840" y="1856232"/>
            <a:ext cx="5029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2563E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阶段1</a:t>
            </a:r>
            <a:endParaRPr lang="en-US" sz="700" dirty="0"/>
          </a:p>
        </p:txBody>
      </p:sp>
      <p:sp>
        <p:nvSpPr>
          <p:cNvPr id="8" name="Text 6"/>
          <p:cNvSpPr/>
          <p:nvPr/>
        </p:nvSpPr>
        <p:spPr>
          <a:xfrm>
            <a:off x="1005840" y="2423160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中文化 + 导航重构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2971800"/>
            <a:ext cx="1920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20" dirty="0">
                <a:solidFill>
                  <a:srgbClr val="64748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统一菜单、状态、按钮、空态、错误提示，清除用户可见英文</a:t>
            </a:r>
            <a:endParaRPr lang="en-US" sz="820" dirty="0"/>
          </a:p>
        </p:txBody>
      </p:sp>
      <p:sp>
        <p:nvSpPr>
          <p:cNvPr id="10" name="Shape 8"/>
          <p:cNvSpPr/>
          <p:nvPr/>
        </p:nvSpPr>
        <p:spPr>
          <a:xfrm>
            <a:off x="1005840" y="4434840"/>
            <a:ext cx="777240" cy="219456"/>
          </a:xfrm>
          <a:prstGeom prst="roundRect">
            <a:avLst>
              <a:gd name="adj" fmla="val 50000"/>
            </a:avLst>
          </a:prstGeom>
          <a:solidFill>
            <a:srgbClr val="DBEAFE"/>
          </a:solidFill>
          <a:ln w="7620">
            <a:solidFill>
              <a:srgbClr val="DBEAF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05840" y="4439412"/>
            <a:ext cx="777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40" b="1" dirty="0">
                <a:solidFill>
                  <a:srgbClr val="2563E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基础可用</a:t>
            </a:r>
            <a:endParaRPr lang="en-US" sz="640" dirty="0"/>
          </a:p>
        </p:txBody>
      </p:sp>
      <p:sp>
        <p:nvSpPr>
          <p:cNvPr id="12" name="Shape 10"/>
          <p:cNvSpPr/>
          <p:nvPr/>
        </p:nvSpPr>
        <p:spPr>
          <a:xfrm>
            <a:off x="3566160" y="1417320"/>
            <a:ext cx="2423160" cy="3611880"/>
          </a:xfrm>
          <a:prstGeom prst="roundRect">
            <a:avLst>
              <a:gd name="adj" fmla="val 6792"/>
            </a:avLst>
          </a:prstGeom>
          <a:solidFill>
            <a:srgbClr val="FFFFFF"/>
          </a:solidFill>
          <a:ln w="7620">
            <a:solidFill>
              <a:srgbClr val="D9E2EC"/>
            </a:solidFill>
            <a:prstDash val="solid"/>
          </a:ln>
          <a:effectLst>
            <a:outerShdw sx="100000" sy="100000" kx="0" ky="0" algn="bl" rotWithShape="0" blurRad="1.1175625959213265e+267" dist="2.235125191842653e+267" dir="Infinity">
              <a:srgbClr val="CBD5E1">
                <a:alpha val="Infinity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794760" y="1691640"/>
            <a:ext cx="502920" cy="502920"/>
          </a:xfrm>
          <a:prstGeom prst="roundRect">
            <a:avLst>
              <a:gd name="adj" fmla="val 21818"/>
            </a:avLst>
          </a:prstGeom>
          <a:solidFill>
            <a:srgbClr val="CFFAFE"/>
          </a:solidFill>
          <a:ln w="7620">
            <a:solidFill>
              <a:srgbClr val="CFFAF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794760" y="1856232"/>
            <a:ext cx="5029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6B6D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阶段2</a:t>
            </a:r>
            <a:endParaRPr lang="en-US" sz="700" dirty="0"/>
          </a:p>
        </p:txBody>
      </p:sp>
      <p:sp>
        <p:nvSpPr>
          <p:cNvPr id="15" name="Text 13"/>
          <p:cNvSpPr/>
          <p:nvPr/>
        </p:nvSpPr>
        <p:spPr>
          <a:xfrm>
            <a:off x="3794760" y="2423160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项目时间线看板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794760" y="2971800"/>
            <a:ext cx="1920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20" dirty="0">
                <a:solidFill>
                  <a:srgbClr val="64748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工作台指标卡、横向项目进度卡、逾期与责任人实时可见</a:t>
            </a:r>
            <a:endParaRPr lang="en-US" sz="820" dirty="0"/>
          </a:p>
        </p:txBody>
      </p:sp>
      <p:sp>
        <p:nvSpPr>
          <p:cNvPr id="17" name="Shape 15"/>
          <p:cNvSpPr/>
          <p:nvPr/>
        </p:nvSpPr>
        <p:spPr>
          <a:xfrm>
            <a:off x="3794760" y="4434840"/>
            <a:ext cx="777240" cy="219456"/>
          </a:xfrm>
          <a:prstGeom prst="roundRect">
            <a:avLst>
              <a:gd name="adj" fmla="val 50000"/>
            </a:avLst>
          </a:prstGeom>
          <a:solidFill>
            <a:srgbClr val="CFFAFE"/>
          </a:solidFill>
          <a:ln w="7620">
            <a:solidFill>
              <a:srgbClr val="CFFAF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794760" y="4439412"/>
            <a:ext cx="777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40" b="1" dirty="0">
                <a:solidFill>
                  <a:srgbClr val="06B6D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核心体验</a:t>
            </a:r>
            <a:endParaRPr lang="en-US" sz="640" dirty="0"/>
          </a:p>
        </p:txBody>
      </p:sp>
      <p:sp>
        <p:nvSpPr>
          <p:cNvPr id="19" name="Shape 17"/>
          <p:cNvSpPr/>
          <p:nvPr/>
        </p:nvSpPr>
        <p:spPr>
          <a:xfrm>
            <a:off x="6355080" y="1417320"/>
            <a:ext cx="2423160" cy="3611880"/>
          </a:xfrm>
          <a:prstGeom prst="roundRect">
            <a:avLst>
              <a:gd name="adj" fmla="val 6792"/>
            </a:avLst>
          </a:prstGeom>
          <a:solidFill>
            <a:srgbClr val="FFFFFF"/>
          </a:solidFill>
          <a:ln w="7620">
            <a:solidFill>
              <a:srgbClr val="D9E2EC"/>
            </a:solidFill>
            <a:prstDash val="solid"/>
          </a:ln>
          <a:effectLst>
            <a:outerShdw sx="100000" sy="100000" kx="0" ky="0" algn="bl" rotWithShape="0" blurRad="1.4193044968200846e+271" dist="2.8386089936401693e+271" dir="Infinity">
              <a:srgbClr val="CBD5E1">
                <a:alpha val="Infinity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583680" y="1691640"/>
            <a:ext cx="502920" cy="502920"/>
          </a:xfrm>
          <a:prstGeom prst="roundRect">
            <a:avLst>
              <a:gd name="adj" fmla="val 21818"/>
            </a:avLst>
          </a:prstGeom>
          <a:solidFill>
            <a:srgbClr val="FEF3C7"/>
          </a:solidFill>
          <a:ln w="7620">
            <a:solidFill>
              <a:srgbClr val="FEF3C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583680" y="1856232"/>
            <a:ext cx="5029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59E0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阶段3</a:t>
            </a:r>
            <a:endParaRPr lang="en-US" sz="700" dirty="0"/>
          </a:p>
        </p:txBody>
      </p:sp>
      <p:sp>
        <p:nvSpPr>
          <p:cNvPr id="22" name="Text 20"/>
          <p:cNvSpPr/>
          <p:nvPr/>
        </p:nvSpPr>
        <p:spPr>
          <a:xfrm>
            <a:off x="6583680" y="2423160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工序清单 + 材料平台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583680" y="2971800"/>
            <a:ext cx="1920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20" dirty="0">
                <a:solidFill>
                  <a:srgbClr val="64748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工序详情抽屉、必交材料、版本、审核状态、材料归档</a:t>
            </a:r>
            <a:endParaRPr lang="en-US" sz="820" dirty="0"/>
          </a:p>
        </p:txBody>
      </p:sp>
      <p:sp>
        <p:nvSpPr>
          <p:cNvPr id="24" name="Shape 22"/>
          <p:cNvSpPr/>
          <p:nvPr/>
        </p:nvSpPr>
        <p:spPr>
          <a:xfrm>
            <a:off x="6583680" y="4434840"/>
            <a:ext cx="777240" cy="219456"/>
          </a:xfrm>
          <a:prstGeom prst="roundRect">
            <a:avLst>
              <a:gd name="adj" fmla="val 50000"/>
            </a:avLst>
          </a:prstGeom>
          <a:solidFill>
            <a:srgbClr val="FEF3C7"/>
          </a:solidFill>
          <a:ln w="7620">
            <a:solidFill>
              <a:srgbClr val="FEF3C7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583680" y="4439412"/>
            <a:ext cx="777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40" b="1" dirty="0">
                <a:solidFill>
                  <a:srgbClr val="F59E0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严谨留痕</a:t>
            </a:r>
            <a:endParaRPr lang="en-US" sz="640" dirty="0"/>
          </a:p>
        </p:txBody>
      </p:sp>
      <p:sp>
        <p:nvSpPr>
          <p:cNvPr id="26" name="Shape 24"/>
          <p:cNvSpPr/>
          <p:nvPr/>
        </p:nvSpPr>
        <p:spPr>
          <a:xfrm>
            <a:off x="9144000" y="1417320"/>
            <a:ext cx="2423160" cy="3611880"/>
          </a:xfrm>
          <a:prstGeom prst="roundRect">
            <a:avLst>
              <a:gd name="adj" fmla="val 6792"/>
            </a:avLst>
          </a:prstGeom>
          <a:solidFill>
            <a:srgbClr val="FFFFFF"/>
          </a:solidFill>
          <a:ln w="7620">
            <a:solidFill>
              <a:srgbClr val="D9E2EC"/>
            </a:solidFill>
            <a:prstDash val="solid"/>
          </a:ln>
          <a:effectLst>
            <a:outerShdw sx="100000" sy="100000" kx="0" ky="0" algn="bl" rotWithShape="0" blurRad="1.8025167109615074e+275" dist="3.605033421923015e+275" dir="Infinity">
              <a:srgbClr val="CBD5E1">
                <a:alpha val="Infinity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9372600" y="1691640"/>
            <a:ext cx="502920" cy="502920"/>
          </a:xfrm>
          <a:prstGeom prst="roundRect">
            <a:avLst>
              <a:gd name="adj" fmla="val 21818"/>
            </a:avLst>
          </a:prstGeom>
          <a:solidFill>
            <a:srgbClr val="EDE9FE"/>
          </a:solidFill>
          <a:ln w="7620">
            <a:solidFill>
              <a:srgbClr val="EDE9F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372600" y="1856232"/>
            <a:ext cx="5029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8B5CF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阶段4</a:t>
            </a:r>
            <a:endParaRPr lang="en-US" sz="700" dirty="0"/>
          </a:p>
        </p:txBody>
      </p:sp>
      <p:sp>
        <p:nvSpPr>
          <p:cNvPr id="29" name="Text 27"/>
          <p:cNvSpPr/>
          <p:nvPr/>
        </p:nvSpPr>
        <p:spPr>
          <a:xfrm>
            <a:off x="9372600" y="2423160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数据中心 + 管理分析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9372600" y="2971800"/>
            <a:ext cx="1920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20" dirty="0">
                <a:solidFill>
                  <a:srgbClr val="64748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项目周期、工序效率、部门逾期、第12步返工、第17步月度评审、颜色退出</a:t>
            </a:r>
            <a:endParaRPr lang="en-US" sz="820" dirty="0"/>
          </a:p>
        </p:txBody>
      </p:sp>
      <p:sp>
        <p:nvSpPr>
          <p:cNvPr id="31" name="Shape 29"/>
          <p:cNvSpPr/>
          <p:nvPr/>
        </p:nvSpPr>
        <p:spPr>
          <a:xfrm>
            <a:off x="9372600" y="4434840"/>
            <a:ext cx="777240" cy="219456"/>
          </a:xfrm>
          <a:prstGeom prst="roundRect">
            <a:avLst>
              <a:gd name="adj" fmla="val 50000"/>
            </a:avLst>
          </a:prstGeom>
          <a:solidFill>
            <a:srgbClr val="EDE9FE"/>
          </a:solidFill>
          <a:ln w="7620">
            <a:solidFill>
              <a:srgbClr val="EDE9F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9372600" y="4439412"/>
            <a:ext cx="777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40" b="1" dirty="0">
                <a:solidFill>
                  <a:srgbClr val="8B5CF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管理复盘</a:t>
            </a:r>
            <a:endParaRPr lang="en-US" sz="640" dirty="0"/>
          </a:p>
        </p:txBody>
      </p:sp>
      <p:sp>
        <p:nvSpPr>
          <p:cNvPr id="33" name="Shape 31"/>
          <p:cNvSpPr/>
          <p:nvPr/>
        </p:nvSpPr>
        <p:spPr>
          <a:xfrm>
            <a:off x="960120" y="5623560"/>
            <a:ext cx="10058400" cy="731520"/>
          </a:xfrm>
          <a:prstGeom prst="roundRect">
            <a:avLst>
              <a:gd name="adj" fmla="val 22500"/>
            </a:avLst>
          </a:prstGeom>
          <a:solidFill>
            <a:srgbClr val="0B1220"/>
          </a:solidFill>
          <a:ln w="7620">
            <a:solidFill>
              <a:srgbClr val="0B1220"/>
            </a:solidFill>
            <a:prstDash val="solid"/>
          </a:ln>
          <a:effectLst>
            <a:outerShdw sx="100000" sy="100000" kx="0" ky="0" algn="bl" rotWithShape="0" blurRad="1.081874959742545e+62" dist="1.4424999463233936e+62" dir="2.1158324305920003e+73">
              <a:srgbClr val="CBD5E1">
                <a:alpha val="2.2e+74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1325880" y="5879592"/>
            <a:ext cx="9326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验收标准：10秒内看出项目风险 · 每个工序责任清晰 · 材料可追溯 · 退回有闭环 · 月度评审可管理 · 数据能汇总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11567160" y="6492240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16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Noto Sans CJK S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Noto Sans CJK S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轻卡定制颜色开发项目管理系统 UI 界面设计稿</dc:title>
  <dc:subject>轻卡定制颜色开发项目管理系统 UI 界面设计稿</dc:subject>
  <dc:creator>OpenAI</dc:creator>
  <cp:lastModifiedBy>OpenAI</cp:lastModifiedBy>
  <cp:revision>1</cp:revision>
  <dcterms:created xsi:type="dcterms:W3CDTF">2026-05-07T02:36:13Z</dcterms:created>
  <dcterms:modified xsi:type="dcterms:W3CDTF">2026-05-07T02:36:13Z</dcterms:modified>
</cp:coreProperties>
</file>